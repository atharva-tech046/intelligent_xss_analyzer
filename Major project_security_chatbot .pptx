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7" r:id="rId5"/>
    <p:sldMasterId id="214748367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y="6858000" cx="9144000"/>
  <p:notesSz cx="6858000" cy="9144000"/>
  <p:embeddedFontLst>
    <p:embeddedFont>
      <p:font typeface="Robo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CB50EFE-2B48-4FE9-A65D-7959500509BC}">
  <a:tblStyle styleId="{7CB50EFE-2B48-4FE9-A65D-7959500509B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font" Target="fonts/Roboto-regular.fntdata"/><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oboto-italic.fntdata"/><Relationship Id="rId25" Type="http://schemas.openxmlformats.org/officeDocument/2006/relationships/font" Target="fonts/Roboto-bold.fntdata"/><Relationship Id="rId27" Type="http://schemas.openxmlformats.org/officeDocument/2006/relationships/font" Target="fonts/Roboto-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5" name="Google Shape;15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73d8e3babc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73d8e3babc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3" name="Google Shape;173;g373d8e3babc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878e74e52b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878e74e52b_0_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1" name="Google Shape;181;g3878e74e52b_0_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878e74e52b_0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878e74e52b_0_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6" name="Google Shape;196;g3878e74e52b_0_1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80152e66a6_1_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80152e66a6_1_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4" name="Google Shape;204;g380152e66a6_1_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73314f27f8_0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73314f27f8_0_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2" name="Google Shape;222;g373314f27f8_0_1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81c018a60d_0_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81c018a60d_0_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0" name="Google Shape;230;g381c018a60d_0_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73d8e3babc_0_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73d8e3babc_0_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5" name="Google Shape;245;g373d8e3babc_0_4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878e74e52b_0_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878e74e52b_0_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3" name="Google Shape;253;g3878e74e52b_0_2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73d8e3babc_0_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73d8e3babc_0_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1" name="Google Shape;261;g373d8e3babc_0_6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8" name="Google Shape;26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5" name="Google Shape;275;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Clr>
                <a:schemeClr val="dk1"/>
              </a:buClr>
              <a:buSzPts val="2400"/>
              <a:buFont typeface="Arial"/>
              <a:buNone/>
              <a:defRPr/>
            </a:lvl1pPr>
            <a:lvl2pPr lvl="1" algn="ctr">
              <a:spcBef>
                <a:spcPts val="400"/>
              </a:spcBef>
              <a:spcAft>
                <a:spcPts val="0"/>
              </a:spcAft>
              <a:buClr>
                <a:schemeClr val="dk1"/>
              </a:buClr>
              <a:buSzPts val="2000"/>
              <a:buFont typeface="Arial"/>
              <a:buNone/>
              <a:defRPr/>
            </a:lvl2pPr>
            <a:lvl3pPr lvl="2" algn="ctr">
              <a:spcBef>
                <a:spcPts val="480"/>
              </a:spcBef>
              <a:spcAft>
                <a:spcPts val="0"/>
              </a:spcAft>
              <a:buClr>
                <a:schemeClr val="dk1"/>
              </a:buClr>
              <a:buSzPts val="2400"/>
              <a:buFont typeface="Arial"/>
              <a:buNone/>
              <a:defRPr/>
            </a:lvl3pPr>
            <a:lvl4pPr lvl="3" algn="ctr">
              <a:spcBef>
                <a:spcPts val="320"/>
              </a:spcBef>
              <a:spcAft>
                <a:spcPts val="0"/>
              </a:spcAft>
              <a:buClr>
                <a:schemeClr val="dk1"/>
              </a:buClr>
              <a:buSzPts val="1600"/>
              <a:buFont typeface="Arial"/>
              <a:buNone/>
              <a:defRPr/>
            </a:lvl4pPr>
            <a:lvl5pPr lvl="4" algn="ctr">
              <a:spcBef>
                <a:spcPts val="280"/>
              </a:spcBef>
              <a:spcAft>
                <a:spcPts val="0"/>
              </a:spcAft>
              <a:buClr>
                <a:schemeClr val="dk1"/>
              </a:buClr>
              <a:buSzPts val="1400"/>
              <a:buFont typeface="Arial"/>
              <a:buNone/>
              <a:defRPr/>
            </a:lvl5pPr>
            <a:lvl6pPr lvl="5" algn="ctr">
              <a:spcBef>
                <a:spcPts val="280"/>
              </a:spcBef>
              <a:spcAft>
                <a:spcPts val="0"/>
              </a:spcAft>
              <a:buClr>
                <a:schemeClr val="dk1"/>
              </a:buClr>
              <a:buSzPts val="1400"/>
              <a:buFont typeface="Arial"/>
              <a:buNone/>
              <a:defRPr/>
            </a:lvl6pPr>
            <a:lvl7pPr lvl="6" algn="ctr">
              <a:spcBef>
                <a:spcPts val="280"/>
              </a:spcBef>
              <a:spcAft>
                <a:spcPts val="0"/>
              </a:spcAft>
              <a:buClr>
                <a:schemeClr val="dk1"/>
              </a:buClr>
              <a:buSzPts val="1400"/>
              <a:buFont typeface="Arial"/>
              <a:buNone/>
              <a:defRPr/>
            </a:lvl7pPr>
            <a:lvl8pPr lvl="7" algn="ctr">
              <a:spcBef>
                <a:spcPts val="280"/>
              </a:spcBef>
              <a:spcAft>
                <a:spcPts val="0"/>
              </a:spcAft>
              <a:buClr>
                <a:schemeClr val="dk1"/>
              </a:buClr>
              <a:buSzPts val="1400"/>
              <a:buFont typeface="Arial"/>
              <a:buNone/>
              <a:defRPr/>
            </a:lvl8pPr>
            <a:lvl9pPr lvl="8" algn="ctr">
              <a:spcBef>
                <a:spcPts val="280"/>
              </a:spcBef>
              <a:spcAft>
                <a:spcPts val="0"/>
              </a:spcAft>
              <a:buClr>
                <a:schemeClr val="dk1"/>
              </a:buClr>
              <a:buSzPts val="1400"/>
              <a:buFont typeface="Arial"/>
              <a:buNone/>
              <a:defRPr/>
            </a:lvl9pPr>
          </a:lstStyle>
          <a:p/>
        </p:txBody>
      </p:sp>
      <p:sp>
        <p:nvSpPr>
          <p:cNvPr id="18" name="Google Shape;18;p2"/>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algn="r">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algn="r">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algn="r">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algn="r">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algn="r">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algn="r">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algn="r">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algn="r">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p:nvPr/>
        </p:nvSpPr>
        <p:spPr>
          <a:xfrm>
            <a:off x="3556000" y="6362700"/>
            <a:ext cx="1905000" cy="457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pic>
        <p:nvPicPr>
          <p:cNvPr id="21" name="Google Shape;21;p3"/>
          <p:cNvPicPr preferRelativeResize="0"/>
          <p:nvPr/>
        </p:nvPicPr>
        <p:blipFill rotWithShape="1">
          <a:blip r:embed="rId2">
            <a:alphaModFix/>
          </a:blip>
          <a:srcRect b="0" l="0" r="0" t="0"/>
          <a:stretch/>
        </p:blipFill>
        <p:spPr>
          <a:xfrm>
            <a:off x="228600" y="6375400"/>
            <a:ext cx="461963" cy="457200"/>
          </a:xfrm>
          <a:prstGeom prst="rect">
            <a:avLst/>
          </a:prstGeom>
          <a:noFill/>
          <a:ln>
            <a:noFill/>
          </a:ln>
        </p:spPr>
      </p:pic>
      <p:sp>
        <p:nvSpPr>
          <p:cNvPr id="22" name="Google Shape;22;p3"/>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
          <p:cNvSpPr txBox="1"/>
          <p:nvPr>
            <p:ph idx="1" type="body"/>
          </p:nvPr>
        </p:nvSpPr>
        <p:spPr>
          <a:xfrm>
            <a:off x="457200" y="1066800"/>
            <a:ext cx="8229600" cy="5181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0" r="0" t="0"/>
          <a:stretch/>
        </p:blipFill>
        <p:spPr>
          <a:xfrm>
            <a:off x="228600" y="6375400"/>
            <a:ext cx="461963" cy="457200"/>
          </a:xfrm>
          <a:prstGeom prst="rect">
            <a:avLst/>
          </a:prstGeom>
          <a:noFill/>
          <a:ln>
            <a:noFill/>
          </a:ln>
        </p:spPr>
      </p:pic>
      <p:sp>
        <p:nvSpPr>
          <p:cNvPr id="27" name="Google Shape;27;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29" name="Google Shape;29;p4"/>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 name="Shape 30"/>
        <p:cNvGrpSpPr/>
        <p:nvPr/>
      </p:nvGrpSpPr>
      <p:grpSpPr>
        <a:xfrm>
          <a:off x="0" y="0"/>
          <a:ext cx="0" cy="0"/>
          <a:chOff x="0" y="0"/>
          <a:chExt cx="0" cy="0"/>
        </a:xfrm>
      </p:grpSpPr>
      <p:sp>
        <p:nvSpPr>
          <p:cNvPr id="31" name="Google Shape;31;p5"/>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5"/>
          <p:cNvSpPr txBox="1"/>
          <p:nvPr>
            <p:ph idx="1" type="body"/>
          </p:nvPr>
        </p:nvSpPr>
        <p:spPr>
          <a:xfrm>
            <a:off x="457200" y="1066800"/>
            <a:ext cx="4038600" cy="51816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33" name="Google Shape;33;p5"/>
          <p:cNvSpPr txBox="1"/>
          <p:nvPr>
            <p:ph idx="2" type="body"/>
          </p:nvPr>
        </p:nvSpPr>
        <p:spPr>
          <a:xfrm>
            <a:off x="4648200" y="1066800"/>
            <a:ext cx="4038600" cy="51816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34" name="Google Shape;34;p5"/>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5" name="Shape 35"/>
        <p:cNvGrpSpPr/>
        <p:nvPr/>
      </p:nvGrpSpPr>
      <p:grpSpPr>
        <a:xfrm>
          <a:off x="0" y="0"/>
          <a:ext cx="0" cy="0"/>
          <a:chOff x="0" y="0"/>
          <a:chExt cx="0" cy="0"/>
        </a:xfrm>
      </p:grpSpPr>
      <p:sp>
        <p:nvSpPr>
          <p:cNvPr id="36" name="Google Shape;36;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38" name="Google Shape;38;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39" name="Google Shape;39;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0" name="Google Shape;40;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41" name="Google Shape;41;p6"/>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7"/>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7"/>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8"/>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7" name="Shape 47"/>
        <p:cNvGrpSpPr/>
        <p:nvPr/>
      </p:nvGrpSpPr>
      <p:grpSpPr>
        <a:xfrm>
          <a:off x="0" y="0"/>
          <a:ext cx="0" cy="0"/>
          <a:chOff x="0" y="0"/>
          <a:chExt cx="0" cy="0"/>
        </a:xfrm>
      </p:grpSpPr>
      <p:sp>
        <p:nvSpPr>
          <p:cNvPr id="48" name="Google Shape;48;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9" name="Google Shape;49;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50" name="Google Shape;50;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51" name="Google Shape;51;p9"/>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2" name="Shape 52"/>
        <p:cNvGrpSpPr/>
        <p:nvPr/>
      </p:nvGrpSpPr>
      <p:grpSpPr>
        <a:xfrm>
          <a:off x="0" y="0"/>
          <a:ext cx="0" cy="0"/>
          <a:chOff x="0" y="0"/>
          <a:chExt cx="0" cy="0"/>
        </a:xfrm>
      </p:grpSpPr>
      <p:sp>
        <p:nvSpPr>
          <p:cNvPr id="53" name="Google Shape;53;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4" name="Google Shape;54;p10"/>
          <p:cNvSpPr/>
          <p:nvPr>
            <p:ph idx="2" type="pic"/>
          </p:nvPr>
        </p:nvSpPr>
        <p:spPr>
          <a:xfrm>
            <a:off x="1792288" y="612775"/>
            <a:ext cx="5486400" cy="4114800"/>
          </a:xfrm>
          <a:prstGeom prst="rect">
            <a:avLst/>
          </a:prstGeom>
          <a:noFill/>
          <a:ln>
            <a:noFill/>
          </a:ln>
        </p:spPr>
      </p:sp>
      <p:sp>
        <p:nvSpPr>
          <p:cNvPr id="55" name="Google Shape;55;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56" name="Google Shape;56;p10"/>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7" name="Shape 57"/>
        <p:cNvGrpSpPr/>
        <p:nvPr/>
      </p:nvGrpSpPr>
      <p:grpSpPr>
        <a:xfrm>
          <a:off x="0" y="0"/>
          <a:ext cx="0" cy="0"/>
          <a:chOff x="0" y="0"/>
          <a:chExt cx="0" cy="0"/>
        </a:xfrm>
      </p:grpSpPr>
      <p:sp>
        <p:nvSpPr>
          <p:cNvPr id="58" name="Google Shape;58;p11"/>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9" name="Google Shape;59;p11"/>
          <p:cNvSpPr txBox="1"/>
          <p:nvPr>
            <p:ph idx="1" type="body"/>
          </p:nvPr>
        </p:nvSpPr>
        <p:spPr>
          <a:xfrm rot="5400000">
            <a:off x="1981200" y="-457200"/>
            <a:ext cx="5181600"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0" name="Google Shape;60;p11"/>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1" name="Shape 61"/>
        <p:cNvGrpSpPr/>
        <p:nvPr/>
      </p:nvGrpSpPr>
      <p:grpSpPr>
        <a:xfrm>
          <a:off x="0" y="0"/>
          <a:ext cx="0" cy="0"/>
          <a:chOff x="0" y="0"/>
          <a:chExt cx="0" cy="0"/>
        </a:xfrm>
      </p:grpSpPr>
      <p:sp>
        <p:nvSpPr>
          <p:cNvPr id="62" name="Google Shape;62;p12"/>
          <p:cNvSpPr txBox="1"/>
          <p:nvPr>
            <p:ph type="title"/>
          </p:nvPr>
        </p:nvSpPr>
        <p:spPr>
          <a:xfrm rot="5400000">
            <a:off x="4595019" y="2156619"/>
            <a:ext cx="6126162"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12"/>
          <p:cNvSpPr txBox="1"/>
          <p:nvPr>
            <p:ph idx="1" type="body"/>
          </p:nvPr>
        </p:nvSpPr>
        <p:spPr>
          <a:xfrm rot="5400000">
            <a:off x="404019" y="175419"/>
            <a:ext cx="6126162"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4" name="Google Shape;64;p12"/>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65" name="Shape 65"/>
        <p:cNvGrpSpPr/>
        <p:nvPr/>
      </p:nvGrpSpPr>
      <p:grpSpPr>
        <a:xfrm>
          <a:off x="0" y="0"/>
          <a:ext cx="0" cy="0"/>
          <a:chOff x="0" y="0"/>
          <a:chExt cx="0" cy="0"/>
        </a:xfrm>
      </p:grpSpPr>
      <p:sp>
        <p:nvSpPr>
          <p:cNvPr id="66" name="Google Shape;66;p13"/>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3"/>
          <p:cNvSpPr txBox="1"/>
          <p:nvPr>
            <p:ph idx="1" type="body"/>
          </p:nvPr>
        </p:nvSpPr>
        <p:spPr>
          <a:xfrm>
            <a:off x="457200" y="1066800"/>
            <a:ext cx="4038600" cy="5181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8" name="Google Shape;68;p13"/>
          <p:cNvSpPr txBox="1"/>
          <p:nvPr>
            <p:ph idx="2" type="body"/>
          </p:nvPr>
        </p:nvSpPr>
        <p:spPr>
          <a:xfrm>
            <a:off x="4648200" y="1066800"/>
            <a:ext cx="4038600" cy="5181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 name="Google Shape;69;p13"/>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70" name="Shape 70"/>
        <p:cNvGrpSpPr/>
        <p:nvPr/>
      </p:nvGrpSpPr>
      <p:grpSpPr>
        <a:xfrm>
          <a:off x="0" y="0"/>
          <a:ext cx="0" cy="0"/>
          <a:chOff x="0" y="0"/>
          <a:chExt cx="0" cy="0"/>
        </a:xfrm>
      </p:grpSpPr>
      <p:sp>
        <p:nvSpPr>
          <p:cNvPr id="71" name="Google Shape;71;p14"/>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2" name="Google Shape;72;p14"/>
          <p:cNvSpPr txBox="1"/>
          <p:nvPr>
            <p:ph idx="1" type="body"/>
          </p:nvPr>
        </p:nvSpPr>
        <p:spPr>
          <a:xfrm>
            <a:off x="457200" y="1066800"/>
            <a:ext cx="4038600" cy="5181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3" name="Google Shape;73;p14"/>
          <p:cNvSpPr txBox="1"/>
          <p:nvPr>
            <p:ph idx="2" type="body"/>
          </p:nvPr>
        </p:nvSpPr>
        <p:spPr>
          <a:xfrm>
            <a:off x="4648200" y="1066800"/>
            <a:ext cx="4038600" cy="2514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4" name="Google Shape;74;p14"/>
          <p:cNvSpPr txBox="1"/>
          <p:nvPr>
            <p:ph idx="3" type="body"/>
          </p:nvPr>
        </p:nvSpPr>
        <p:spPr>
          <a:xfrm>
            <a:off x="4648200" y="3733800"/>
            <a:ext cx="4038600" cy="2514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4"/>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76" name="Shape 76"/>
        <p:cNvGrpSpPr/>
        <p:nvPr/>
      </p:nvGrpSpPr>
      <p:grpSpPr>
        <a:xfrm>
          <a:off x="0" y="0"/>
          <a:ext cx="0" cy="0"/>
          <a:chOff x="0" y="0"/>
          <a:chExt cx="0" cy="0"/>
        </a:xfrm>
      </p:grpSpPr>
      <p:sp>
        <p:nvSpPr>
          <p:cNvPr id="77" name="Google Shape;77;p15"/>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8" name="Google Shape;78;p15"/>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6" name="Shape 86"/>
        <p:cNvGrpSpPr/>
        <p:nvPr/>
      </p:nvGrpSpPr>
      <p:grpSpPr>
        <a:xfrm>
          <a:off x="0" y="0"/>
          <a:ext cx="0" cy="0"/>
          <a:chOff x="0" y="0"/>
          <a:chExt cx="0" cy="0"/>
        </a:xfrm>
      </p:grpSpPr>
      <p:sp>
        <p:nvSpPr>
          <p:cNvPr id="87" name="Google Shape;87;p17"/>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8" name="Google Shape;88;p17"/>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9" name="Shape 89"/>
        <p:cNvGrpSpPr/>
        <p:nvPr/>
      </p:nvGrpSpPr>
      <p:grpSpPr>
        <a:xfrm>
          <a:off x="0" y="0"/>
          <a:ext cx="0" cy="0"/>
          <a:chOff x="0" y="0"/>
          <a:chExt cx="0" cy="0"/>
        </a:xfrm>
      </p:grpSpPr>
      <p:sp>
        <p:nvSpPr>
          <p:cNvPr id="90" name="Google Shape;90;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1" name="Google Shape;91;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Clr>
                <a:schemeClr val="dk1"/>
              </a:buClr>
              <a:buSzPts val="2400"/>
              <a:buFont typeface="Arial"/>
              <a:buNone/>
              <a:defRPr/>
            </a:lvl1pPr>
            <a:lvl2pPr lvl="1" algn="ctr">
              <a:spcBef>
                <a:spcPts val="400"/>
              </a:spcBef>
              <a:spcAft>
                <a:spcPts val="0"/>
              </a:spcAft>
              <a:buClr>
                <a:schemeClr val="dk1"/>
              </a:buClr>
              <a:buSzPts val="2000"/>
              <a:buFont typeface="Arial"/>
              <a:buNone/>
              <a:defRPr/>
            </a:lvl2pPr>
            <a:lvl3pPr lvl="2" algn="ctr">
              <a:spcBef>
                <a:spcPts val="480"/>
              </a:spcBef>
              <a:spcAft>
                <a:spcPts val="0"/>
              </a:spcAft>
              <a:buClr>
                <a:schemeClr val="dk1"/>
              </a:buClr>
              <a:buSzPts val="2400"/>
              <a:buFont typeface="Arial"/>
              <a:buNone/>
              <a:defRPr/>
            </a:lvl3pPr>
            <a:lvl4pPr lvl="3" algn="ctr">
              <a:spcBef>
                <a:spcPts val="320"/>
              </a:spcBef>
              <a:spcAft>
                <a:spcPts val="0"/>
              </a:spcAft>
              <a:buClr>
                <a:schemeClr val="dk1"/>
              </a:buClr>
              <a:buSzPts val="1600"/>
              <a:buFont typeface="Arial"/>
              <a:buNone/>
              <a:defRPr/>
            </a:lvl4pPr>
            <a:lvl5pPr lvl="4" algn="ctr">
              <a:spcBef>
                <a:spcPts val="280"/>
              </a:spcBef>
              <a:spcAft>
                <a:spcPts val="0"/>
              </a:spcAft>
              <a:buClr>
                <a:schemeClr val="dk1"/>
              </a:buClr>
              <a:buSzPts val="1400"/>
              <a:buFont typeface="Arial"/>
              <a:buNone/>
              <a:defRPr/>
            </a:lvl5pPr>
            <a:lvl6pPr lvl="5" algn="ctr">
              <a:spcBef>
                <a:spcPts val="280"/>
              </a:spcBef>
              <a:spcAft>
                <a:spcPts val="0"/>
              </a:spcAft>
              <a:buClr>
                <a:schemeClr val="dk1"/>
              </a:buClr>
              <a:buSzPts val="1400"/>
              <a:buFont typeface="Arial"/>
              <a:buNone/>
              <a:defRPr/>
            </a:lvl6pPr>
            <a:lvl7pPr lvl="6" algn="ctr">
              <a:spcBef>
                <a:spcPts val="280"/>
              </a:spcBef>
              <a:spcAft>
                <a:spcPts val="0"/>
              </a:spcAft>
              <a:buClr>
                <a:schemeClr val="dk1"/>
              </a:buClr>
              <a:buSzPts val="1400"/>
              <a:buFont typeface="Arial"/>
              <a:buNone/>
              <a:defRPr/>
            </a:lvl7pPr>
            <a:lvl8pPr lvl="7" algn="ctr">
              <a:spcBef>
                <a:spcPts val="280"/>
              </a:spcBef>
              <a:spcAft>
                <a:spcPts val="0"/>
              </a:spcAft>
              <a:buClr>
                <a:schemeClr val="dk1"/>
              </a:buClr>
              <a:buSzPts val="1400"/>
              <a:buFont typeface="Arial"/>
              <a:buNone/>
              <a:defRPr/>
            </a:lvl8pPr>
            <a:lvl9pPr lvl="8" algn="ctr">
              <a:spcBef>
                <a:spcPts val="280"/>
              </a:spcBef>
              <a:spcAft>
                <a:spcPts val="0"/>
              </a:spcAft>
              <a:buClr>
                <a:schemeClr val="dk1"/>
              </a:buClr>
              <a:buSzPts val="1400"/>
              <a:buFont typeface="Arial"/>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2" name="Shape 92"/>
        <p:cNvGrpSpPr/>
        <p:nvPr/>
      </p:nvGrpSpPr>
      <p:grpSpPr>
        <a:xfrm>
          <a:off x="0" y="0"/>
          <a:ext cx="0" cy="0"/>
          <a:chOff x="0" y="0"/>
          <a:chExt cx="0" cy="0"/>
        </a:xfrm>
      </p:grpSpPr>
      <p:sp>
        <p:nvSpPr>
          <p:cNvPr id="93" name="Google Shape;93;p19"/>
          <p:cNvSpPr/>
          <p:nvPr/>
        </p:nvSpPr>
        <p:spPr>
          <a:xfrm>
            <a:off x="3505200" y="5715000"/>
            <a:ext cx="1905000" cy="457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pic>
        <p:nvPicPr>
          <p:cNvPr id="94" name="Google Shape;94;p19"/>
          <p:cNvPicPr preferRelativeResize="0"/>
          <p:nvPr/>
        </p:nvPicPr>
        <p:blipFill rotWithShape="1">
          <a:blip r:embed="rId2">
            <a:alphaModFix/>
          </a:blip>
          <a:srcRect b="0" l="0" r="0" t="0"/>
          <a:stretch/>
        </p:blipFill>
        <p:spPr>
          <a:xfrm>
            <a:off x="228600" y="6375400"/>
            <a:ext cx="461963" cy="457200"/>
          </a:xfrm>
          <a:prstGeom prst="rect">
            <a:avLst/>
          </a:prstGeom>
          <a:noFill/>
          <a:ln>
            <a:noFill/>
          </a:ln>
        </p:spPr>
      </p:pic>
      <p:sp>
        <p:nvSpPr>
          <p:cNvPr id="95" name="Google Shape;95;p19"/>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6" name="Google Shape;96;p19"/>
          <p:cNvSpPr txBox="1"/>
          <p:nvPr>
            <p:ph idx="1" type="body"/>
          </p:nvPr>
        </p:nvSpPr>
        <p:spPr>
          <a:xfrm>
            <a:off x="457200" y="1066800"/>
            <a:ext cx="8229600" cy="5181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7" name="Google Shape;97;p19"/>
          <p:cNvSpPr/>
          <p:nvPr/>
        </p:nvSpPr>
        <p:spPr>
          <a:xfrm>
            <a:off x="8305800" y="6375400"/>
            <a:ext cx="466794"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
        <p:nvSpPr>
          <p:cNvPr id="98" name="Google Shape;98;p19"/>
          <p:cNvSpPr txBox="1"/>
          <p:nvPr/>
        </p:nvSpPr>
        <p:spPr>
          <a:xfrm>
            <a:off x="838200" y="6280834"/>
            <a:ext cx="7467600"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lang="en-US" sz="1800">
                <a:solidFill>
                  <a:schemeClr val="dk2"/>
                </a:solidFill>
                <a:latin typeface="Times New Roman"/>
                <a:ea typeface="Times New Roman"/>
                <a:cs typeface="Times New Roman"/>
                <a:sym typeface="Times New Roman"/>
              </a:rPr>
              <a:t>A</a:t>
            </a:r>
            <a:r>
              <a:rPr b="0" lang="en-US" sz="1800">
                <a:solidFill>
                  <a:schemeClr val="dk2"/>
                </a:solidFill>
                <a:latin typeface="Times New Roman"/>
                <a:ea typeface="Times New Roman"/>
                <a:cs typeface="Times New Roman"/>
                <a:sym typeface="Times New Roman"/>
              </a:rPr>
              <a:t> </a:t>
            </a:r>
            <a:r>
              <a:rPr b="0" lang="en-US" sz="1800">
                <a:solidFill>
                  <a:schemeClr val="dk2"/>
                </a:solidFill>
                <a:latin typeface="Times New Roman"/>
                <a:ea typeface="Times New Roman"/>
                <a:cs typeface="Times New Roman"/>
                <a:sym typeface="Times New Roman"/>
              </a:rPr>
              <a:t>Sophisticated Low Profile Microwave Flat Lens using Periodic Structures at C Band</a:t>
            </a:r>
            <a:endParaRPr b="0" sz="1800">
              <a:solidFill>
                <a:schemeClr val="dk2"/>
              </a:solidFill>
              <a:latin typeface="Times New Roman"/>
              <a:ea typeface="Times New Roman"/>
              <a:cs typeface="Times New Roman"/>
              <a:sym typeface="Times New Roman"/>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9" name="Shape 99"/>
        <p:cNvGrpSpPr/>
        <p:nvPr/>
      </p:nvGrpSpPr>
      <p:grpSpPr>
        <a:xfrm>
          <a:off x="0" y="0"/>
          <a:ext cx="0" cy="0"/>
          <a:chOff x="0" y="0"/>
          <a:chExt cx="0" cy="0"/>
        </a:xfrm>
      </p:grpSpPr>
      <p:pic>
        <p:nvPicPr>
          <p:cNvPr id="100" name="Google Shape;100;p20"/>
          <p:cNvPicPr preferRelativeResize="0"/>
          <p:nvPr/>
        </p:nvPicPr>
        <p:blipFill rotWithShape="1">
          <a:blip r:embed="rId2">
            <a:alphaModFix/>
          </a:blip>
          <a:srcRect b="0" l="0" r="0" t="0"/>
          <a:stretch/>
        </p:blipFill>
        <p:spPr>
          <a:xfrm>
            <a:off x="228600" y="6375400"/>
            <a:ext cx="461963" cy="457200"/>
          </a:xfrm>
          <a:prstGeom prst="rect">
            <a:avLst/>
          </a:prstGeom>
          <a:noFill/>
          <a:ln>
            <a:noFill/>
          </a:ln>
        </p:spPr>
      </p:pic>
      <p:sp>
        <p:nvSpPr>
          <p:cNvPr id="101" name="Google Shape;101;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2" name="Google Shape;102;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103" name="Google Shape;103;p20"/>
          <p:cNvSpPr txBox="1"/>
          <p:nvPr>
            <p:ph idx="12" type="sldNum"/>
          </p:nvPr>
        </p:nvSpPr>
        <p:spPr>
          <a:xfrm>
            <a:off x="7010400" y="6381750"/>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r>
              <a:rPr lang="en-US"/>
              <a:t>       </a:t>
            </a: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4" name="Shape 104"/>
        <p:cNvGrpSpPr/>
        <p:nvPr/>
      </p:nvGrpSpPr>
      <p:grpSpPr>
        <a:xfrm>
          <a:off x="0" y="0"/>
          <a:ext cx="0" cy="0"/>
          <a:chOff x="0" y="0"/>
          <a:chExt cx="0" cy="0"/>
        </a:xfrm>
      </p:grpSpPr>
      <p:sp>
        <p:nvSpPr>
          <p:cNvPr id="105" name="Google Shape;105;p21"/>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6" name="Google Shape;106;p21"/>
          <p:cNvSpPr txBox="1"/>
          <p:nvPr>
            <p:ph idx="1" type="body"/>
          </p:nvPr>
        </p:nvSpPr>
        <p:spPr>
          <a:xfrm>
            <a:off x="457200" y="1066800"/>
            <a:ext cx="4038600" cy="51816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107" name="Google Shape;107;p21"/>
          <p:cNvSpPr txBox="1"/>
          <p:nvPr>
            <p:ph idx="2" type="body"/>
          </p:nvPr>
        </p:nvSpPr>
        <p:spPr>
          <a:xfrm>
            <a:off x="4648200" y="1066800"/>
            <a:ext cx="4038600" cy="51816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108" name="Google Shape;108;p21"/>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9" name="Shape 109"/>
        <p:cNvGrpSpPr/>
        <p:nvPr/>
      </p:nvGrpSpPr>
      <p:grpSpPr>
        <a:xfrm>
          <a:off x="0" y="0"/>
          <a:ext cx="0" cy="0"/>
          <a:chOff x="0" y="0"/>
          <a:chExt cx="0" cy="0"/>
        </a:xfrm>
      </p:grpSpPr>
      <p:sp>
        <p:nvSpPr>
          <p:cNvPr id="110" name="Google Shape;110;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1" name="Google Shape;111;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112" name="Google Shape;112;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113" name="Google Shape;113;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114" name="Google Shape;114;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115" name="Google Shape;115;p22"/>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6" name="Shape 116"/>
        <p:cNvGrpSpPr/>
        <p:nvPr/>
      </p:nvGrpSpPr>
      <p:grpSpPr>
        <a:xfrm>
          <a:off x="0" y="0"/>
          <a:ext cx="0" cy="0"/>
          <a:chOff x="0" y="0"/>
          <a:chExt cx="0" cy="0"/>
        </a:xfrm>
      </p:grpSpPr>
      <p:sp>
        <p:nvSpPr>
          <p:cNvPr id="117" name="Google Shape;117;p23"/>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8" name="Shape 118"/>
        <p:cNvGrpSpPr/>
        <p:nvPr/>
      </p:nvGrpSpPr>
      <p:grpSpPr>
        <a:xfrm>
          <a:off x="0" y="0"/>
          <a:ext cx="0" cy="0"/>
          <a:chOff x="0" y="0"/>
          <a:chExt cx="0" cy="0"/>
        </a:xfrm>
      </p:grpSpPr>
      <p:sp>
        <p:nvSpPr>
          <p:cNvPr id="119" name="Google Shape;119;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0" name="Google Shape;120;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121" name="Google Shape;121;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122" name="Google Shape;122;p24"/>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3" name="Shape 123"/>
        <p:cNvGrpSpPr/>
        <p:nvPr/>
      </p:nvGrpSpPr>
      <p:grpSpPr>
        <a:xfrm>
          <a:off x="0" y="0"/>
          <a:ext cx="0" cy="0"/>
          <a:chOff x="0" y="0"/>
          <a:chExt cx="0" cy="0"/>
        </a:xfrm>
      </p:grpSpPr>
      <p:sp>
        <p:nvSpPr>
          <p:cNvPr id="124" name="Google Shape;124;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5" name="Google Shape;125;p25"/>
          <p:cNvSpPr/>
          <p:nvPr>
            <p:ph idx="2" type="pic"/>
          </p:nvPr>
        </p:nvSpPr>
        <p:spPr>
          <a:xfrm>
            <a:off x="1792288" y="612775"/>
            <a:ext cx="5486400" cy="4114800"/>
          </a:xfrm>
          <a:prstGeom prst="rect">
            <a:avLst/>
          </a:prstGeom>
          <a:noFill/>
          <a:ln>
            <a:noFill/>
          </a:ln>
        </p:spPr>
      </p:sp>
      <p:sp>
        <p:nvSpPr>
          <p:cNvPr id="126" name="Google Shape;126;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127" name="Google Shape;127;p25"/>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8" name="Shape 128"/>
        <p:cNvGrpSpPr/>
        <p:nvPr/>
      </p:nvGrpSpPr>
      <p:grpSpPr>
        <a:xfrm>
          <a:off x="0" y="0"/>
          <a:ext cx="0" cy="0"/>
          <a:chOff x="0" y="0"/>
          <a:chExt cx="0" cy="0"/>
        </a:xfrm>
      </p:grpSpPr>
      <p:sp>
        <p:nvSpPr>
          <p:cNvPr id="129" name="Google Shape;129;p26"/>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0" name="Google Shape;130;p26"/>
          <p:cNvSpPr txBox="1"/>
          <p:nvPr>
            <p:ph idx="1" type="body"/>
          </p:nvPr>
        </p:nvSpPr>
        <p:spPr>
          <a:xfrm rot="5400000">
            <a:off x="1981200" y="-457200"/>
            <a:ext cx="5181600"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1" name="Google Shape;131;p26"/>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2" name="Shape 132"/>
        <p:cNvGrpSpPr/>
        <p:nvPr/>
      </p:nvGrpSpPr>
      <p:grpSpPr>
        <a:xfrm>
          <a:off x="0" y="0"/>
          <a:ext cx="0" cy="0"/>
          <a:chOff x="0" y="0"/>
          <a:chExt cx="0" cy="0"/>
        </a:xfrm>
      </p:grpSpPr>
      <p:sp>
        <p:nvSpPr>
          <p:cNvPr id="133" name="Google Shape;133;p27"/>
          <p:cNvSpPr txBox="1"/>
          <p:nvPr>
            <p:ph type="title"/>
          </p:nvPr>
        </p:nvSpPr>
        <p:spPr>
          <a:xfrm rot="5400000">
            <a:off x="4595019" y="2156619"/>
            <a:ext cx="6126162"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4" name="Google Shape;134;p27"/>
          <p:cNvSpPr txBox="1"/>
          <p:nvPr>
            <p:ph idx="1" type="body"/>
          </p:nvPr>
        </p:nvSpPr>
        <p:spPr>
          <a:xfrm rot="5400000">
            <a:off x="404019" y="175419"/>
            <a:ext cx="6126162"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5" name="Google Shape;135;p27"/>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136" name="Shape 136"/>
        <p:cNvGrpSpPr/>
        <p:nvPr/>
      </p:nvGrpSpPr>
      <p:grpSpPr>
        <a:xfrm>
          <a:off x="0" y="0"/>
          <a:ext cx="0" cy="0"/>
          <a:chOff x="0" y="0"/>
          <a:chExt cx="0" cy="0"/>
        </a:xfrm>
      </p:grpSpPr>
      <p:sp>
        <p:nvSpPr>
          <p:cNvPr id="137" name="Google Shape;137;p28"/>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8" name="Google Shape;138;p28"/>
          <p:cNvSpPr txBox="1"/>
          <p:nvPr>
            <p:ph idx="1" type="body"/>
          </p:nvPr>
        </p:nvSpPr>
        <p:spPr>
          <a:xfrm>
            <a:off x="457200" y="1066800"/>
            <a:ext cx="4038600" cy="5181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9" name="Google Shape;139;p28"/>
          <p:cNvSpPr txBox="1"/>
          <p:nvPr>
            <p:ph idx="2" type="body"/>
          </p:nvPr>
        </p:nvSpPr>
        <p:spPr>
          <a:xfrm>
            <a:off x="4648200" y="1066800"/>
            <a:ext cx="4038600" cy="5181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0" name="Google Shape;140;p28"/>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141" name="Shape 141"/>
        <p:cNvGrpSpPr/>
        <p:nvPr/>
      </p:nvGrpSpPr>
      <p:grpSpPr>
        <a:xfrm>
          <a:off x="0" y="0"/>
          <a:ext cx="0" cy="0"/>
          <a:chOff x="0" y="0"/>
          <a:chExt cx="0" cy="0"/>
        </a:xfrm>
      </p:grpSpPr>
      <p:sp>
        <p:nvSpPr>
          <p:cNvPr id="142" name="Google Shape;142;p29"/>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3" name="Google Shape;143;p29"/>
          <p:cNvSpPr txBox="1"/>
          <p:nvPr>
            <p:ph idx="1" type="body"/>
          </p:nvPr>
        </p:nvSpPr>
        <p:spPr>
          <a:xfrm>
            <a:off x="457200" y="1066800"/>
            <a:ext cx="4038600" cy="5181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4" name="Google Shape;144;p29"/>
          <p:cNvSpPr txBox="1"/>
          <p:nvPr>
            <p:ph idx="2" type="body"/>
          </p:nvPr>
        </p:nvSpPr>
        <p:spPr>
          <a:xfrm>
            <a:off x="4648200" y="1066800"/>
            <a:ext cx="4038600" cy="2514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5" name="Google Shape;145;p29"/>
          <p:cNvSpPr txBox="1"/>
          <p:nvPr>
            <p:ph idx="3" type="body"/>
          </p:nvPr>
        </p:nvSpPr>
        <p:spPr>
          <a:xfrm>
            <a:off x="4648200" y="3733800"/>
            <a:ext cx="4038600" cy="2514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6" name="Google Shape;146;p29"/>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147" name="Shape 147"/>
        <p:cNvGrpSpPr/>
        <p:nvPr/>
      </p:nvGrpSpPr>
      <p:grpSpPr>
        <a:xfrm>
          <a:off x="0" y="0"/>
          <a:ext cx="0" cy="0"/>
          <a:chOff x="0" y="0"/>
          <a:chExt cx="0" cy="0"/>
        </a:xfrm>
      </p:grpSpPr>
      <p:sp>
        <p:nvSpPr>
          <p:cNvPr id="148" name="Google Shape;148;p30"/>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9" name="Google Shape;149;p30"/>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50" name="Shape 150"/>
        <p:cNvGrpSpPr/>
        <p:nvPr/>
      </p:nvGrpSpPr>
      <p:grpSpPr>
        <a:xfrm>
          <a:off x="0" y="0"/>
          <a:ext cx="0" cy="0"/>
          <a:chOff x="0" y="0"/>
          <a:chExt cx="0" cy="0"/>
        </a:xfrm>
      </p:grpSpPr>
      <p:sp>
        <p:nvSpPr>
          <p:cNvPr id="151" name="Google Shape;151;p31"/>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2" name="Google Shape;152;p31"/>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5" Type="http://schemas.openxmlformats.org/officeDocument/2006/relationships/slideLayout" Target="../slideLayouts/slideLayout29.xml"/><Relationship Id="rId14" Type="http://schemas.openxmlformats.org/officeDocument/2006/relationships/slideLayout" Target="../slideLayouts/slideLayout28.xml"/><Relationship Id="rId16" Type="http://schemas.openxmlformats.org/officeDocument/2006/relationships/theme" Target="../theme/theme2.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9pPr>
          </a:lstStyle>
          <a:p/>
        </p:txBody>
      </p:sp>
      <p:sp>
        <p:nvSpPr>
          <p:cNvPr id="11" name="Google Shape;11;p1"/>
          <p:cNvSpPr txBox="1"/>
          <p:nvPr>
            <p:ph idx="1" type="body"/>
          </p:nvPr>
        </p:nvSpPr>
        <p:spPr>
          <a:xfrm>
            <a:off x="457200" y="1066800"/>
            <a:ext cx="8229600" cy="51816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2" name="Google Shape;12;p1"/>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r">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r">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r">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r">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r">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r">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r">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r">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3" name="Google Shape;13;p1"/>
          <p:cNvCxnSpPr/>
          <p:nvPr/>
        </p:nvCxnSpPr>
        <p:spPr>
          <a:xfrm>
            <a:off x="0" y="914400"/>
            <a:ext cx="9144000" cy="0"/>
          </a:xfrm>
          <a:prstGeom prst="straightConnector1">
            <a:avLst/>
          </a:prstGeom>
          <a:noFill/>
          <a:ln cap="flat" cmpd="sng" w="28575">
            <a:solidFill>
              <a:schemeClr val="accent2"/>
            </a:solidFill>
            <a:prstDash val="solid"/>
            <a:round/>
            <a:headEnd len="med" w="med" type="none"/>
            <a:tailEnd len="med" w="med" type="none"/>
          </a:ln>
        </p:spPr>
      </p:cxnSp>
      <p:cxnSp>
        <p:nvCxnSpPr>
          <p:cNvPr id="14" name="Google Shape;14;p1"/>
          <p:cNvCxnSpPr/>
          <p:nvPr/>
        </p:nvCxnSpPr>
        <p:spPr>
          <a:xfrm>
            <a:off x="0" y="6324600"/>
            <a:ext cx="9144000" cy="0"/>
          </a:xfrm>
          <a:prstGeom prst="straightConnector1">
            <a:avLst/>
          </a:prstGeom>
          <a:noFill/>
          <a:ln cap="flat" cmpd="sng" w="28575">
            <a:solidFill>
              <a:schemeClr val="accent2"/>
            </a:solidFill>
            <a:prstDash val="solid"/>
            <a:round/>
            <a:headEnd len="med" w="med" type="none"/>
            <a:tailEnd len="med" w="med" type="none"/>
          </a:ln>
        </p:spPr>
      </p:cxn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 name="Shape 79"/>
        <p:cNvGrpSpPr/>
        <p:nvPr/>
      </p:nvGrpSpPr>
      <p:grpSpPr>
        <a:xfrm>
          <a:off x="0" y="0"/>
          <a:ext cx="0" cy="0"/>
          <a:chOff x="0" y="0"/>
          <a:chExt cx="0" cy="0"/>
        </a:xfrm>
      </p:grpSpPr>
      <p:sp>
        <p:nvSpPr>
          <p:cNvPr id="80" name="Google Shape;80;p16"/>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9pPr>
          </a:lstStyle>
          <a:p/>
        </p:txBody>
      </p:sp>
      <p:sp>
        <p:nvSpPr>
          <p:cNvPr id="81" name="Google Shape;81;p16"/>
          <p:cNvSpPr txBox="1"/>
          <p:nvPr>
            <p:ph idx="1" type="body"/>
          </p:nvPr>
        </p:nvSpPr>
        <p:spPr>
          <a:xfrm>
            <a:off x="457200" y="1066800"/>
            <a:ext cx="8229600" cy="51816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2" name="Google Shape;82;p16"/>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sz="1400">
                <a:solidFill>
                  <a:srgbClr val="000000"/>
                </a:solidFill>
                <a:latin typeface="Arial"/>
                <a:ea typeface="Arial"/>
                <a:cs typeface="Arial"/>
                <a:sym typeface="Arial"/>
              </a:defRPr>
            </a:lvl1pPr>
            <a:lvl2pPr indent="0" lvl="1" marL="0" marR="0" rtl="0" algn="r">
              <a:spcBef>
                <a:spcPts val="0"/>
              </a:spcBef>
              <a:spcAft>
                <a:spcPts val="0"/>
              </a:spcAft>
              <a:buNone/>
              <a:defRPr sz="1400">
                <a:solidFill>
                  <a:srgbClr val="000000"/>
                </a:solidFill>
                <a:latin typeface="Arial"/>
                <a:ea typeface="Arial"/>
                <a:cs typeface="Arial"/>
                <a:sym typeface="Arial"/>
              </a:defRPr>
            </a:lvl2pPr>
            <a:lvl3pPr indent="0" lvl="2" marL="0" marR="0" rtl="0" algn="r">
              <a:spcBef>
                <a:spcPts val="0"/>
              </a:spcBef>
              <a:spcAft>
                <a:spcPts val="0"/>
              </a:spcAft>
              <a:buNone/>
              <a:defRPr sz="1400">
                <a:solidFill>
                  <a:srgbClr val="000000"/>
                </a:solidFill>
                <a:latin typeface="Arial"/>
                <a:ea typeface="Arial"/>
                <a:cs typeface="Arial"/>
                <a:sym typeface="Arial"/>
              </a:defRPr>
            </a:lvl3pPr>
            <a:lvl4pPr indent="0" lvl="3" marL="0" marR="0" rtl="0" algn="r">
              <a:spcBef>
                <a:spcPts val="0"/>
              </a:spcBef>
              <a:spcAft>
                <a:spcPts val="0"/>
              </a:spcAft>
              <a:buNone/>
              <a:defRPr sz="1400">
                <a:solidFill>
                  <a:srgbClr val="000000"/>
                </a:solidFill>
                <a:latin typeface="Arial"/>
                <a:ea typeface="Arial"/>
                <a:cs typeface="Arial"/>
                <a:sym typeface="Arial"/>
              </a:defRPr>
            </a:lvl4pPr>
            <a:lvl5pPr indent="0" lvl="4" marL="0" marR="0" rtl="0" algn="r">
              <a:spcBef>
                <a:spcPts val="0"/>
              </a:spcBef>
              <a:spcAft>
                <a:spcPts val="0"/>
              </a:spcAft>
              <a:buNone/>
              <a:defRPr sz="1400">
                <a:solidFill>
                  <a:srgbClr val="000000"/>
                </a:solidFill>
                <a:latin typeface="Arial"/>
                <a:ea typeface="Arial"/>
                <a:cs typeface="Arial"/>
                <a:sym typeface="Arial"/>
              </a:defRPr>
            </a:lvl5pPr>
            <a:lvl6pPr indent="0" lvl="5" marL="0" marR="0" rtl="0" algn="r">
              <a:spcBef>
                <a:spcPts val="0"/>
              </a:spcBef>
              <a:spcAft>
                <a:spcPts val="0"/>
              </a:spcAft>
              <a:buNone/>
              <a:defRPr sz="1400">
                <a:solidFill>
                  <a:srgbClr val="000000"/>
                </a:solidFill>
                <a:latin typeface="Arial"/>
                <a:ea typeface="Arial"/>
                <a:cs typeface="Arial"/>
                <a:sym typeface="Arial"/>
              </a:defRPr>
            </a:lvl6pPr>
            <a:lvl7pPr indent="0" lvl="6" marL="0" marR="0" rtl="0" algn="r">
              <a:spcBef>
                <a:spcPts val="0"/>
              </a:spcBef>
              <a:spcAft>
                <a:spcPts val="0"/>
              </a:spcAft>
              <a:buNone/>
              <a:defRPr sz="1400">
                <a:solidFill>
                  <a:srgbClr val="000000"/>
                </a:solidFill>
                <a:latin typeface="Arial"/>
                <a:ea typeface="Arial"/>
                <a:cs typeface="Arial"/>
                <a:sym typeface="Arial"/>
              </a:defRPr>
            </a:lvl7pPr>
            <a:lvl8pPr indent="0" lvl="7" marL="0" marR="0" rtl="0" algn="r">
              <a:spcBef>
                <a:spcPts val="0"/>
              </a:spcBef>
              <a:spcAft>
                <a:spcPts val="0"/>
              </a:spcAft>
              <a:buNone/>
              <a:defRPr sz="1400">
                <a:solidFill>
                  <a:srgbClr val="000000"/>
                </a:solidFill>
                <a:latin typeface="Arial"/>
                <a:ea typeface="Arial"/>
                <a:cs typeface="Arial"/>
                <a:sym typeface="Arial"/>
              </a:defRPr>
            </a:lvl8pPr>
            <a:lvl9pPr indent="0" lvl="8" marL="0" marR="0" rtl="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83" name="Google Shape;83;p16"/>
          <p:cNvCxnSpPr/>
          <p:nvPr/>
        </p:nvCxnSpPr>
        <p:spPr>
          <a:xfrm>
            <a:off x="0" y="914400"/>
            <a:ext cx="9144000" cy="0"/>
          </a:xfrm>
          <a:prstGeom prst="straightConnector1">
            <a:avLst/>
          </a:prstGeom>
          <a:noFill/>
          <a:ln cap="flat" cmpd="sng" w="28575">
            <a:solidFill>
              <a:schemeClr val="accent2"/>
            </a:solidFill>
            <a:prstDash val="solid"/>
            <a:round/>
            <a:headEnd len="med" w="med" type="none"/>
            <a:tailEnd len="med" w="med" type="none"/>
          </a:ln>
        </p:spPr>
      </p:cxnSp>
      <p:cxnSp>
        <p:nvCxnSpPr>
          <p:cNvPr id="84" name="Google Shape;84;p16"/>
          <p:cNvCxnSpPr/>
          <p:nvPr/>
        </p:nvCxnSpPr>
        <p:spPr>
          <a:xfrm>
            <a:off x="0" y="6324600"/>
            <a:ext cx="9144000" cy="0"/>
          </a:xfrm>
          <a:prstGeom prst="straightConnector1">
            <a:avLst/>
          </a:prstGeom>
          <a:noFill/>
          <a:ln cap="flat" cmpd="sng" w="28575">
            <a:solidFill>
              <a:schemeClr val="accent2"/>
            </a:solidFill>
            <a:prstDash val="solid"/>
            <a:round/>
            <a:headEnd len="med" w="med" type="none"/>
            <a:tailEnd len="med" w="med" type="none"/>
          </a:ln>
        </p:spPr>
      </p:cxnSp>
      <p:sp>
        <p:nvSpPr>
          <p:cNvPr id="85" name="Google Shape;85;p16"/>
          <p:cNvSpPr txBox="1"/>
          <p:nvPr/>
        </p:nvSpPr>
        <p:spPr>
          <a:xfrm>
            <a:off x="838200" y="6381750"/>
            <a:ext cx="7543800" cy="4762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hyperlink" Target="https://www.researchgate.net/publication/387979958_Identifying_and_Mitigating_Web_Application_Vulnerabilities_A_Comparative_Study_of_Countermeasures_and_Tools" TargetMode="External"/><Relationship Id="rId4" Type="http://schemas.openxmlformats.org/officeDocument/2006/relationships/hyperlink" Target="https://ieeexplore.ieee.org/document/8777558"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hyperlink" Target="https://papers.ssrn.com/sol3/papers.cfm?abstract_id=5102292" TargetMode="External"/><Relationship Id="rId4" Type="http://schemas.openxmlformats.org/officeDocument/2006/relationships/hyperlink" Target="https://www.jetir.org/view?paper=JETIRFP06071"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hyperlink" Target="https://secureframe.com/blog/ai-in-cybersecurity" TargetMode="External"/><Relationship Id="rId4" Type="http://schemas.openxmlformats.org/officeDocument/2006/relationships/hyperlink" Target="https://fuselabcreative.com/ai-business-analytics-dashboard/" TargetMode="External"/><Relationship Id="rId5" Type="http://schemas.openxmlformats.org/officeDocument/2006/relationships/hyperlink" Target="https://www.acigjournal.com/Vulnerabilities-of-Web-Applications-Good-Practices-and-New-Trends,199521,0,2.html" TargetMode="External"/><Relationship Id="rId6" Type="http://schemas.openxmlformats.org/officeDocument/2006/relationships/hyperlink" Target="https://www.qualys.com/apps/web-app-scanning/" TargetMode="External"/><Relationship Id="rId7" Type="http://schemas.openxmlformats.org/officeDocument/2006/relationships/hyperlink" Target="https://ojs.bonviewpress.com/index.php/AIA/article/view/754/489" TargetMode="External"/><Relationship Id="rId8" Type="http://schemas.openxmlformats.org/officeDocument/2006/relationships/hyperlink" Target="https://www.fortinet.com/resources/cyberglossary/artificial-intelligence-in-cybersecurit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2"/>
          <p:cNvSpPr txBox="1"/>
          <p:nvPr/>
        </p:nvSpPr>
        <p:spPr>
          <a:xfrm>
            <a:off x="266700" y="4090525"/>
            <a:ext cx="8610600" cy="1937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Under the guidance</a:t>
            </a:r>
            <a:endParaRPr sz="2000"/>
          </a:p>
          <a:p>
            <a:pPr indent="0" lvl="0" marL="0" marR="0" rtl="0" algn="ctr">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of</a:t>
            </a:r>
            <a:endParaRPr sz="2000"/>
          </a:p>
          <a:p>
            <a:pPr indent="0" lvl="0" marL="0" marR="0" rtl="0" algn="ctr">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Dr.</a:t>
            </a:r>
            <a:r>
              <a:rPr lang="en-US" sz="2000">
                <a:solidFill>
                  <a:schemeClr val="dk1"/>
                </a:solidFill>
                <a:latin typeface="Times New Roman"/>
                <a:ea typeface="Times New Roman"/>
                <a:cs typeface="Times New Roman"/>
                <a:sym typeface="Times New Roman"/>
              </a:rPr>
              <a:t>Jayasudha Koti</a:t>
            </a:r>
            <a:endParaRPr sz="2000"/>
          </a:p>
          <a:p>
            <a:pPr indent="0" lvl="0" marL="0" marR="0" rtl="0" algn="ctr">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ctr">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                     Department of Electronics and Telecommunication Engineering</a:t>
            </a:r>
            <a:endParaRPr sz="2000"/>
          </a:p>
          <a:p>
            <a:pPr indent="0" lvl="0" marL="0" marR="0" rtl="0" algn="ctr">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             St. Francis Institute of Technology, Mumbai  </a:t>
            </a:r>
            <a:endParaRPr sz="2000"/>
          </a:p>
        </p:txBody>
      </p:sp>
      <p:pic>
        <p:nvPicPr>
          <p:cNvPr id="158" name="Google Shape;158;p32"/>
          <p:cNvPicPr preferRelativeResize="0"/>
          <p:nvPr/>
        </p:nvPicPr>
        <p:blipFill rotWithShape="1">
          <a:blip r:embed="rId3">
            <a:alphaModFix/>
          </a:blip>
          <a:srcRect b="0" l="0" r="0" t="0"/>
          <a:stretch/>
        </p:blipFill>
        <p:spPr>
          <a:xfrm>
            <a:off x="193083" y="4939175"/>
            <a:ext cx="1598679" cy="1295400"/>
          </a:xfrm>
          <a:prstGeom prst="rect">
            <a:avLst/>
          </a:prstGeom>
          <a:noFill/>
          <a:ln>
            <a:noFill/>
          </a:ln>
        </p:spPr>
      </p:pic>
      <p:sp>
        <p:nvSpPr>
          <p:cNvPr id="159" name="Google Shape;159;p32"/>
          <p:cNvSpPr txBox="1"/>
          <p:nvPr/>
        </p:nvSpPr>
        <p:spPr>
          <a:xfrm>
            <a:off x="150" y="2424900"/>
            <a:ext cx="9144000" cy="1371600"/>
          </a:xfrm>
          <a:prstGeom prst="rect">
            <a:avLst/>
          </a:prstGeom>
          <a:noFill/>
          <a:ln>
            <a:noFill/>
          </a:ln>
        </p:spPr>
        <p:txBody>
          <a:bodyPr anchorCtr="0" anchor="t" bIns="45700" lIns="91425" spcFirstLastPara="1" rIns="91425" wrap="square" tIns="45700">
            <a:noAutofit/>
          </a:bodyPr>
          <a:lstStyle/>
          <a:p>
            <a:pPr indent="-342900" lvl="0" marL="3543300" marR="0" rtl="0" algn="l">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Sakshi Khalate </a:t>
            </a:r>
            <a:r>
              <a:rPr b="0" i="0" lang="en-US" sz="2000" u="none" cap="none" strike="noStrike">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25</a:t>
            </a:r>
            <a:endParaRPr/>
          </a:p>
          <a:p>
            <a:pPr indent="-342900" lvl="0" marL="3543300" marR="0" rtl="0" algn="l">
              <a:spcBef>
                <a:spcPts val="40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Layba Khan    </a:t>
            </a:r>
            <a:r>
              <a:rPr b="0" i="0" lang="en-US" sz="2000" u="none" cap="none" strike="noStrike">
                <a:solidFill>
                  <a:schemeClr val="dk1"/>
                </a:solidFill>
                <a:latin typeface="Times New Roman"/>
                <a:ea typeface="Times New Roman"/>
                <a:cs typeface="Times New Roman"/>
                <a:sym typeface="Times New Roman"/>
              </a:rPr>
              <a:t> – </a:t>
            </a:r>
            <a:r>
              <a:rPr lang="en-US" sz="2000">
                <a:solidFill>
                  <a:schemeClr val="dk1"/>
                </a:solidFill>
                <a:latin typeface="Times New Roman"/>
                <a:ea typeface="Times New Roman"/>
                <a:cs typeface="Times New Roman"/>
                <a:sym typeface="Times New Roman"/>
              </a:rPr>
              <a:t>26</a:t>
            </a:r>
            <a:endParaRPr/>
          </a:p>
          <a:p>
            <a:pPr indent="-342900" lvl="0" marL="3543300" marR="0" rtl="0" algn="l">
              <a:spcBef>
                <a:spcPts val="40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Parshwa Mehta</a:t>
            </a:r>
            <a:r>
              <a:rPr b="0" i="0" lang="en-US" sz="2000" u="none" cap="none" strike="noStrike">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27</a:t>
            </a:r>
            <a:endParaRPr/>
          </a:p>
          <a:p>
            <a:pPr indent="-342900" lvl="0" marL="3543300" marR="0" rtl="0" algn="l">
              <a:spcBef>
                <a:spcPts val="40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Atharva Mohite</a:t>
            </a:r>
            <a:r>
              <a:rPr b="0" i="0" lang="en-US" sz="2000" u="none" cap="none" strike="noStrike">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28</a:t>
            </a:r>
            <a:endParaRPr b="0" i="0" sz="2000" u="none" cap="none" strike="noStrike">
              <a:solidFill>
                <a:schemeClr val="dk1"/>
              </a:solidFill>
              <a:latin typeface="Times New Roman"/>
              <a:ea typeface="Times New Roman"/>
              <a:cs typeface="Times New Roman"/>
              <a:sym typeface="Times New Roman"/>
            </a:endParaRPr>
          </a:p>
        </p:txBody>
      </p:sp>
      <p:sp>
        <p:nvSpPr>
          <p:cNvPr id="160" name="Google Shape;160;p32"/>
          <p:cNvSpPr/>
          <p:nvPr/>
        </p:nvSpPr>
        <p:spPr>
          <a:xfrm>
            <a:off x="1803900" y="316468"/>
            <a:ext cx="59094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BE Sem. VII: Project Proposal Presentation (AY:2025-26) </a:t>
            </a:r>
            <a:endParaRPr b="1" sz="1800">
              <a:solidFill>
                <a:schemeClr val="dk1"/>
              </a:solidFill>
              <a:latin typeface="Arial"/>
              <a:ea typeface="Arial"/>
              <a:cs typeface="Arial"/>
              <a:sym typeface="Arial"/>
            </a:endParaRPr>
          </a:p>
        </p:txBody>
      </p:sp>
      <p:sp>
        <p:nvSpPr>
          <p:cNvPr id="161" name="Google Shape;161;p32"/>
          <p:cNvSpPr txBox="1"/>
          <p:nvPr/>
        </p:nvSpPr>
        <p:spPr>
          <a:xfrm>
            <a:off x="0" y="1006387"/>
            <a:ext cx="9144000" cy="954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chemeClr val="dk1"/>
                </a:solidFill>
                <a:latin typeface="Times New Roman"/>
                <a:ea typeface="Times New Roman"/>
                <a:cs typeface="Times New Roman"/>
                <a:sym typeface="Times New Roman"/>
              </a:rPr>
              <a:t>WebLAPS-AI Solution : Smart Analysis, Smarter Conversations</a:t>
            </a:r>
            <a:endParaRPr b="1" sz="2800">
              <a:solidFill>
                <a:schemeClr val="dk1"/>
              </a:solidFill>
              <a:latin typeface="Times New Roman"/>
              <a:ea typeface="Times New Roman"/>
              <a:cs typeface="Times New Roman"/>
              <a:sym typeface="Times New Roman"/>
            </a:endParaRPr>
          </a:p>
        </p:txBody>
      </p:sp>
      <p:sp>
        <p:nvSpPr>
          <p:cNvPr id="162" name="Google Shape;162;p32"/>
          <p:cNvSpPr txBox="1"/>
          <p:nvPr/>
        </p:nvSpPr>
        <p:spPr>
          <a:xfrm>
            <a:off x="0" y="1913303"/>
            <a:ext cx="91440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Presented by</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3"/>
          <p:cNvSpPr txBox="1"/>
          <p:nvPr>
            <p:ph type="title"/>
          </p:nvPr>
        </p:nvSpPr>
        <p:spPr>
          <a:xfrm>
            <a:off x="457200" y="0"/>
            <a:ext cx="8229600"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Contents</a:t>
            </a:r>
            <a:endParaRPr/>
          </a:p>
        </p:txBody>
      </p:sp>
      <p:sp>
        <p:nvSpPr>
          <p:cNvPr id="168" name="Google Shape;168;p33"/>
          <p:cNvSpPr txBox="1"/>
          <p:nvPr>
            <p:ph idx="4294967295" type="body"/>
          </p:nvPr>
        </p:nvSpPr>
        <p:spPr>
          <a:xfrm>
            <a:off x="457200" y="1066800"/>
            <a:ext cx="8229600" cy="5424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t/>
            </a:r>
            <a:endParaRPr b="1" sz="2000">
              <a:latin typeface="Times New Roman"/>
              <a:ea typeface="Times New Roman"/>
              <a:cs typeface="Times New Roman"/>
              <a:sym typeface="Times New Roman"/>
            </a:endParaRPr>
          </a:p>
          <a:p>
            <a:pPr indent="-311150" lvl="0" marL="342900" rtl="0" algn="l">
              <a:lnSpc>
                <a:spcPct val="115000"/>
              </a:lnSpc>
              <a:spcBef>
                <a:spcPts val="0"/>
              </a:spcBef>
              <a:spcAft>
                <a:spcPts val="0"/>
              </a:spcAft>
              <a:buClr>
                <a:schemeClr val="dk1"/>
              </a:buClr>
              <a:buSzPts val="2000"/>
              <a:buFont typeface="Times New Roman"/>
              <a:buChar char="•"/>
            </a:pPr>
            <a:r>
              <a:rPr b="1" lang="en-US" sz="2000">
                <a:latin typeface="Times New Roman"/>
                <a:ea typeface="Times New Roman"/>
                <a:cs typeface="Times New Roman"/>
                <a:sym typeface="Times New Roman"/>
              </a:rPr>
              <a:t>Introduction and Motivation</a:t>
            </a:r>
            <a:endParaRPr b="1" sz="2000">
              <a:latin typeface="Times New Roman"/>
              <a:ea typeface="Times New Roman"/>
              <a:cs typeface="Times New Roman"/>
              <a:sym typeface="Times New Roman"/>
            </a:endParaRPr>
          </a:p>
          <a:p>
            <a:pPr indent="-311150" lvl="0" marL="342900" rtl="0" algn="l">
              <a:lnSpc>
                <a:spcPct val="115000"/>
              </a:lnSpc>
              <a:spcBef>
                <a:spcPts val="0"/>
              </a:spcBef>
              <a:spcAft>
                <a:spcPts val="0"/>
              </a:spcAft>
              <a:buClr>
                <a:schemeClr val="dk1"/>
              </a:buClr>
              <a:buSzPts val="2000"/>
              <a:buFont typeface="Times New Roman"/>
              <a:buChar char="•"/>
            </a:pPr>
            <a:r>
              <a:rPr b="1" lang="en-US" sz="2000">
                <a:latin typeface="Times New Roman"/>
                <a:ea typeface="Times New Roman"/>
                <a:cs typeface="Times New Roman"/>
                <a:sym typeface="Times New Roman"/>
              </a:rPr>
              <a:t>Problem Statement</a:t>
            </a:r>
            <a:endParaRPr b="1" sz="2000">
              <a:latin typeface="Times New Roman"/>
              <a:ea typeface="Times New Roman"/>
              <a:cs typeface="Times New Roman"/>
              <a:sym typeface="Times New Roman"/>
            </a:endParaRPr>
          </a:p>
          <a:p>
            <a:pPr indent="-311150" lvl="0" marL="342900" rtl="0" algn="l">
              <a:lnSpc>
                <a:spcPct val="115000"/>
              </a:lnSpc>
              <a:spcBef>
                <a:spcPts val="0"/>
              </a:spcBef>
              <a:spcAft>
                <a:spcPts val="0"/>
              </a:spcAft>
              <a:buClr>
                <a:schemeClr val="dk1"/>
              </a:buClr>
              <a:buSzPts val="2000"/>
              <a:buFont typeface="Times New Roman"/>
              <a:buChar char="•"/>
            </a:pPr>
            <a:r>
              <a:rPr b="1" lang="en-US" sz="2000">
                <a:latin typeface="Times New Roman"/>
                <a:ea typeface="Times New Roman"/>
                <a:cs typeface="Times New Roman"/>
                <a:sym typeface="Times New Roman"/>
              </a:rPr>
              <a:t>Objectives</a:t>
            </a:r>
            <a:endParaRPr b="1" sz="2000">
              <a:latin typeface="Times New Roman"/>
              <a:ea typeface="Times New Roman"/>
              <a:cs typeface="Times New Roman"/>
              <a:sym typeface="Times New Roman"/>
            </a:endParaRPr>
          </a:p>
          <a:p>
            <a:pPr indent="-311150" lvl="0" marL="342900" rtl="0" algn="l">
              <a:lnSpc>
                <a:spcPct val="115000"/>
              </a:lnSpc>
              <a:spcBef>
                <a:spcPts val="0"/>
              </a:spcBef>
              <a:spcAft>
                <a:spcPts val="0"/>
              </a:spcAft>
              <a:buSzPts val="2000"/>
              <a:buFont typeface="Times New Roman"/>
              <a:buChar char="•"/>
            </a:pPr>
            <a:r>
              <a:rPr b="1" lang="en-US" sz="2000">
                <a:latin typeface="Times New Roman"/>
                <a:ea typeface="Times New Roman"/>
                <a:cs typeface="Times New Roman"/>
                <a:sym typeface="Times New Roman"/>
              </a:rPr>
              <a:t>Flow Chart</a:t>
            </a:r>
            <a:endParaRPr sz="2000">
              <a:latin typeface="Times New Roman"/>
              <a:ea typeface="Times New Roman"/>
              <a:cs typeface="Times New Roman"/>
              <a:sym typeface="Times New Roman"/>
            </a:endParaRPr>
          </a:p>
          <a:p>
            <a:pPr indent="-311150" lvl="0" marL="342900" rtl="0" algn="l">
              <a:lnSpc>
                <a:spcPct val="115000"/>
              </a:lnSpc>
              <a:spcBef>
                <a:spcPts val="500"/>
              </a:spcBef>
              <a:spcAft>
                <a:spcPts val="0"/>
              </a:spcAft>
              <a:buClr>
                <a:schemeClr val="dk1"/>
              </a:buClr>
              <a:buSzPts val="2000"/>
              <a:buFont typeface="Times New Roman"/>
              <a:buChar char="•"/>
            </a:pPr>
            <a:r>
              <a:rPr b="1" lang="en-US" sz="2000">
                <a:latin typeface="Times New Roman"/>
                <a:ea typeface="Times New Roman"/>
                <a:cs typeface="Times New Roman"/>
                <a:sym typeface="Times New Roman"/>
              </a:rPr>
              <a:t>Literature Review</a:t>
            </a:r>
            <a:endParaRPr sz="2000">
              <a:latin typeface="Times New Roman"/>
              <a:ea typeface="Times New Roman"/>
              <a:cs typeface="Times New Roman"/>
              <a:sym typeface="Times New Roman"/>
            </a:endParaRPr>
          </a:p>
          <a:p>
            <a:pPr indent="-311150" lvl="0" marL="342900" rtl="0" algn="l">
              <a:lnSpc>
                <a:spcPct val="115000"/>
              </a:lnSpc>
              <a:spcBef>
                <a:spcPts val="500"/>
              </a:spcBef>
              <a:spcAft>
                <a:spcPts val="0"/>
              </a:spcAft>
              <a:buClr>
                <a:schemeClr val="dk1"/>
              </a:buClr>
              <a:buSzPts val="2000"/>
              <a:buFont typeface="Times New Roman"/>
              <a:buChar char="•"/>
            </a:pPr>
            <a:r>
              <a:rPr b="1" lang="en-US" sz="2000">
                <a:latin typeface="Times New Roman"/>
                <a:ea typeface="Times New Roman"/>
                <a:cs typeface="Times New Roman"/>
                <a:sym typeface="Times New Roman"/>
              </a:rPr>
              <a:t>Software Requirements</a:t>
            </a:r>
            <a:endParaRPr b="1" sz="2000">
              <a:latin typeface="Times New Roman"/>
              <a:ea typeface="Times New Roman"/>
              <a:cs typeface="Times New Roman"/>
              <a:sym typeface="Times New Roman"/>
            </a:endParaRPr>
          </a:p>
          <a:p>
            <a:pPr indent="-311150" lvl="0" marL="342900" rtl="0" algn="l">
              <a:lnSpc>
                <a:spcPct val="115000"/>
              </a:lnSpc>
              <a:spcBef>
                <a:spcPts val="500"/>
              </a:spcBef>
              <a:spcAft>
                <a:spcPts val="0"/>
              </a:spcAft>
              <a:buClr>
                <a:schemeClr val="dk1"/>
              </a:buClr>
              <a:buSzPts val="2000"/>
              <a:buFont typeface="Times New Roman"/>
              <a:buChar char="•"/>
            </a:pPr>
            <a:r>
              <a:rPr b="1" lang="en-US" sz="2000">
                <a:latin typeface="Times New Roman"/>
                <a:ea typeface="Times New Roman"/>
                <a:cs typeface="Times New Roman"/>
                <a:sym typeface="Times New Roman"/>
              </a:rPr>
              <a:t>Integration of AI and Cyber security</a:t>
            </a:r>
            <a:endParaRPr b="1" sz="2000">
              <a:latin typeface="Times New Roman"/>
              <a:ea typeface="Times New Roman"/>
              <a:cs typeface="Times New Roman"/>
              <a:sym typeface="Times New Roman"/>
            </a:endParaRPr>
          </a:p>
          <a:p>
            <a:pPr indent="-311150" lvl="0" marL="342900" rtl="0" algn="l">
              <a:lnSpc>
                <a:spcPct val="115000"/>
              </a:lnSpc>
              <a:spcBef>
                <a:spcPts val="500"/>
              </a:spcBef>
              <a:spcAft>
                <a:spcPts val="0"/>
              </a:spcAft>
              <a:buSzPts val="2000"/>
              <a:buFont typeface="Times New Roman"/>
              <a:buChar char="•"/>
            </a:pPr>
            <a:r>
              <a:rPr b="1" lang="en-US" sz="2000">
                <a:latin typeface="Times New Roman"/>
                <a:ea typeface="Times New Roman"/>
                <a:cs typeface="Times New Roman"/>
                <a:sym typeface="Times New Roman"/>
              </a:rPr>
              <a:t>Vulnerabilities That We Aim To Solve</a:t>
            </a:r>
            <a:endParaRPr b="1" sz="2000">
              <a:latin typeface="Times New Roman"/>
              <a:ea typeface="Times New Roman"/>
              <a:cs typeface="Times New Roman"/>
              <a:sym typeface="Times New Roman"/>
            </a:endParaRPr>
          </a:p>
          <a:p>
            <a:pPr indent="-311150" lvl="0" marL="342900" rtl="0" algn="l">
              <a:lnSpc>
                <a:spcPct val="115000"/>
              </a:lnSpc>
              <a:spcBef>
                <a:spcPts val="500"/>
              </a:spcBef>
              <a:spcAft>
                <a:spcPts val="0"/>
              </a:spcAft>
              <a:buSzPts val="2000"/>
              <a:buFont typeface="Times New Roman"/>
              <a:buChar char="•"/>
            </a:pPr>
            <a:r>
              <a:rPr b="1" lang="en-US" sz="2000">
                <a:latin typeface="Times New Roman"/>
                <a:ea typeface="Times New Roman"/>
                <a:cs typeface="Times New Roman"/>
                <a:sym typeface="Times New Roman"/>
              </a:rPr>
              <a:t>Requirement of Security in Applications</a:t>
            </a:r>
            <a:endParaRPr b="1" sz="2000">
              <a:latin typeface="Times New Roman"/>
              <a:ea typeface="Times New Roman"/>
              <a:cs typeface="Times New Roman"/>
              <a:sym typeface="Times New Roman"/>
            </a:endParaRPr>
          </a:p>
          <a:p>
            <a:pPr indent="-311150" lvl="0" marL="342900" rtl="0" algn="just">
              <a:lnSpc>
                <a:spcPct val="115000"/>
              </a:lnSpc>
              <a:spcBef>
                <a:spcPts val="500"/>
              </a:spcBef>
              <a:spcAft>
                <a:spcPts val="0"/>
              </a:spcAft>
              <a:buClr>
                <a:schemeClr val="dk1"/>
              </a:buClr>
              <a:buSzPts val="2000"/>
              <a:buFont typeface="Times New Roman"/>
              <a:buChar char="•"/>
            </a:pPr>
            <a:r>
              <a:rPr b="1" lang="en-US" sz="2000">
                <a:latin typeface="Times New Roman"/>
                <a:ea typeface="Times New Roman"/>
                <a:cs typeface="Times New Roman"/>
                <a:sym typeface="Times New Roman"/>
              </a:rPr>
              <a:t>References</a:t>
            </a:r>
            <a:endParaRPr sz="2000">
              <a:latin typeface="Times New Roman"/>
              <a:ea typeface="Times New Roman"/>
              <a:cs typeface="Times New Roman"/>
              <a:sym typeface="Times New Roman"/>
            </a:endParaRPr>
          </a:p>
        </p:txBody>
      </p:sp>
      <p:sp>
        <p:nvSpPr>
          <p:cNvPr id="169" name="Google Shape;169;p33"/>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rPr lang="en-US"/>
              <a:t>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4"/>
          <p:cNvSpPr txBox="1"/>
          <p:nvPr>
            <p:ph type="title"/>
          </p:nvPr>
        </p:nvSpPr>
        <p:spPr>
          <a:xfrm>
            <a:off x="457200" y="0"/>
            <a:ext cx="8229600" cy="9348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Introduction </a:t>
            </a:r>
            <a:endParaRPr b="1">
              <a:latin typeface="Times New Roman"/>
              <a:ea typeface="Times New Roman"/>
              <a:cs typeface="Times New Roman"/>
              <a:sym typeface="Times New Roman"/>
            </a:endParaRPr>
          </a:p>
        </p:txBody>
      </p:sp>
      <p:sp>
        <p:nvSpPr>
          <p:cNvPr id="176" name="Google Shape;176;p34"/>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2</a:t>
            </a:r>
            <a:endParaRPr/>
          </a:p>
        </p:txBody>
      </p:sp>
      <p:sp>
        <p:nvSpPr>
          <p:cNvPr id="177" name="Google Shape;177;p34"/>
          <p:cNvSpPr txBox="1"/>
          <p:nvPr/>
        </p:nvSpPr>
        <p:spPr>
          <a:xfrm>
            <a:off x="457200" y="1168100"/>
            <a:ext cx="8229600" cy="2692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This project is about building a simple tool to help users find and fix security weaknesses (VULNERABILITIES) in web applications. Our tool has two parts:- A dashboard that gives a clear overview of all the security problems, and a friendly (INTERACTIVE) chatbot. When you want to fix a problem, the chatbot will tell you a simple story to explain what went wrong and give you easy step-by-step instructions to solve it.</a:t>
            </a:r>
            <a:endParaRPr sz="1800" u="sng">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5"/>
          <p:cNvSpPr txBox="1"/>
          <p:nvPr>
            <p:ph type="title"/>
          </p:nvPr>
        </p:nvSpPr>
        <p:spPr>
          <a:xfrm>
            <a:off x="360425" y="122238"/>
            <a:ext cx="8229600" cy="639900"/>
          </a:xfrm>
          <a:prstGeom prst="rect">
            <a:avLst/>
          </a:prstGeom>
        </p:spPr>
        <p:txBody>
          <a:bodyPr anchorCtr="0" anchor="ctr" bIns="45700" lIns="91425" spcFirstLastPara="1" rIns="91425" wrap="square" tIns="45700">
            <a:noAutofit/>
          </a:bodyPr>
          <a:lstStyle/>
          <a:p>
            <a:pPr indent="0" lvl="0" marL="342900" rtl="0" algn="ctr">
              <a:lnSpc>
                <a:spcPct val="115000"/>
              </a:lnSpc>
              <a:spcBef>
                <a:spcPts val="0"/>
              </a:spcBef>
              <a:spcAft>
                <a:spcPts val="0"/>
              </a:spcAft>
              <a:buNone/>
            </a:pPr>
            <a:r>
              <a:rPr b="1" lang="en-US">
                <a:solidFill>
                  <a:schemeClr val="dk1"/>
                </a:solidFill>
                <a:latin typeface="Times New Roman"/>
                <a:ea typeface="Times New Roman"/>
                <a:cs typeface="Times New Roman"/>
                <a:sym typeface="Times New Roman"/>
              </a:rPr>
              <a:t>Motivation</a:t>
            </a:r>
            <a:endParaRPr/>
          </a:p>
        </p:txBody>
      </p:sp>
      <p:sp>
        <p:nvSpPr>
          <p:cNvPr id="184" name="Google Shape;184;p35"/>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3</a:t>
            </a:r>
            <a:endParaRPr/>
          </a:p>
        </p:txBody>
      </p:sp>
      <p:sp>
        <p:nvSpPr>
          <p:cNvPr id="185" name="Google Shape;185;p35"/>
          <p:cNvSpPr txBox="1"/>
          <p:nvPr/>
        </p:nvSpPr>
        <p:spPr>
          <a:xfrm>
            <a:off x="596100" y="1176450"/>
            <a:ext cx="7951800" cy="3329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t/>
            </a:r>
            <a:endParaRPr sz="180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US" sz="1800">
                <a:latin typeface="Times New Roman"/>
                <a:ea typeface="Times New Roman"/>
                <a:cs typeface="Times New Roman"/>
                <a:sym typeface="Times New Roman"/>
              </a:rPr>
              <a:t>The main reason we are making this is because most security reports are very technical and hard to understand. This makes it difficult for users to fix security issues quickly and correctly, leaving their websites at risk. We want to make security easier and less scary for everyone, not just security experts. Our goal is to make fixing problems feel more like an interactive lesson, so users</a:t>
            </a:r>
            <a:r>
              <a:rPr lang="en-US" sz="1800">
                <a:latin typeface="Times New Roman"/>
                <a:ea typeface="Times New Roman"/>
                <a:cs typeface="Times New Roman"/>
                <a:sym typeface="Times New Roman"/>
              </a:rPr>
              <a:t> can solve today's issues and learn how to avoid them in the future.</a:t>
            </a: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6"/>
          <p:cNvSpPr txBox="1"/>
          <p:nvPr>
            <p:ph type="title"/>
          </p:nvPr>
        </p:nvSpPr>
        <p:spPr>
          <a:xfrm>
            <a:off x="457200" y="0"/>
            <a:ext cx="8229600" cy="884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Problem Statement</a:t>
            </a:r>
            <a:endParaRPr/>
          </a:p>
        </p:txBody>
      </p:sp>
      <p:sp>
        <p:nvSpPr>
          <p:cNvPr id="191" name="Google Shape;191;p36"/>
          <p:cNvSpPr txBox="1"/>
          <p:nvPr>
            <p:ph idx="4294967295" type="body"/>
          </p:nvPr>
        </p:nvSpPr>
        <p:spPr>
          <a:xfrm>
            <a:off x="541875" y="1321449"/>
            <a:ext cx="7949100" cy="44328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600"/>
              </a:spcBef>
              <a:spcAft>
                <a:spcPts val="600"/>
              </a:spcAft>
              <a:buClr>
                <a:schemeClr val="dk1"/>
              </a:buClr>
              <a:buSzPts val="1100"/>
              <a:buFont typeface="Arial"/>
              <a:buNone/>
            </a:pPr>
            <a:r>
              <a:rPr lang="en-US" sz="1800">
                <a:latin typeface="Times New Roman"/>
                <a:ea typeface="Times New Roman"/>
                <a:cs typeface="Times New Roman"/>
                <a:sym typeface="Times New Roman"/>
              </a:rPr>
              <a:t>Users often struggle to fix security weaknesses in web applications because the reports from automated scanning tools are highly technical and difficult to understand. This communication gap leads to slow or incorrect fixes, which leaves applications vulnerable to attacks. The core problem is the absence of a tool that not only identifies these security flaws but also guides non-expert users through the repair process in an interactive, simple, and educational manner.</a:t>
            </a:r>
            <a:endParaRPr sz="1800">
              <a:latin typeface="Times New Roman"/>
              <a:ea typeface="Times New Roman"/>
              <a:cs typeface="Times New Roman"/>
              <a:sym typeface="Times New Roman"/>
            </a:endParaRPr>
          </a:p>
        </p:txBody>
      </p:sp>
      <p:sp>
        <p:nvSpPr>
          <p:cNvPr id="192" name="Google Shape;192;p36"/>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rPr lang="en-US"/>
              <a:t>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7"/>
          <p:cNvSpPr txBox="1"/>
          <p:nvPr>
            <p:ph type="title"/>
          </p:nvPr>
        </p:nvSpPr>
        <p:spPr>
          <a:xfrm>
            <a:off x="457200" y="194788"/>
            <a:ext cx="8229600" cy="639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b="1" lang="en-US">
                <a:solidFill>
                  <a:schemeClr val="dk1"/>
                </a:solidFill>
                <a:latin typeface="Times New Roman"/>
                <a:ea typeface="Times New Roman"/>
                <a:cs typeface="Times New Roman"/>
                <a:sym typeface="Times New Roman"/>
              </a:rPr>
              <a:t>Objectives</a:t>
            </a:r>
            <a:endParaRPr>
              <a:solidFill>
                <a:schemeClr val="dk1"/>
              </a:solidFill>
            </a:endParaRPr>
          </a:p>
        </p:txBody>
      </p:sp>
      <p:sp>
        <p:nvSpPr>
          <p:cNvPr id="199" name="Google Shape;199;p37"/>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5</a:t>
            </a:r>
            <a:endParaRPr/>
          </a:p>
        </p:txBody>
      </p:sp>
      <p:sp>
        <p:nvSpPr>
          <p:cNvPr id="200" name="Google Shape;200;p37"/>
          <p:cNvSpPr txBox="1"/>
          <p:nvPr/>
        </p:nvSpPr>
        <p:spPr>
          <a:xfrm>
            <a:off x="457200" y="1024000"/>
            <a:ext cx="8229600" cy="5354700"/>
          </a:xfrm>
          <a:prstGeom prst="rect">
            <a:avLst/>
          </a:prstGeom>
          <a:noFill/>
          <a:ln>
            <a:noFill/>
          </a:ln>
        </p:spPr>
        <p:txBody>
          <a:bodyPr anchorCtr="0" anchor="t" bIns="91425" lIns="91425" spcFirstLastPara="1" rIns="91425" wrap="square" tIns="91425">
            <a:noAutofit/>
          </a:bodyPr>
          <a:lstStyle/>
          <a:p>
            <a:pPr indent="-330200" lvl="0" marL="457200" rtl="0" algn="just">
              <a:lnSpc>
                <a:spcPct val="115000"/>
              </a:lnSpc>
              <a:spcBef>
                <a:spcPts val="0"/>
              </a:spcBef>
              <a:spcAft>
                <a:spcPts val="0"/>
              </a:spcAft>
              <a:buClr>
                <a:schemeClr val="dk1"/>
              </a:buClr>
              <a:buSzPts val="1600"/>
              <a:buFont typeface="Times New Roman"/>
              <a:buChar char="●"/>
            </a:pPr>
            <a:r>
              <a:rPr b="1" lang="en-US" sz="1600" u="sng">
                <a:solidFill>
                  <a:schemeClr val="dk1"/>
                </a:solidFill>
                <a:latin typeface="Times New Roman"/>
                <a:ea typeface="Times New Roman"/>
                <a:cs typeface="Times New Roman"/>
                <a:sym typeface="Times New Roman"/>
              </a:rPr>
              <a:t>Customizable Analytics</a:t>
            </a:r>
            <a:r>
              <a:rPr b="1" lang="en-US" sz="1600">
                <a:solidFill>
                  <a:schemeClr val="dk1"/>
                </a:solidFill>
                <a:latin typeface="Times New Roman"/>
                <a:ea typeface="Times New Roman"/>
                <a:cs typeface="Times New Roman"/>
                <a:sym typeface="Times New Roman"/>
              </a:rPr>
              <a:t>:</a:t>
            </a:r>
            <a:r>
              <a:rPr lang="en-US" sz="1600">
                <a:solidFill>
                  <a:schemeClr val="dk1"/>
                </a:solidFill>
                <a:latin typeface="Times New Roman"/>
                <a:ea typeface="Times New Roman"/>
                <a:cs typeface="Times New Roman"/>
                <a:sym typeface="Times New Roman"/>
              </a:rPr>
              <a:t> Enable users to tailor dashboard views to their specific roles, responsibilities, and organizational requirements through conversational interfaces.</a:t>
            </a:r>
            <a:br>
              <a:rPr lang="en-US" sz="1600">
                <a:solidFill>
                  <a:schemeClr val="dk1"/>
                </a:solidFill>
                <a:latin typeface="Times New Roman"/>
                <a:ea typeface="Times New Roman"/>
                <a:cs typeface="Times New Roman"/>
                <a:sym typeface="Times New Roman"/>
              </a:rPr>
            </a:br>
            <a:r>
              <a:rPr lang="en-US" sz="1600">
                <a:solidFill>
                  <a:schemeClr val="dk1"/>
                </a:solidFill>
                <a:latin typeface="Times New Roman"/>
                <a:ea typeface="Times New Roman"/>
                <a:cs typeface="Times New Roman"/>
                <a:sym typeface="Times New Roman"/>
              </a:rPr>
              <a:t>For Example:-The dashboard can be tailored to different user roles. A developer might want to see a list of vulnerabilities in the code they wrote, while a project manager might want a high-level overview of the security posture of all their projects.</a:t>
            </a:r>
            <a:endParaRPr sz="16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Font typeface="Times New Roman"/>
              <a:buChar char="●"/>
            </a:pPr>
            <a:r>
              <a:rPr b="1" lang="en-US" sz="1600" u="sng">
                <a:solidFill>
                  <a:schemeClr val="dk1"/>
                </a:solidFill>
                <a:latin typeface="Times New Roman"/>
                <a:ea typeface="Times New Roman"/>
                <a:cs typeface="Times New Roman"/>
                <a:sym typeface="Times New Roman"/>
              </a:rPr>
              <a:t>Proactive Security Culture</a:t>
            </a:r>
            <a:r>
              <a:rPr b="1" lang="en-US" sz="1600">
                <a:solidFill>
                  <a:schemeClr val="dk1"/>
                </a:solidFill>
                <a:latin typeface="Times New Roman"/>
                <a:ea typeface="Times New Roman"/>
                <a:cs typeface="Times New Roman"/>
                <a:sym typeface="Times New Roman"/>
              </a:rPr>
              <a:t>: </a:t>
            </a:r>
            <a:r>
              <a:rPr lang="en-US" sz="1600">
                <a:solidFill>
                  <a:schemeClr val="dk1"/>
                </a:solidFill>
                <a:latin typeface="Times New Roman"/>
                <a:ea typeface="Times New Roman"/>
                <a:cs typeface="Times New Roman"/>
                <a:sym typeface="Times New Roman"/>
              </a:rPr>
              <a:t>Foster security awareness and best practices through engaging, story-based vulnerability explanations that transform technical information into actionable knowledge.</a:t>
            </a:r>
            <a:br>
              <a:rPr lang="en-US" sz="1600">
                <a:solidFill>
                  <a:schemeClr val="dk1"/>
                </a:solidFill>
                <a:latin typeface="Times New Roman"/>
                <a:ea typeface="Times New Roman"/>
                <a:cs typeface="Times New Roman"/>
                <a:sym typeface="Times New Roman"/>
              </a:rPr>
            </a:br>
            <a:r>
              <a:rPr lang="en-US" sz="1600">
                <a:solidFill>
                  <a:schemeClr val="dk1"/>
                </a:solidFill>
                <a:latin typeface="Times New Roman"/>
                <a:ea typeface="Times New Roman"/>
                <a:cs typeface="Times New Roman"/>
                <a:sym typeface="Times New Roman"/>
              </a:rPr>
              <a:t>For Example:-The chatbot can engage users in proactive security practices.</a:t>
            </a:r>
            <a:endParaRPr sz="1600">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Chatbot: "Congratulations on fixing the SQL Injection! Would you like a small summary about the same so that you can avoid it the next time.</a:t>
            </a:r>
            <a:endParaRPr sz="16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Font typeface="Times New Roman"/>
              <a:buChar char="●"/>
            </a:pPr>
            <a:r>
              <a:rPr b="1" lang="en-US" sz="1600" u="sng">
                <a:solidFill>
                  <a:schemeClr val="dk1"/>
                </a:solidFill>
                <a:latin typeface="Times New Roman"/>
                <a:ea typeface="Times New Roman"/>
                <a:cs typeface="Times New Roman"/>
                <a:sym typeface="Times New Roman"/>
              </a:rPr>
              <a:t>Real-time Response</a:t>
            </a:r>
            <a:r>
              <a:rPr b="1" lang="en-US" sz="1600">
                <a:solidFill>
                  <a:schemeClr val="dk1"/>
                </a:solidFill>
                <a:latin typeface="Times New Roman"/>
                <a:ea typeface="Times New Roman"/>
                <a:cs typeface="Times New Roman"/>
                <a:sym typeface="Times New Roman"/>
              </a:rPr>
              <a:t>:</a:t>
            </a:r>
            <a:r>
              <a:rPr lang="en-US" sz="1600">
                <a:solidFill>
                  <a:schemeClr val="dk1"/>
                </a:solidFill>
                <a:latin typeface="Times New Roman"/>
                <a:ea typeface="Times New Roman"/>
                <a:cs typeface="Times New Roman"/>
                <a:sym typeface="Times New Roman"/>
              </a:rPr>
              <a:t> Provide immediate threat detection and automated response.</a:t>
            </a:r>
            <a:br>
              <a:rPr lang="en-US" sz="1600">
                <a:solidFill>
                  <a:schemeClr val="dk1"/>
                </a:solidFill>
                <a:latin typeface="Times New Roman"/>
                <a:ea typeface="Times New Roman"/>
                <a:cs typeface="Times New Roman"/>
                <a:sym typeface="Times New Roman"/>
              </a:rPr>
            </a:br>
            <a:r>
              <a:rPr lang="en-US" sz="1600">
                <a:solidFill>
                  <a:schemeClr val="dk1"/>
                </a:solidFill>
                <a:latin typeface="Times New Roman"/>
                <a:ea typeface="Times New Roman"/>
                <a:cs typeface="Times New Roman"/>
                <a:sym typeface="Times New Roman"/>
              </a:rPr>
              <a:t>For Example:-An AI system can provide immediate threat detection and automated responses to minimize the window of opportunity for attackers.</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8"/>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6</a:t>
            </a:r>
            <a:endParaRPr/>
          </a:p>
        </p:txBody>
      </p:sp>
      <p:sp>
        <p:nvSpPr>
          <p:cNvPr id="207" name="Google Shape;207;p38"/>
          <p:cNvSpPr txBox="1"/>
          <p:nvPr>
            <p:ph type="title"/>
          </p:nvPr>
        </p:nvSpPr>
        <p:spPr>
          <a:xfrm>
            <a:off x="457200" y="0"/>
            <a:ext cx="8229600" cy="884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Objectives</a:t>
            </a:r>
            <a:endParaRPr/>
          </a:p>
        </p:txBody>
      </p:sp>
      <p:sp>
        <p:nvSpPr>
          <p:cNvPr id="208" name="Google Shape;208;p38"/>
          <p:cNvSpPr txBox="1"/>
          <p:nvPr/>
        </p:nvSpPr>
        <p:spPr>
          <a:xfrm>
            <a:off x="0" y="0"/>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200">
              <a:solidFill>
                <a:schemeClr val="dk1"/>
              </a:solidFill>
              <a:latin typeface="Roboto"/>
              <a:ea typeface="Roboto"/>
              <a:cs typeface="Roboto"/>
              <a:sym typeface="Roboto"/>
            </a:endParaRPr>
          </a:p>
        </p:txBody>
      </p:sp>
      <p:sp>
        <p:nvSpPr>
          <p:cNvPr id="209" name="Google Shape;209;p38"/>
          <p:cNvSpPr txBox="1"/>
          <p:nvPr>
            <p:ph idx="4294967295" type="body"/>
          </p:nvPr>
        </p:nvSpPr>
        <p:spPr>
          <a:xfrm>
            <a:off x="457225" y="979704"/>
            <a:ext cx="8229600" cy="5258400"/>
          </a:xfrm>
          <a:prstGeom prst="rect">
            <a:avLst/>
          </a:prstGeom>
          <a:noFill/>
          <a:ln>
            <a:noFill/>
          </a:ln>
        </p:spPr>
        <p:txBody>
          <a:bodyPr anchorCtr="0" anchor="t" bIns="45700" lIns="91425" spcFirstLastPara="1" rIns="91425" wrap="square" tIns="45700">
            <a:noAutofit/>
          </a:bodyPr>
          <a:lstStyle/>
          <a:p>
            <a:pPr indent="-330200" lvl="0" marL="457200" rtl="0" algn="just">
              <a:lnSpc>
                <a:spcPct val="115000"/>
              </a:lnSpc>
              <a:spcBef>
                <a:spcPts val="0"/>
              </a:spcBef>
              <a:spcAft>
                <a:spcPts val="0"/>
              </a:spcAft>
              <a:buSzPts val="1600"/>
              <a:buFont typeface="Times New Roman"/>
              <a:buChar char="•"/>
            </a:pPr>
            <a:r>
              <a:rPr b="1" lang="en-US" sz="1600" u="sng">
                <a:latin typeface="Times New Roman"/>
                <a:ea typeface="Times New Roman"/>
                <a:cs typeface="Times New Roman"/>
                <a:sym typeface="Times New Roman"/>
              </a:rPr>
              <a:t>Enhanced Detection Accuracy</a:t>
            </a:r>
            <a:r>
              <a:rPr b="1" lang="en-US" sz="1600">
                <a:latin typeface="Times New Roman"/>
                <a:ea typeface="Times New Roman"/>
                <a:cs typeface="Times New Roman"/>
                <a:sym typeface="Times New Roman"/>
              </a:rPr>
              <a:t>:</a:t>
            </a:r>
            <a:r>
              <a:rPr lang="en-US" sz="1600">
                <a:latin typeface="Times New Roman"/>
                <a:ea typeface="Times New Roman"/>
                <a:cs typeface="Times New Roman"/>
                <a:sym typeface="Times New Roman"/>
              </a:rPr>
              <a:t> An AI-powered system can use behavioral analysis to distinguish between normal user activity and malicious behavior.</a:t>
            </a:r>
            <a:endParaRPr sz="1600">
              <a:latin typeface="Times New Roman"/>
              <a:ea typeface="Times New Roman"/>
              <a:cs typeface="Times New Roman"/>
              <a:sym typeface="Times New Roman"/>
            </a:endParaRPr>
          </a:p>
          <a:p>
            <a:pPr indent="0" lvl="0" marL="457200" rtl="0" algn="just">
              <a:lnSpc>
                <a:spcPct val="115000"/>
              </a:lnSpc>
              <a:spcBef>
                <a:spcPts val="0"/>
              </a:spcBef>
              <a:spcAft>
                <a:spcPts val="0"/>
              </a:spcAft>
              <a:buNone/>
            </a:pPr>
            <a:r>
              <a:rPr lang="en-US" sz="1600">
                <a:latin typeface="Times New Roman"/>
                <a:ea typeface="Times New Roman"/>
                <a:cs typeface="Times New Roman"/>
                <a:sym typeface="Times New Roman"/>
              </a:rPr>
              <a:t>For example:- A user attempting to log in multiple times from various, geographically         distant locations within a short time frame is a behavioral anomaly that could indicate a credential stuffing attack. </a:t>
            </a:r>
            <a:endParaRPr sz="1600">
              <a:latin typeface="Times New Roman"/>
              <a:ea typeface="Times New Roman"/>
              <a:cs typeface="Times New Roman"/>
              <a:sym typeface="Times New Roman"/>
            </a:endParaRPr>
          </a:p>
          <a:p>
            <a:pPr indent="-330200" lvl="0" marL="457200" rtl="0" algn="just">
              <a:lnSpc>
                <a:spcPct val="115000"/>
              </a:lnSpc>
              <a:spcBef>
                <a:spcPts val="0"/>
              </a:spcBef>
              <a:spcAft>
                <a:spcPts val="0"/>
              </a:spcAft>
              <a:buSzPts val="1600"/>
              <a:buFont typeface="Times New Roman"/>
              <a:buChar char="•"/>
            </a:pPr>
            <a:r>
              <a:rPr b="1" lang="en-US" sz="1600" u="sng">
                <a:latin typeface="Times New Roman"/>
                <a:ea typeface="Times New Roman"/>
                <a:cs typeface="Times New Roman"/>
                <a:sym typeface="Times New Roman"/>
              </a:rPr>
              <a:t>Intelligent Prioritization</a:t>
            </a:r>
            <a:r>
              <a:rPr b="1" lang="en-US" sz="1600">
                <a:latin typeface="Times New Roman"/>
                <a:ea typeface="Times New Roman"/>
                <a:cs typeface="Times New Roman"/>
                <a:sym typeface="Times New Roman"/>
              </a:rPr>
              <a:t>:</a:t>
            </a:r>
            <a:r>
              <a:rPr lang="en-US" sz="1600">
                <a:latin typeface="Times New Roman"/>
                <a:ea typeface="Times New Roman"/>
                <a:cs typeface="Times New Roman"/>
                <a:sym typeface="Times New Roman"/>
              </a:rPr>
              <a:t> Develop risk-based scoring systems to focus attention on critical vulnerabilities first, enabling efficient resource allocation. </a:t>
            </a:r>
            <a:endParaRPr sz="1600">
              <a:latin typeface="Times New Roman"/>
              <a:ea typeface="Times New Roman"/>
              <a:cs typeface="Times New Roman"/>
              <a:sym typeface="Times New Roman"/>
            </a:endParaRPr>
          </a:p>
          <a:p>
            <a:pPr indent="0" lvl="0" marL="457200" rtl="0" algn="just">
              <a:lnSpc>
                <a:spcPct val="115000"/>
              </a:lnSpc>
              <a:spcBef>
                <a:spcPts val="0"/>
              </a:spcBef>
              <a:spcAft>
                <a:spcPts val="0"/>
              </a:spcAft>
              <a:buNone/>
            </a:pPr>
            <a:r>
              <a:rPr lang="en-US" sz="1600">
                <a:latin typeface="Times New Roman"/>
                <a:ea typeface="Times New Roman"/>
                <a:cs typeface="Times New Roman"/>
                <a:sym typeface="Times New Roman"/>
              </a:rPr>
              <a:t>For Example:-A project could develop a risk-based scoring system that assigns a score to each vulnerability, prioritizing the most critical ones. The score would be based on factors like:</a:t>
            </a:r>
            <a:endParaRPr sz="1600">
              <a:latin typeface="Times New Roman"/>
              <a:ea typeface="Times New Roman"/>
              <a:cs typeface="Times New Roman"/>
              <a:sym typeface="Times New Roman"/>
            </a:endParaRPr>
          </a:p>
          <a:p>
            <a:pPr indent="457200" lvl="0" marL="0" rtl="0" algn="just">
              <a:lnSpc>
                <a:spcPct val="115000"/>
              </a:lnSpc>
              <a:spcBef>
                <a:spcPts val="0"/>
              </a:spcBef>
              <a:spcAft>
                <a:spcPts val="0"/>
              </a:spcAft>
              <a:buNone/>
            </a:pPr>
            <a:r>
              <a:rPr lang="en-US" sz="1600">
                <a:latin typeface="Times New Roman"/>
                <a:ea typeface="Times New Roman"/>
                <a:cs typeface="Times New Roman"/>
                <a:sym typeface="Times New Roman"/>
              </a:rPr>
              <a:t>1.Severity</a:t>
            </a:r>
            <a:endParaRPr sz="1600">
              <a:latin typeface="Times New Roman"/>
              <a:ea typeface="Times New Roman"/>
              <a:cs typeface="Times New Roman"/>
              <a:sym typeface="Times New Roman"/>
            </a:endParaRPr>
          </a:p>
          <a:p>
            <a:pPr indent="457200" lvl="0" marL="0" rtl="0" algn="just">
              <a:lnSpc>
                <a:spcPct val="115000"/>
              </a:lnSpc>
              <a:spcBef>
                <a:spcPts val="0"/>
              </a:spcBef>
              <a:spcAft>
                <a:spcPts val="0"/>
              </a:spcAft>
              <a:buNone/>
            </a:pPr>
            <a:r>
              <a:rPr lang="en-US" sz="1600">
                <a:latin typeface="Times New Roman"/>
                <a:ea typeface="Times New Roman"/>
                <a:cs typeface="Times New Roman"/>
                <a:sym typeface="Times New Roman"/>
              </a:rPr>
              <a:t>2.Exploitability</a:t>
            </a:r>
            <a:endParaRPr sz="1600">
              <a:latin typeface="Times New Roman"/>
              <a:ea typeface="Times New Roman"/>
              <a:cs typeface="Times New Roman"/>
              <a:sym typeface="Times New Roman"/>
            </a:endParaRPr>
          </a:p>
          <a:p>
            <a:pPr indent="457200" lvl="0" marL="0" rtl="0" algn="just">
              <a:lnSpc>
                <a:spcPct val="115000"/>
              </a:lnSpc>
              <a:spcBef>
                <a:spcPts val="0"/>
              </a:spcBef>
              <a:spcAft>
                <a:spcPts val="0"/>
              </a:spcAft>
              <a:buNone/>
            </a:pPr>
            <a:r>
              <a:rPr lang="en-US" sz="1600">
                <a:latin typeface="Times New Roman"/>
                <a:ea typeface="Times New Roman"/>
                <a:cs typeface="Times New Roman"/>
                <a:sym typeface="Times New Roman"/>
              </a:rPr>
              <a:t>3.Business impact</a:t>
            </a:r>
            <a:endParaRPr sz="1600">
              <a:latin typeface="Times New Roman"/>
              <a:ea typeface="Times New Roman"/>
              <a:cs typeface="Times New Roman"/>
              <a:sym typeface="Times New Roman"/>
            </a:endParaRPr>
          </a:p>
          <a:p>
            <a:pPr indent="-330200" lvl="0" marL="457200" rtl="0" algn="just">
              <a:lnSpc>
                <a:spcPct val="115000"/>
              </a:lnSpc>
              <a:spcBef>
                <a:spcPts val="0"/>
              </a:spcBef>
              <a:spcAft>
                <a:spcPts val="0"/>
              </a:spcAft>
              <a:buSzPts val="1600"/>
              <a:buFont typeface="Times New Roman"/>
              <a:buChar char="•"/>
            </a:pPr>
            <a:r>
              <a:rPr b="1" lang="en-US" sz="1600" u="sng">
                <a:latin typeface="Times New Roman"/>
                <a:ea typeface="Times New Roman"/>
                <a:cs typeface="Times New Roman"/>
                <a:sym typeface="Times New Roman"/>
              </a:rPr>
              <a:t>Interactive Education</a:t>
            </a:r>
            <a:r>
              <a:rPr b="1" lang="en-US" sz="1600">
                <a:latin typeface="Times New Roman"/>
                <a:ea typeface="Times New Roman"/>
                <a:cs typeface="Times New Roman"/>
                <a:sym typeface="Times New Roman"/>
              </a:rPr>
              <a:t>:</a:t>
            </a:r>
            <a:r>
              <a:rPr lang="en-US" sz="1600">
                <a:latin typeface="Times New Roman"/>
                <a:ea typeface="Times New Roman"/>
                <a:cs typeface="Times New Roman"/>
                <a:sym typeface="Times New Roman"/>
              </a:rPr>
              <a:t> Create storytelling chatbot capabilities to explain complex security concepts in accessible, narrative-driven formats that increase user engagement and retention.</a:t>
            </a:r>
            <a:endParaRPr sz="1600">
              <a:latin typeface="Times New Roman"/>
              <a:ea typeface="Times New Roman"/>
              <a:cs typeface="Times New Roman"/>
              <a:sym typeface="Times New Roman"/>
            </a:endParaRPr>
          </a:p>
          <a:p>
            <a:pPr indent="0" lvl="0" marL="457200" rtl="0" algn="just">
              <a:lnSpc>
                <a:spcPct val="115000"/>
              </a:lnSpc>
              <a:spcBef>
                <a:spcPts val="0"/>
              </a:spcBef>
              <a:spcAft>
                <a:spcPts val="0"/>
              </a:spcAft>
              <a:buNone/>
            </a:pPr>
            <a:r>
              <a:rPr lang="en-US" sz="1600">
                <a:latin typeface="Times New Roman"/>
                <a:ea typeface="Times New Roman"/>
                <a:cs typeface="Times New Roman"/>
                <a:sym typeface="Times New Roman"/>
              </a:rPr>
              <a:t>For Example:-The chatbot can use storytelling to explain complex concepts. Instead of just saying "You have an SQL Injection vulnerability," it can tell a story, which can be easy for human interaction.</a:t>
            </a:r>
            <a:endParaRPr sz="16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9"/>
          <p:cNvSpPr txBox="1"/>
          <p:nvPr>
            <p:ph type="title"/>
          </p:nvPr>
        </p:nvSpPr>
        <p:spPr>
          <a:xfrm>
            <a:off x="457200" y="0"/>
            <a:ext cx="8229600" cy="894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 Flow Chart</a:t>
            </a:r>
            <a:endParaRPr b="1">
              <a:latin typeface="Times New Roman"/>
              <a:ea typeface="Times New Roman"/>
              <a:cs typeface="Times New Roman"/>
              <a:sym typeface="Times New Roman"/>
            </a:endParaRPr>
          </a:p>
        </p:txBody>
      </p:sp>
      <p:sp>
        <p:nvSpPr>
          <p:cNvPr id="215" name="Google Shape;215;p39"/>
          <p:cNvSpPr txBox="1"/>
          <p:nvPr>
            <p:ph idx="4294967295" type="body"/>
          </p:nvPr>
        </p:nvSpPr>
        <p:spPr>
          <a:xfrm>
            <a:off x="654200" y="1154375"/>
            <a:ext cx="7593000" cy="3901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US" sz="2700">
                <a:latin typeface="Times New Roman"/>
                <a:ea typeface="Times New Roman"/>
                <a:cs typeface="Times New Roman"/>
                <a:sym typeface="Times New Roman"/>
              </a:rPr>
              <a:t>   </a:t>
            </a:r>
            <a:endParaRPr b="1" sz="1400">
              <a:latin typeface="Times New Roman"/>
              <a:ea typeface="Times New Roman"/>
              <a:cs typeface="Times New Roman"/>
              <a:sym typeface="Times New Roman"/>
            </a:endParaRPr>
          </a:p>
          <a:p>
            <a:pPr indent="0" lvl="0" marL="0" rtl="0" algn="ctr">
              <a:spcBef>
                <a:spcPts val="0"/>
              </a:spcBef>
              <a:spcAft>
                <a:spcPts val="0"/>
              </a:spcAft>
              <a:buClr>
                <a:schemeClr val="dk1"/>
              </a:buClr>
              <a:buSzPts val="1100"/>
              <a:buFont typeface="Arial"/>
              <a:buNone/>
            </a:pPr>
            <a:r>
              <a:t/>
            </a:r>
            <a:endParaRPr b="1" sz="2700">
              <a:latin typeface="Times New Roman"/>
              <a:ea typeface="Times New Roman"/>
              <a:cs typeface="Times New Roman"/>
              <a:sym typeface="Times New Roman"/>
            </a:endParaRPr>
          </a:p>
          <a:p>
            <a:pPr indent="0" lvl="0" marL="0" rtl="0" algn="ctr">
              <a:spcBef>
                <a:spcPts val="0"/>
              </a:spcBef>
              <a:spcAft>
                <a:spcPts val="0"/>
              </a:spcAft>
              <a:buNone/>
            </a:pPr>
            <a:r>
              <a:t/>
            </a:r>
            <a:endParaRPr b="1" sz="2500">
              <a:latin typeface="Times New Roman"/>
              <a:ea typeface="Times New Roman"/>
              <a:cs typeface="Times New Roman"/>
              <a:sym typeface="Times New Roman"/>
            </a:endParaRPr>
          </a:p>
        </p:txBody>
      </p:sp>
      <p:sp>
        <p:nvSpPr>
          <p:cNvPr id="216" name="Google Shape;216;p39"/>
          <p:cNvSpPr txBox="1"/>
          <p:nvPr>
            <p:ph idx="4294967295" type="body"/>
          </p:nvPr>
        </p:nvSpPr>
        <p:spPr>
          <a:xfrm>
            <a:off x="806600" y="1306775"/>
            <a:ext cx="7593000" cy="3901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b="1" lang="en-US" sz="2700">
                <a:latin typeface="Times New Roman"/>
                <a:ea typeface="Times New Roman"/>
                <a:cs typeface="Times New Roman"/>
                <a:sym typeface="Times New Roman"/>
              </a:rPr>
              <a:t>   </a:t>
            </a:r>
            <a:endParaRPr b="1" sz="1400">
              <a:latin typeface="Times New Roman"/>
              <a:ea typeface="Times New Roman"/>
              <a:cs typeface="Times New Roman"/>
              <a:sym typeface="Times New Roman"/>
            </a:endParaRPr>
          </a:p>
          <a:p>
            <a:pPr indent="0" lvl="0" marL="0" rtl="0" algn="ctr">
              <a:spcBef>
                <a:spcPts val="0"/>
              </a:spcBef>
              <a:spcAft>
                <a:spcPts val="0"/>
              </a:spcAft>
              <a:buNone/>
            </a:pPr>
            <a:r>
              <a:t/>
            </a:r>
            <a:endParaRPr b="1" sz="2700">
              <a:latin typeface="Times New Roman"/>
              <a:ea typeface="Times New Roman"/>
              <a:cs typeface="Times New Roman"/>
              <a:sym typeface="Times New Roman"/>
            </a:endParaRPr>
          </a:p>
          <a:p>
            <a:pPr indent="0" lvl="0" marL="0" rtl="0" algn="ctr">
              <a:spcBef>
                <a:spcPts val="0"/>
              </a:spcBef>
              <a:spcAft>
                <a:spcPts val="0"/>
              </a:spcAft>
              <a:buNone/>
            </a:pPr>
            <a:r>
              <a:t/>
            </a:r>
            <a:endParaRPr b="1" sz="2500">
              <a:latin typeface="Times New Roman"/>
              <a:ea typeface="Times New Roman"/>
              <a:cs typeface="Times New Roman"/>
              <a:sym typeface="Times New Roman"/>
            </a:endParaRPr>
          </a:p>
        </p:txBody>
      </p:sp>
      <p:sp>
        <p:nvSpPr>
          <p:cNvPr id="217" name="Google Shape;217;p39"/>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7</a:t>
            </a:r>
            <a:endParaRPr/>
          </a:p>
        </p:txBody>
      </p:sp>
      <p:pic>
        <p:nvPicPr>
          <p:cNvPr id="218" name="Google Shape;218;p39"/>
          <p:cNvPicPr preferRelativeResize="0"/>
          <p:nvPr/>
        </p:nvPicPr>
        <p:blipFill>
          <a:blip r:embed="rId3">
            <a:alphaModFix/>
          </a:blip>
          <a:stretch>
            <a:fillRect/>
          </a:stretch>
        </p:blipFill>
        <p:spPr>
          <a:xfrm>
            <a:off x="457200" y="959625"/>
            <a:ext cx="8115300" cy="5353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0"/>
          <p:cNvSpPr txBox="1"/>
          <p:nvPr>
            <p:ph type="title"/>
          </p:nvPr>
        </p:nvSpPr>
        <p:spPr>
          <a:xfrm>
            <a:off x="457200" y="122238"/>
            <a:ext cx="8229600" cy="639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b="1" lang="en-US">
                <a:solidFill>
                  <a:schemeClr val="dk1"/>
                </a:solidFill>
                <a:latin typeface="Times New Roman"/>
                <a:ea typeface="Times New Roman"/>
                <a:cs typeface="Times New Roman"/>
                <a:sym typeface="Times New Roman"/>
              </a:rPr>
              <a:t>Literature Review</a:t>
            </a:r>
            <a:endParaRPr>
              <a:solidFill>
                <a:schemeClr val="dk1"/>
              </a:solidFill>
            </a:endParaRPr>
          </a:p>
        </p:txBody>
      </p:sp>
      <p:sp>
        <p:nvSpPr>
          <p:cNvPr id="225" name="Google Shape;225;p40"/>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8</a:t>
            </a:r>
            <a:endParaRPr/>
          </a:p>
        </p:txBody>
      </p:sp>
      <p:graphicFrame>
        <p:nvGraphicFramePr>
          <p:cNvPr id="226" name="Google Shape;226;p40"/>
          <p:cNvGraphicFramePr/>
          <p:nvPr/>
        </p:nvGraphicFramePr>
        <p:xfrm>
          <a:off x="-12" y="1433317"/>
          <a:ext cx="3000000" cy="3000000"/>
        </p:xfrm>
        <a:graphic>
          <a:graphicData uri="http://schemas.openxmlformats.org/drawingml/2006/table">
            <a:tbl>
              <a:tblPr>
                <a:noFill/>
                <a:tableStyleId>{7CB50EFE-2B48-4FE9-A65D-7959500509BC}</a:tableStyleId>
              </a:tblPr>
              <a:tblGrid>
                <a:gridCol w="457200"/>
                <a:gridCol w="1322275"/>
                <a:gridCol w="1254375"/>
                <a:gridCol w="2863700"/>
                <a:gridCol w="3246475"/>
              </a:tblGrid>
              <a:tr h="565000">
                <a:tc>
                  <a:txBody>
                    <a:bodyPr/>
                    <a:lstStyle/>
                    <a:p>
                      <a:pPr indent="0" lvl="0" marL="0" rtl="0" algn="ctr">
                        <a:spcBef>
                          <a:spcPts val="0"/>
                        </a:spcBef>
                        <a:spcAft>
                          <a:spcPts val="0"/>
                        </a:spcAft>
                        <a:buNone/>
                      </a:pPr>
                      <a:r>
                        <a:rPr b="1" lang="en-US" sz="1150">
                          <a:latin typeface="Times New Roman"/>
                          <a:ea typeface="Times New Roman"/>
                          <a:cs typeface="Times New Roman"/>
                          <a:sym typeface="Times New Roman"/>
                        </a:rPr>
                        <a:t>Sr. No.</a:t>
                      </a:r>
                      <a:endParaRPr b="1" sz="1150">
                        <a:latin typeface="Times New Roman"/>
                        <a:ea typeface="Times New Roman"/>
                        <a:cs typeface="Times New Roman"/>
                        <a:sym typeface="Times New Roman"/>
                      </a:endParaRPr>
                    </a:p>
                  </a:txBody>
                  <a:tcPr marT="91425" marB="91425" marR="91425" marL="91425" anchor="ctr"/>
                </a:tc>
                <a:tc>
                  <a:txBody>
                    <a:bodyPr/>
                    <a:lstStyle/>
                    <a:p>
                      <a:pPr indent="0" lvl="0" marL="0" rtl="0" algn="ctr">
                        <a:spcBef>
                          <a:spcPts val="0"/>
                        </a:spcBef>
                        <a:spcAft>
                          <a:spcPts val="0"/>
                        </a:spcAft>
                        <a:buNone/>
                      </a:pPr>
                      <a:r>
                        <a:rPr b="1" lang="en-US" sz="1150">
                          <a:latin typeface="Times New Roman"/>
                          <a:ea typeface="Times New Roman"/>
                          <a:cs typeface="Times New Roman"/>
                          <a:sym typeface="Times New Roman"/>
                        </a:rPr>
                        <a:t>Title of the Paper</a:t>
                      </a:r>
                      <a:endParaRPr b="1" sz="1150">
                        <a:latin typeface="Times New Roman"/>
                        <a:ea typeface="Times New Roman"/>
                        <a:cs typeface="Times New Roman"/>
                        <a:sym typeface="Times New Roman"/>
                      </a:endParaRPr>
                    </a:p>
                  </a:txBody>
                  <a:tcPr marT="91425" marB="91425" marR="91425" marL="91425" anchor="ctr"/>
                </a:tc>
                <a:tc>
                  <a:txBody>
                    <a:bodyPr/>
                    <a:lstStyle/>
                    <a:p>
                      <a:pPr indent="0" lvl="0" marL="0" rtl="0" algn="ctr">
                        <a:spcBef>
                          <a:spcPts val="0"/>
                        </a:spcBef>
                        <a:spcAft>
                          <a:spcPts val="0"/>
                        </a:spcAft>
                        <a:buNone/>
                      </a:pPr>
                      <a:r>
                        <a:rPr b="1" lang="en-US" sz="1150">
                          <a:latin typeface="Times New Roman"/>
                          <a:ea typeface="Times New Roman"/>
                          <a:cs typeface="Times New Roman"/>
                          <a:sym typeface="Times New Roman"/>
                        </a:rPr>
                        <a:t>Author</a:t>
                      </a:r>
                      <a:endParaRPr b="1" sz="1150">
                        <a:latin typeface="Times New Roman"/>
                        <a:ea typeface="Times New Roman"/>
                        <a:cs typeface="Times New Roman"/>
                        <a:sym typeface="Times New Roman"/>
                      </a:endParaRPr>
                    </a:p>
                  </a:txBody>
                  <a:tcPr marT="91425" marB="91425" marR="91425" marL="91425" anchor="ctr"/>
                </a:tc>
                <a:tc>
                  <a:txBody>
                    <a:bodyPr/>
                    <a:lstStyle/>
                    <a:p>
                      <a:pPr indent="0" lvl="0" marL="0" rtl="0" algn="ctr">
                        <a:spcBef>
                          <a:spcPts val="0"/>
                        </a:spcBef>
                        <a:spcAft>
                          <a:spcPts val="0"/>
                        </a:spcAft>
                        <a:buNone/>
                      </a:pPr>
                      <a:r>
                        <a:rPr b="1" lang="en-US" sz="1150">
                          <a:latin typeface="Times New Roman"/>
                          <a:ea typeface="Times New Roman"/>
                          <a:cs typeface="Times New Roman"/>
                          <a:sym typeface="Times New Roman"/>
                        </a:rPr>
                        <a:t>Descriptions</a:t>
                      </a:r>
                      <a:endParaRPr b="1" sz="1150">
                        <a:latin typeface="Times New Roman"/>
                        <a:ea typeface="Times New Roman"/>
                        <a:cs typeface="Times New Roman"/>
                        <a:sym typeface="Times New Roman"/>
                      </a:endParaRPr>
                    </a:p>
                  </a:txBody>
                  <a:tcPr marT="91425" marB="91425" marR="91425" marL="91425" anchor="ctr"/>
                </a:tc>
                <a:tc>
                  <a:txBody>
                    <a:bodyPr/>
                    <a:lstStyle/>
                    <a:p>
                      <a:pPr indent="0" lvl="0" marL="0" rtl="0" algn="ctr">
                        <a:spcBef>
                          <a:spcPts val="0"/>
                        </a:spcBef>
                        <a:spcAft>
                          <a:spcPts val="0"/>
                        </a:spcAft>
                        <a:buNone/>
                      </a:pPr>
                      <a:r>
                        <a:rPr b="1" lang="en-US" sz="1150">
                          <a:latin typeface="Times New Roman"/>
                          <a:ea typeface="Times New Roman"/>
                          <a:cs typeface="Times New Roman"/>
                          <a:sym typeface="Times New Roman"/>
                        </a:rPr>
                        <a:t>Results</a:t>
                      </a:r>
                      <a:endParaRPr b="1" sz="1150">
                        <a:latin typeface="Times New Roman"/>
                        <a:ea typeface="Times New Roman"/>
                        <a:cs typeface="Times New Roman"/>
                        <a:sym typeface="Times New Roman"/>
                      </a:endParaRPr>
                    </a:p>
                  </a:txBody>
                  <a:tcPr marT="91425" marB="91425" marR="91425" marL="91425" anchor="ctr"/>
                </a:tc>
              </a:tr>
              <a:tr h="1873950">
                <a:tc>
                  <a:txBody>
                    <a:bodyPr/>
                    <a:lstStyle/>
                    <a:p>
                      <a:pPr indent="0" lvl="0" marL="0" rtl="0" algn="ctr">
                        <a:spcBef>
                          <a:spcPts val="0"/>
                        </a:spcBef>
                        <a:spcAft>
                          <a:spcPts val="0"/>
                        </a:spcAft>
                        <a:buNone/>
                      </a:pPr>
                      <a:r>
                        <a:rPr lang="en-US" sz="1150">
                          <a:latin typeface="Times New Roman"/>
                          <a:ea typeface="Times New Roman"/>
                          <a:cs typeface="Times New Roman"/>
                          <a:sym typeface="Times New Roman"/>
                        </a:rPr>
                        <a:t>1. </a:t>
                      </a:r>
                      <a:endParaRPr sz="1150">
                        <a:latin typeface="Times New Roman"/>
                        <a:ea typeface="Times New Roman"/>
                        <a:cs typeface="Times New Roman"/>
                        <a:sym typeface="Times New Roman"/>
                      </a:endParaRPr>
                    </a:p>
                  </a:txBody>
                  <a:tcPr marT="91425" marB="91425" marR="91425" marL="91425" anchor="ctr"/>
                </a:tc>
                <a:tc>
                  <a:txBody>
                    <a:bodyPr/>
                    <a:lstStyle/>
                    <a:p>
                      <a:pPr indent="0" lvl="0" marL="0" rtl="0" algn="just">
                        <a:lnSpc>
                          <a:spcPct val="115000"/>
                        </a:lnSpc>
                        <a:spcBef>
                          <a:spcPts val="0"/>
                        </a:spcBef>
                        <a:spcAft>
                          <a:spcPts val="0"/>
                        </a:spcAft>
                        <a:buClr>
                          <a:schemeClr val="dk1"/>
                        </a:buClr>
                        <a:buSzPts val="1100"/>
                        <a:buFont typeface="Arial"/>
                        <a:buNone/>
                      </a:pPr>
                      <a:r>
                        <a:rPr lang="en-US" sz="1150">
                          <a:solidFill>
                            <a:schemeClr val="dk1"/>
                          </a:solidFill>
                          <a:latin typeface="Times New Roman"/>
                          <a:ea typeface="Times New Roman"/>
                          <a:cs typeface="Times New Roman"/>
                          <a:sym typeface="Times New Roman"/>
                        </a:rPr>
                        <a:t>Identifying and Mitigating Web Application Vulnerabilities: A Comparative Study of Countermeasures and Tools </a:t>
                      </a:r>
                      <a:r>
                        <a:rPr lang="en-US" sz="1150" u="sng">
                          <a:solidFill>
                            <a:schemeClr val="hlink"/>
                          </a:solidFill>
                          <a:latin typeface="Times New Roman"/>
                          <a:ea typeface="Times New Roman"/>
                          <a:cs typeface="Times New Roman"/>
                          <a:sym typeface="Times New Roman"/>
                          <a:hlinkClick r:id="rId3"/>
                        </a:rPr>
                        <a:t>[1]</a:t>
                      </a:r>
                      <a:endParaRPr sz="1150">
                        <a:latin typeface="Times New Roman"/>
                        <a:ea typeface="Times New Roman"/>
                        <a:cs typeface="Times New Roman"/>
                        <a:sym typeface="Times New Roman"/>
                      </a:endParaRPr>
                    </a:p>
                  </a:txBody>
                  <a:tcPr marT="91425" marB="91425" marR="91425" marL="91425" anchor="ctr"/>
                </a:tc>
                <a:tc>
                  <a:txBody>
                    <a:bodyPr/>
                    <a:lstStyle/>
                    <a:p>
                      <a:pPr indent="0" lvl="0" marL="0" rtl="0" algn="just">
                        <a:lnSpc>
                          <a:spcPct val="115000"/>
                        </a:lnSpc>
                        <a:spcBef>
                          <a:spcPts val="1200"/>
                        </a:spcBef>
                        <a:spcAft>
                          <a:spcPts val="1200"/>
                        </a:spcAft>
                        <a:buNone/>
                      </a:pPr>
                      <a:r>
                        <a:rPr lang="en-US" sz="1150">
                          <a:solidFill>
                            <a:schemeClr val="dk1"/>
                          </a:solidFill>
                          <a:latin typeface="Times New Roman"/>
                          <a:ea typeface="Times New Roman"/>
                          <a:cs typeface="Times New Roman"/>
                          <a:sym typeface="Times New Roman"/>
                        </a:rPr>
                        <a:t>Sadat, Sayed Elham &amp; Naseri, Mohammed &amp; Salamzada, Khosraw.</a:t>
                      </a:r>
                      <a:endParaRPr sz="1150">
                        <a:latin typeface="Times New Roman"/>
                        <a:ea typeface="Times New Roman"/>
                        <a:cs typeface="Times New Roman"/>
                        <a:sym typeface="Times New Roman"/>
                      </a:endParaRPr>
                    </a:p>
                  </a:txBody>
                  <a:tcPr marT="91425" marB="91425" marR="91425" marL="91425" anchor="ctr"/>
                </a:tc>
                <a:tc>
                  <a:txBody>
                    <a:bodyPr/>
                    <a:lstStyle/>
                    <a:p>
                      <a:pPr indent="0" lvl="0" marL="0" rtl="0" algn="just">
                        <a:lnSpc>
                          <a:spcPct val="115000"/>
                        </a:lnSpc>
                        <a:spcBef>
                          <a:spcPts val="1200"/>
                        </a:spcBef>
                        <a:spcAft>
                          <a:spcPts val="1200"/>
                        </a:spcAft>
                        <a:buNone/>
                      </a:pPr>
                      <a:r>
                        <a:rPr lang="en-US" sz="1150">
                          <a:solidFill>
                            <a:schemeClr val="dk1"/>
                          </a:solidFill>
                          <a:latin typeface="Times New Roman"/>
                          <a:ea typeface="Times New Roman"/>
                          <a:cs typeface="Times New Roman"/>
                          <a:sym typeface="Times New Roman"/>
                        </a:rPr>
                        <a:t>The paper analyzes the most critical web application security risks, focusing on the OWASP Top 10 vulnerabilities such as Broken Access Control, Injection flaws, Security Misconfigurations, and Cryptographic Failures.</a:t>
                      </a:r>
                      <a:endParaRPr sz="1150">
                        <a:latin typeface="Times New Roman"/>
                        <a:ea typeface="Times New Roman"/>
                        <a:cs typeface="Times New Roman"/>
                        <a:sym typeface="Times New Roman"/>
                      </a:endParaRPr>
                    </a:p>
                  </a:txBody>
                  <a:tcPr marT="91425" marB="91425" marR="91425" marL="91425" anchor="ctr"/>
                </a:tc>
                <a:tc>
                  <a:txBody>
                    <a:bodyPr/>
                    <a:lstStyle/>
                    <a:p>
                      <a:pPr indent="0" lvl="0" marL="0" rtl="0" algn="just">
                        <a:lnSpc>
                          <a:spcPct val="115000"/>
                        </a:lnSpc>
                        <a:spcBef>
                          <a:spcPts val="1200"/>
                        </a:spcBef>
                        <a:spcAft>
                          <a:spcPts val="1200"/>
                        </a:spcAft>
                        <a:buNone/>
                      </a:pPr>
                      <a:r>
                        <a:rPr lang="en-US" sz="1150">
                          <a:solidFill>
                            <a:schemeClr val="dk1"/>
                          </a:solidFill>
                          <a:latin typeface="Times New Roman"/>
                          <a:ea typeface="Times New Roman"/>
                          <a:cs typeface="Times New Roman"/>
                          <a:sym typeface="Times New Roman"/>
                        </a:rPr>
                        <a:t>The paper summarizes the top web application security risks, including Broken Access Control, Cryptographic Failures, Injection attacks, Insecure Design, and Security Misconfigurations. It evaluates the effectiveness of open-source tools in detecting these vulnerabilities and highlights best practices for mitigation.</a:t>
                      </a:r>
                      <a:endParaRPr sz="1150">
                        <a:solidFill>
                          <a:schemeClr val="dk1"/>
                        </a:solidFill>
                        <a:latin typeface="Times New Roman"/>
                        <a:ea typeface="Times New Roman"/>
                        <a:cs typeface="Times New Roman"/>
                        <a:sym typeface="Times New Roman"/>
                      </a:endParaRPr>
                    </a:p>
                  </a:txBody>
                  <a:tcPr marT="91425" marB="91425" marR="91425" marL="91425" anchor="ctr"/>
                </a:tc>
              </a:tr>
              <a:tr h="1446925">
                <a:tc>
                  <a:txBody>
                    <a:bodyPr/>
                    <a:lstStyle/>
                    <a:p>
                      <a:pPr indent="0" lvl="0" marL="0" rtl="0" algn="ctr">
                        <a:spcBef>
                          <a:spcPts val="0"/>
                        </a:spcBef>
                        <a:spcAft>
                          <a:spcPts val="0"/>
                        </a:spcAft>
                        <a:buNone/>
                      </a:pPr>
                      <a:r>
                        <a:rPr lang="en-US" sz="1150">
                          <a:latin typeface="Times New Roman"/>
                          <a:ea typeface="Times New Roman"/>
                          <a:cs typeface="Times New Roman"/>
                          <a:sym typeface="Times New Roman"/>
                        </a:rPr>
                        <a:t>2</a:t>
                      </a:r>
                      <a:r>
                        <a:rPr lang="en-US" sz="1150">
                          <a:latin typeface="Times New Roman"/>
                          <a:ea typeface="Times New Roman"/>
                          <a:cs typeface="Times New Roman"/>
                          <a:sym typeface="Times New Roman"/>
                        </a:rPr>
                        <a:t>. </a:t>
                      </a:r>
                      <a:endParaRPr sz="1150">
                        <a:latin typeface="Times New Roman"/>
                        <a:ea typeface="Times New Roman"/>
                        <a:cs typeface="Times New Roman"/>
                        <a:sym typeface="Times New Roman"/>
                      </a:endParaRPr>
                    </a:p>
                  </a:txBody>
                  <a:tcPr marT="91425" marB="91425" marR="91425" marL="91425" anchor="ctr"/>
                </a:tc>
                <a:tc>
                  <a:txBody>
                    <a:bodyPr/>
                    <a:lstStyle/>
                    <a:p>
                      <a:pPr indent="0" lvl="0" marL="0" rtl="0" algn="just">
                        <a:lnSpc>
                          <a:spcPct val="123913"/>
                        </a:lnSpc>
                        <a:spcBef>
                          <a:spcPts val="0"/>
                        </a:spcBef>
                        <a:spcAft>
                          <a:spcPts val="0"/>
                        </a:spcAft>
                        <a:buClr>
                          <a:schemeClr val="dk1"/>
                        </a:buClr>
                        <a:buSzPts val="1100"/>
                        <a:buFont typeface="Arial"/>
                        <a:buNone/>
                      </a:pPr>
                      <a:r>
                        <a:rPr lang="en-US" sz="1150">
                          <a:solidFill>
                            <a:srgbClr val="333333"/>
                          </a:solidFill>
                          <a:latin typeface="Times New Roman"/>
                          <a:ea typeface="Times New Roman"/>
                          <a:cs typeface="Times New Roman"/>
                          <a:sym typeface="Times New Roman"/>
                        </a:rPr>
                        <a:t>Vulnerabilities and Security of Web Applications </a:t>
                      </a:r>
                      <a:r>
                        <a:rPr lang="en-US" sz="1150" u="sng">
                          <a:solidFill>
                            <a:schemeClr val="hlink"/>
                          </a:solidFill>
                          <a:latin typeface="Times New Roman"/>
                          <a:ea typeface="Times New Roman"/>
                          <a:cs typeface="Times New Roman"/>
                          <a:sym typeface="Times New Roman"/>
                          <a:hlinkClick r:id="rId4"/>
                        </a:rPr>
                        <a:t>[2]</a:t>
                      </a:r>
                      <a:endParaRPr sz="1150">
                        <a:latin typeface="Times New Roman"/>
                        <a:ea typeface="Times New Roman"/>
                        <a:cs typeface="Times New Roman"/>
                        <a:sym typeface="Times New Roman"/>
                      </a:endParaRPr>
                    </a:p>
                  </a:txBody>
                  <a:tcPr marT="91425" marB="91425" marR="91425" marL="91425" anchor="ctr"/>
                </a:tc>
                <a:tc>
                  <a:txBody>
                    <a:bodyPr/>
                    <a:lstStyle/>
                    <a:p>
                      <a:pPr indent="0" lvl="0" marL="0" rtl="0" algn="just">
                        <a:spcBef>
                          <a:spcPts val="0"/>
                        </a:spcBef>
                        <a:spcAft>
                          <a:spcPts val="0"/>
                        </a:spcAft>
                        <a:buNone/>
                      </a:pPr>
                      <a:r>
                        <a:rPr lang="en-US" sz="1150">
                          <a:solidFill>
                            <a:srgbClr val="333333"/>
                          </a:solidFill>
                          <a:highlight>
                            <a:srgbClr val="FFFFFF"/>
                          </a:highlight>
                          <a:latin typeface="Times New Roman"/>
                          <a:ea typeface="Times New Roman"/>
                          <a:cs typeface="Times New Roman"/>
                          <a:sym typeface="Times New Roman"/>
                        </a:rPr>
                        <a:t>D. Yadav, D. Gupta, D. Singh, D. Kumar and U. Sharma</a:t>
                      </a:r>
                      <a:endParaRPr sz="1150">
                        <a:latin typeface="Times New Roman"/>
                        <a:ea typeface="Times New Roman"/>
                        <a:cs typeface="Times New Roman"/>
                        <a:sym typeface="Times New Roman"/>
                      </a:endParaRPr>
                    </a:p>
                  </a:txBody>
                  <a:tcPr marT="91425" marB="91425" marR="91425" marL="91425" anchor="ctr"/>
                </a:tc>
                <a:tc>
                  <a:txBody>
                    <a:bodyPr/>
                    <a:lstStyle/>
                    <a:p>
                      <a:pPr indent="0" lvl="0" marL="0" rtl="0" algn="just">
                        <a:lnSpc>
                          <a:spcPct val="115000"/>
                        </a:lnSpc>
                        <a:spcBef>
                          <a:spcPts val="1200"/>
                        </a:spcBef>
                        <a:spcAft>
                          <a:spcPts val="1200"/>
                        </a:spcAft>
                        <a:buNone/>
                      </a:pPr>
                      <a:r>
                        <a:rPr lang="en-US" sz="1150">
                          <a:solidFill>
                            <a:schemeClr val="dk1"/>
                          </a:solidFill>
                          <a:latin typeface="Times New Roman"/>
                          <a:ea typeface="Times New Roman"/>
                          <a:cs typeface="Times New Roman"/>
                          <a:sym typeface="Times New Roman"/>
                        </a:rPr>
                        <a:t>Web application vulnerabilities include common risks such as SQL injection, cross-site scripting (XSS), broken authentication, XML External Entities (XXE), security misconfigurations, and file upload flaws.</a:t>
                      </a:r>
                      <a:endParaRPr sz="1150">
                        <a:solidFill>
                          <a:schemeClr val="dk1"/>
                        </a:solidFill>
                        <a:latin typeface="Times New Roman"/>
                        <a:ea typeface="Times New Roman"/>
                        <a:cs typeface="Times New Roman"/>
                        <a:sym typeface="Times New Roman"/>
                      </a:endParaRPr>
                    </a:p>
                  </a:txBody>
                  <a:tcPr marT="91425" marB="91425" marR="91425" marL="91425" anchor="ctr"/>
                </a:tc>
                <a:tc>
                  <a:txBody>
                    <a:bodyPr/>
                    <a:lstStyle/>
                    <a:p>
                      <a:pPr indent="0" lvl="0" marL="0" rtl="0" algn="just">
                        <a:lnSpc>
                          <a:spcPct val="115000"/>
                        </a:lnSpc>
                        <a:spcBef>
                          <a:spcPts val="1200"/>
                        </a:spcBef>
                        <a:spcAft>
                          <a:spcPts val="1200"/>
                        </a:spcAft>
                        <a:buNone/>
                      </a:pPr>
                      <a:r>
                        <a:rPr lang="en-US" sz="1150">
                          <a:solidFill>
                            <a:schemeClr val="dk1"/>
                          </a:solidFill>
                          <a:latin typeface="Times New Roman"/>
                          <a:ea typeface="Times New Roman"/>
                          <a:cs typeface="Times New Roman"/>
                          <a:sym typeface="Times New Roman"/>
                        </a:rPr>
                        <a:t>Web application security is essential to protect sensitive data and ensure service availability. It involves defending applications against common threats like SQL injection, cross-site scripting, and broken authentication.</a:t>
                      </a:r>
                      <a:endParaRPr sz="1150">
                        <a:latin typeface="Times New Roman"/>
                        <a:ea typeface="Times New Roman"/>
                        <a:cs typeface="Times New Roman"/>
                        <a:sym typeface="Times New Roman"/>
                      </a:endParaRPr>
                    </a:p>
                  </a:txBody>
                  <a:tcPr marT="91425" marB="91425" marR="91425" marL="91425" anchor="ct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ph type="title"/>
          </p:nvPr>
        </p:nvSpPr>
        <p:spPr>
          <a:xfrm>
            <a:off x="457200" y="122238"/>
            <a:ext cx="8229600" cy="639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b="1" lang="en-US">
                <a:solidFill>
                  <a:schemeClr val="dk1"/>
                </a:solidFill>
                <a:latin typeface="Times New Roman"/>
                <a:ea typeface="Times New Roman"/>
                <a:cs typeface="Times New Roman"/>
                <a:sym typeface="Times New Roman"/>
              </a:rPr>
              <a:t>Literature Review</a:t>
            </a:r>
            <a:endParaRPr>
              <a:solidFill>
                <a:schemeClr val="dk1"/>
              </a:solidFill>
            </a:endParaRPr>
          </a:p>
        </p:txBody>
      </p:sp>
      <p:sp>
        <p:nvSpPr>
          <p:cNvPr id="233" name="Google Shape;233;p41"/>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9</a:t>
            </a:r>
            <a:endParaRPr/>
          </a:p>
        </p:txBody>
      </p:sp>
      <p:graphicFrame>
        <p:nvGraphicFramePr>
          <p:cNvPr id="234" name="Google Shape;234;p41"/>
          <p:cNvGraphicFramePr/>
          <p:nvPr/>
        </p:nvGraphicFramePr>
        <p:xfrm>
          <a:off x="-25" y="1659392"/>
          <a:ext cx="3000000" cy="3000000"/>
        </p:xfrm>
        <a:graphic>
          <a:graphicData uri="http://schemas.openxmlformats.org/drawingml/2006/table">
            <a:tbl>
              <a:tblPr>
                <a:noFill/>
                <a:tableStyleId>{7CB50EFE-2B48-4FE9-A65D-7959500509BC}</a:tableStyleId>
              </a:tblPr>
              <a:tblGrid>
                <a:gridCol w="457200"/>
                <a:gridCol w="1322275"/>
                <a:gridCol w="1254375"/>
                <a:gridCol w="2863700"/>
                <a:gridCol w="3246475"/>
              </a:tblGrid>
              <a:tr h="544525">
                <a:tc>
                  <a:txBody>
                    <a:bodyPr/>
                    <a:lstStyle/>
                    <a:p>
                      <a:pPr indent="0" lvl="0" marL="0" rtl="0" algn="ctr">
                        <a:spcBef>
                          <a:spcPts val="0"/>
                        </a:spcBef>
                        <a:spcAft>
                          <a:spcPts val="0"/>
                        </a:spcAft>
                        <a:buNone/>
                      </a:pPr>
                      <a:r>
                        <a:rPr b="1" lang="en-US" sz="1150">
                          <a:latin typeface="Times New Roman"/>
                          <a:ea typeface="Times New Roman"/>
                          <a:cs typeface="Times New Roman"/>
                          <a:sym typeface="Times New Roman"/>
                        </a:rPr>
                        <a:t>Sr. No.</a:t>
                      </a:r>
                      <a:endParaRPr b="1" sz="1150">
                        <a:latin typeface="Times New Roman"/>
                        <a:ea typeface="Times New Roman"/>
                        <a:cs typeface="Times New Roman"/>
                        <a:sym typeface="Times New Roman"/>
                      </a:endParaRPr>
                    </a:p>
                  </a:txBody>
                  <a:tcPr marT="91425" marB="91425" marR="91425" marL="91425" anchor="ctr"/>
                </a:tc>
                <a:tc>
                  <a:txBody>
                    <a:bodyPr/>
                    <a:lstStyle/>
                    <a:p>
                      <a:pPr indent="0" lvl="0" marL="0" rtl="0" algn="ctr">
                        <a:spcBef>
                          <a:spcPts val="0"/>
                        </a:spcBef>
                        <a:spcAft>
                          <a:spcPts val="0"/>
                        </a:spcAft>
                        <a:buNone/>
                      </a:pPr>
                      <a:r>
                        <a:rPr b="1" lang="en-US" sz="1150">
                          <a:latin typeface="Times New Roman"/>
                          <a:ea typeface="Times New Roman"/>
                          <a:cs typeface="Times New Roman"/>
                          <a:sym typeface="Times New Roman"/>
                        </a:rPr>
                        <a:t>Title of the Paper</a:t>
                      </a:r>
                      <a:endParaRPr b="1" sz="1150">
                        <a:latin typeface="Times New Roman"/>
                        <a:ea typeface="Times New Roman"/>
                        <a:cs typeface="Times New Roman"/>
                        <a:sym typeface="Times New Roman"/>
                      </a:endParaRPr>
                    </a:p>
                  </a:txBody>
                  <a:tcPr marT="91425" marB="91425" marR="91425" marL="91425" anchor="ctr"/>
                </a:tc>
                <a:tc>
                  <a:txBody>
                    <a:bodyPr/>
                    <a:lstStyle/>
                    <a:p>
                      <a:pPr indent="0" lvl="0" marL="0" rtl="0" algn="ctr">
                        <a:spcBef>
                          <a:spcPts val="0"/>
                        </a:spcBef>
                        <a:spcAft>
                          <a:spcPts val="0"/>
                        </a:spcAft>
                        <a:buNone/>
                      </a:pPr>
                      <a:r>
                        <a:rPr b="1" lang="en-US" sz="1150">
                          <a:latin typeface="Times New Roman"/>
                          <a:ea typeface="Times New Roman"/>
                          <a:cs typeface="Times New Roman"/>
                          <a:sym typeface="Times New Roman"/>
                        </a:rPr>
                        <a:t>Author</a:t>
                      </a:r>
                      <a:endParaRPr b="1" sz="1150">
                        <a:latin typeface="Times New Roman"/>
                        <a:ea typeface="Times New Roman"/>
                        <a:cs typeface="Times New Roman"/>
                        <a:sym typeface="Times New Roman"/>
                      </a:endParaRPr>
                    </a:p>
                  </a:txBody>
                  <a:tcPr marT="91425" marB="91425" marR="91425" marL="91425" anchor="ctr"/>
                </a:tc>
                <a:tc>
                  <a:txBody>
                    <a:bodyPr/>
                    <a:lstStyle/>
                    <a:p>
                      <a:pPr indent="0" lvl="0" marL="0" rtl="0" algn="ctr">
                        <a:spcBef>
                          <a:spcPts val="0"/>
                        </a:spcBef>
                        <a:spcAft>
                          <a:spcPts val="0"/>
                        </a:spcAft>
                        <a:buNone/>
                      </a:pPr>
                      <a:r>
                        <a:rPr b="1" lang="en-US" sz="1150">
                          <a:latin typeface="Times New Roman"/>
                          <a:ea typeface="Times New Roman"/>
                          <a:cs typeface="Times New Roman"/>
                          <a:sym typeface="Times New Roman"/>
                        </a:rPr>
                        <a:t>Descriptions</a:t>
                      </a:r>
                      <a:endParaRPr b="1" sz="1150">
                        <a:latin typeface="Times New Roman"/>
                        <a:ea typeface="Times New Roman"/>
                        <a:cs typeface="Times New Roman"/>
                        <a:sym typeface="Times New Roman"/>
                      </a:endParaRPr>
                    </a:p>
                  </a:txBody>
                  <a:tcPr marT="91425" marB="91425" marR="91425" marL="91425" anchor="ctr"/>
                </a:tc>
                <a:tc>
                  <a:txBody>
                    <a:bodyPr/>
                    <a:lstStyle/>
                    <a:p>
                      <a:pPr indent="0" lvl="0" marL="0" rtl="0" algn="ctr">
                        <a:spcBef>
                          <a:spcPts val="0"/>
                        </a:spcBef>
                        <a:spcAft>
                          <a:spcPts val="0"/>
                        </a:spcAft>
                        <a:buNone/>
                      </a:pPr>
                      <a:r>
                        <a:rPr b="1" lang="en-US" sz="1150">
                          <a:latin typeface="Times New Roman"/>
                          <a:ea typeface="Times New Roman"/>
                          <a:cs typeface="Times New Roman"/>
                          <a:sym typeface="Times New Roman"/>
                        </a:rPr>
                        <a:t>Results</a:t>
                      </a:r>
                      <a:endParaRPr b="1" sz="1150">
                        <a:latin typeface="Times New Roman"/>
                        <a:ea typeface="Times New Roman"/>
                        <a:cs typeface="Times New Roman"/>
                        <a:sym typeface="Times New Roman"/>
                      </a:endParaRPr>
                    </a:p>
                  </a:txBody>
                  <a:tcPr marT="91425" marB="91425" marR="91425" marL="91425" anchor="ctr"/>
                </a:tc>
              </a:tr>
              <a:tr h="1600225">
                <a:tc>
                  <a:txBody>
                    <a:bodyPr/>
                    <a:lstStyle/>
                    <a:p>
                      <a:pPr indent="0" lvl="0" marL="0" rtl="0" algn="ctr">
                        <a:spcBef>
                          <a:spcPts val="0"/>
                        </a:spcBef>
                        <a:spcAft>
                          <a:spcPts val="0"/>
                        </a:spcAft>
                        <a:buNone/>
                      </a:pPr>
                      <a:r>
                        <a:rPr lang="en-US" sz="1150">
                          <a:latin typeface="Times New Roman"/>
                          <a:ea typeface="Times New Roman"/>
                          <a:cs typeface="Times New Roman"/>
                          <a:sym typeface="Times New Roman"/>
                        </a:rPr>
                        <a:t>3</a:t>
                      </a:r>
                      <a:r>
                        <a:rPr lang="en-US" sz="1150">
                          <a:latin typeface="Times New Roman"/>
                          <a:ea typeface="Times New Roman"/>
                          <a:cs typeface="Times New Roman"/>
                          <a:sym typeface="Times New Roman"/>
                        </a:rPr>
                        <a:t>. </a:t>
                      </a:r>
                      <a:endParaRPr sz="1150">
                        <a:latin typeface="Times New Roman"/>
                        <a:ea typeface="Times New Roman"/>
                        <a:cs typeface="Times New Roman"/>
                        <a:sym typeface="Times New Roman"/>
                      </a:endParaRPr>
                    </a:p>
                  </a:txBody>
                  <a:tcPr marT="91425" marB="91425" marR="91425" marL="91425" anchor="ctr"/>
                </a:tc>
                <a:tc>
                  <a:txBody>
                    <a:bodyPr/>
                    <a:lstStyle/>
                    <a:p>
                      <a:pPr indent="0" lvl="0" marL="0" rtl="0" algn="l">
                        <a:lnSpc>
                          <a:spcPct val="128571"/>
                        </a:lnSpc>
                        <a:spcBef>
                          <a:spcPts val="0"/>
                        </a:spcBef>
                        <a:spcAft>
                          <a:spcPts val="400"/>
                        </a:spcAft>
                        <a:buClr>
                          <a:schemeClr val="dk1"/>
                        </a:buClr>
                        <a:buSzPts val="1100"/>
                        <a:buFont typeface="Arial"/>
                        <a:buNone/>
                      </a:pPr>
                      <a:r>
                        <a:rPr lang="en-US" sz="1150">
                          <a:solidFill>
                            <a:srgbClr val="222222"/>
                          </a:solidFill>
                          <a:latin typeface="Times New Roman"/>
                          <a:ea typeface="Times New Roman"/>
                          <a:cs typeface="Times New Roman"/>
                          <a:sym typeface="Times New Roman"/>
                        </a:rPr>
                        <a:t>AI-Based Web Vulnerability Scanner: A Comprehensive Review </a:t>
                      </a:r>
                      <a:r>
                        <a:rPr lang="en-US" sz="1150" u="sng">
                          <a:solidFill>
                            <a:schemeClr val="hlink"/>
                          </a:solidFill>
                          <a:latin typeface="Times New Roman"/>
                          <a:ea typeface="Times New Roman"/>
                          <a:cs typeface="Times New Roman"/>
                          <a:sym typeface="Times New Roman"/>
                          <a:hlinkClick r:id="rId3"/>
                        </a:rPr>
                        <a:t>[3]</a:t>
                      </a:r>
                      <a:endParaRPr sz="1150">
                        <a:latin typeface="Times New Roman"/>
                        <a:ea typeface="Times New Roman"/>
                        <a:cs typeface="Times New Roman"/>
                        <a:sym typeface="Times New Roman"/>
                      </a:endParaRPr>
                    </a:p>
                  </a:txBody>
                  <a:tcPr marT="91425" marB="91425" marR="91425" marL="91425" anchor="ctr"/>
                </a:tc>
                <a:tc>
                  <a:txBody>
                    <a:bodyPr/>
                    <a:lstStyle/>
                    <a:p>
                      <a:pPr indent="0" lvl="0" marL="0" rtl="0" algn="just">
                        <a:lnSpc>
                          <a:spcPct val="115000"/>
                        </a:lnSpc>
                        <a:spcBef>
                          <a:spcPts val="1200"/>
                        </a:spcBef>
                        <a:spcAft>
                          <a:spcPts val="1200"/>
                        </a:spcAft>
                        <a:buNone/>
                      </a:pPr>
                      <a:r>
                        <a:rPr lang="en-US" sz="1150">
                          <a:solidFill>
                            <a:srgbClr val="505050"/>
                          </a:solidFill>
                          <a:highlight>
                            <a:srgbClr val="FFFFFF"/>
                          </a:highlight>
                          <a:latin typeface="Times New Roman"/>
                          <a:ea typeface="Times New Roman"/>
                          <a:cs typeface="Times New Roman"/>
                          <a:sym typeface="Times New Roman"/>
                        </a:rPr>
                        <a:t>Devadiga, Preeti and Varankar, Shruti and Kumari, Sneha and MISHRA, NILAMADHAB</a:t>
                      </a:r>
                      <a:endParaRPr sz="1150">
                        <a:latin typeface="Times New Roman"/>
                        <a:ea typeface="Times New Roman"/>
                        <a:cs typeface="Times New Roman"/>
                        <a:sym typeface="Times New Roman"/>
                      </a:endParaRPr>
                    </a:p>
                  </a:txBody>
                  <a:tcPr marT="91425" marB="91425" marR="91425" marL="91425" anchor="ctr"/>
                </a:tc>
                <a:tc>
                  <a:txBody>
                    <a:bodyPr/>
                    <a:lstStyle/>
                    <a:p>
                      <a:pPr indent="0" lvl="0" marL="0" rtl="0" algn="just">
                        <a:lnSpc>
                          <a:spcPct val="115000"/>
                        </a:lnSpc>
                        <a:spcBef>
                          <a:spcPts val="1200"/>
                        </a:spcBef>
                        <a:spcAft>
                          <a:spcPts val="1200"/>
                        </a:spcAft>
                        <a:buNone/>
                      </a:pPr>
                      <a:r>
                        <a:rPr lang="en-US" sz="1150">
                          <a:solidFill>
                            <a:schemeClr val="dk1"/>
                          </a:solidFill>
                          <a:latin typeface="Times New Roman"/>
                          <a:ea typeface="Times New Roman"/>
                          <a:cs typeface="Times New Roman"/>
                          <a:sym typeface="Times New Roman"/>
                        </a:rPr>
                        <a:t>The document reviews AI-powered web vulnerability scanners that improve accuracy by analyzing web traffic and code patterns to detect threats like SQL injection and XSS. It highlights a scorecard system that prioritizes vulnerabilities by risk, enabling efficient remediation.</a:t>
                      </a:r>
                      <a:endParaRPr sz="1150">
                        <a:solidFill>
                          <a:schemeClr val="dk1"/>
                        </a:solidFill>
                        <a:latin typeface="Times New Roman"/>
                        <a:ea typeface="Times New Roman"/>
                        <a:cs typeface="Times New Roman"/>
                        <a:sym typeface="Times New Roman"/>
                      </a:endParaRPr>
                    </a:p>
                  </a:txBody>
                  <a:tcPr marT="91425" marB="91425" marR="91425" marL="91425" anchor="ctr"/>
                </a:tc>
                <a:tc>
                  <a:txBody>
                    <a:bodyPr/>
                    <a:lstStyle/>
                    <a:p>
                      <a:pPr indent="0" lvl="0" marL="0" rtl="0" algn="just">
                        <a:lnSpc>
                          <a:spcPct val="115000"/>
                        </a:lnSpc>
                        <a:spcBef>
                          <a:spcPts val="1200"/>
                        </a:spcBef>
                        <a:spcAft>
                          <a:spcPts val="1200"/>
                        </a:spcAft>
                        <a:buNone/>
                      </a:pPr>
                      <a:r>
                        <a:rPr lang="en-US" sz="1150">
                          <a:solidFill>
                            <a:schemeClr val="dk1"/>
                          </a:solidFill>
                          <a:latin typeface="Times New Roman"/>
                          <a:ea typeface="Times New Roman"/>
                          <a:cs typeface="Times New Roman"/>
                          <a:sym typeface="Times New Roman"/>
                        </a:rPr>
                        <a:t>The conclusion highlights that AI-enhanced vulnerability scanners significantly improve web security by increasing detection accuracy, reducing false positives, and prioritizing risks effectively through a scorecard system. This approach enables faster, focused remediation of critical threats and adapts continuously to emerging vulnerabilities. </a:t>
                      </a:r>
                      <a:endParaRPr sz="1150">
                        <a:solidFill>
                          <a:schemeClr val="dk1"/>
                        </a:solidFill>
                        <a:latin typeface="Times New Roman"/>
                        <a:ea typeface="Times New Roman"/>
                        <a:cs typeface="Times New Roman"/>
                        <a:sym typeface="Times New Roman"/>
                      </a:endParaRPr>
                    </a:p>
                  </a:txBody>
                  <a:tcPr marT="91425" marB="91425" marR="91425" marL="91425" anchor="ctr"/>
                </a:tc>
              </a:tr>
              <a:tr h="1394450">
                <a:tc>
                  <a:txBody>
                    <a:bodyPr/>
                    <a:lstStyle/>
                    <a:p>
                      <a:pPr indent="0" lvl="0" marL="0" rtl="0" algn="ctr">
                        <a:spcBef>
                          <a:spcPts val="0"/>
                        </a:spcBef>
                        <a:spcAft>
                          <a:spcPts val="0"/>
                        </a:spcAft>
                        <a:buNone/>
                      </a:pPr>
                      <a:r>
                        <a:rPr lang="en-US" sz="1150">
                          <a:latin typeface="Times New Roman"/>
                          <a:ea typeface="Times New Roman"/>
                          <a:cs typeface="Times New Roman"/>
                          <a:sym typeface="Times New Roman"/>
                        </a:rPr>
                        <a:t>4</a:t>
                      </a:r>
                      <a:r>
                        <a:rPr lang="en-US" sz="1150">
                          <a:latin typeface="Times New Roman"/>
                          <a:ea typeface="Times New Roman"/>
                          <a:cs typeface="Times New Roman"/>
                          <a:sym typeface="Times New Roman"/>
                        </a:rPr>
                        <a:t>. </a:t>
                      </a:r>
                      <a:endParaRPr sz="1150">
                        <a:latin typeface="Times New Roman"/>
                        <a:ea typeface="Times New Roman"/>
                        <a:cs typeface="Times New Roman"/>
                        <a:sym typeface="Times New Roman"/>
                      </a:endParaRPr>
                    </a:p>
                  </a:txBody>
                  <a:tcPr marT="91425" marB="91425" marR="91425" marL="91425" anchor="ctr"/>
                </a:tc>
                <a:tc>
                  <a:txBody>
                    <a:bodyPr/>
                    <a:lstStyle/>
                    <a:p>
                      <a:pPr indent="0" lvl="0" marL="0" rtl="0" algn="l">
                        <a:lnSpc>
                          <a:spcPct val="115000"/>
                        </a:lnSpc>
                        <a:spcBef>
                          <a:spcPts val="0"/>
                        </a:spcBef>
                        <a:spcAft>
                          <a:spcPts val="0"/>
                        </a:spcAft>
                        <a:buClr>
                          <a:schemeClr val="dk1"/>
                        </a:buClr>
                        <a:buSzPts val="1100"/>
                        <a:buFont typeface="Arial"/>
                        <a:buNone/>
                      </a:pPr>
                      <a:r>
                        <a:rPr lang="en-US" sz="1150">
                          <a:solidFill>
                            <a:srgbClr val="343434"/>
                          </a:solidFill>
                          <a:highlight>
                            <a:srgbClr val="F0F2F3"/>
                          </a:highlight>
                          <a:latin typeface="Times New Roman"/>
                          <a:ea typeface="Times New Roman"/>
                          <a:cs typeface="Times New Roman"/>
                          <a:sym typeface="Times New Roman"/>
                        </a:rPr>
                        <a:t>An Automatic Vulnerability Scanner for Web Applications with Firewall Techniques </a:t>
                      </a:r>
                      <a:r>
                        <a:rPr lang="en-US" sz="1150" u="sng">
                          <a:solidFill>
                            <a:schemeClr val="hlink"/>
                          </a:solidFill>
                          <a:highlight>
                            <a:srgbClr val="F0F2F3"/>
                          </a:highlight>
                          <a:latin typeface="Times New Roman"/>
                          <a:ea typeface="Times New Roman"/>
                          <a:cs typeface="Times New Roman"/>
                          <a:sym typeface="Times New Roman"/>
                          <a:hlinkClick r:id="rId4"/>
                        </a:rPr>
                        <a:t>[4]</a:t>
                      </a:r>
                      <a:endParaRPr sz="1150">
                        <a:latin typeface="Times New Roman"/>
                        <a:ea typeface="Times New Roman"/>
                        <a:cs typeface="Times New Roman"/>
                        <a:sym typeface="Times New Roman"/>
                      </a:endParaRPr>
                    </a:p>
                  </a:txBody>
                  <a:tcPr marT="91425" marB="91425" marR="91425" marL="91425" anchor="ctr"/>
                </a:tc>
                <a:tc>
                  <a:txBody>
                    <a:bodyPr/>
                    <a:lstStyle/>
                    <a:p>
                      <a:pPr indent="0" lvl="0" marL="0" rtl="0" algn="just">
                        <a:spcBef>
                          <a:spcPts val="0"/>
                        </a:spcBef>
                        <a:spcAft>
                          <a:spcPts val="0"/>
                        </a:spcAft>
                        <a:buNone/>
                      </a:pPr>
                      <a:r>
                        <a:rPr lang="en-US" sz="1150">
                          <a:solidFill>
                            <a:srgbClr val="333333"/>
                          </a:solidFill>
                          <a:highlight>
                            <a:srgbClr val="FFFFFF"/>
                          </a:highlight>
                          <a:latin typeface="Times New Roman"/>
                          <a:ea typeface="Times New Roman"/>
                          <a:cs typeface="Times New Roman"/>
                          <a:sym typeface="Times New Roman"/>
                        </a:rPr>
                        <a:t>Rathod , S.K. Jagtap , J.R. Satpute , A. P. Shikhare , K.A. Pujari , A.S. Pandit</a:t>
                      </a:r>
                      <a:endParaRPr sz="1150">
                        <a:latin typeface="Times New Roman"/>
                        <a:ea typeface="Times New Roman"/>
                        <a:cs typeface="Times New Roman"/>
                        <a:sym typeface="Times New Roman"/>
                      </a:endParaRPr>
                    </a:p>
                  </a:txBody>
                  <a:tcPr marT="91425" marB="91425" marR="91425" marL="91425" anchor="ctr"/>
                </a:tc>
                <a:tc>
                  <a:txBody>
                    <a:bodyPr/>
                    <a:lstStyle/>
                    <a:p>
                      <a:pPr indent="0" lvl="0" marL="0" rtl="0" algn="just">
                        <a:lnSpc>
                          <a:spcPct val="115000"/>
                        </a:lnSpc>
                        <a:spcBef>
                          <a:spcPts val="1200"/>
                        </a:spcBef>
                        <a:spcAft>
                          <a:spcPts val="1200"/>
                        </a:spcAft>
                        <a:buNone/>
                      </a:pPr>
                      <a:r>
                        <a:rPr lang="en-US" sz="1150">
                          <a:solidFill>
                            <a:schemeClr val="dk1"/>
                          </a:solidFill>
                          <a:latin typeface="Times New Roman"/>
                          <a:ea typeface="Times New Roman"/>
                          <a:cs typeface="Times New Roman"/>
                          <a:sym typeface="Times New Roman"/>
                        </a:rPr>
                        <a:t>Key features of a web vulnerability scanner include automated asset discovery, comprehensive vulnerability detection, risk-based prioritization, and detailed actionable reports.</a:t>
                      </a:r>
                      <a:endParaRPr sz="1150">
                        <a:solidFill>
                          <a:schemeClr val="dk1"/>
                        </a:solidFill>
                        <a:latin typeface="Times New Roman"/>
                        <a:ea typeface="Times New Roman"/>
                        <a:cs typeface="Times New Roman"/>
                        <a:sym typeface="Times New Roman"/>
                      </a:endParaRPr>
                    </a:p>
                  </a:txBody>
                  <a:tcPr marT="91425" marB="91425" marR="91425" marL="91425" anchor="ctr"/>
                </a:tc>
                <a:tc>
                  <a:txBody>
                    <a:bodyPr/>
                    <a:lstStyle/>
                    <a:p>
                      <a:pPr indent="0" lvl="0" marL="0" rtl="0" algn="just">
                        <a:lnSpc>
                          <a:spcPct val="115000"/>
                        </a:lnSpc>
                        <a:spcBef>
                          <a:spcPts val="1200"/>
                        </a:spcBef>
                        <a:spcAft>
                          <a:spcPts val="1200"/>
                        </a:spcAft>
                        <a:buNone/>
                      </a:pPr>
                      <a:r>
                        <a:rPr lang="en-US" sz="1150">
                          <a:solidFill>
                            <a:schemeClr val="dk1"/>
                          </a:solidFill>
                          <a:latin typeface="Times New Roman"/>
                          <a:ea typeface="Times New Roman"/>
                          <a:cs typeface="Times New Roman"/>
                          <a:sym typeface="Times New Roman"/>
                        </a:rPr>
                        <a:t>The paper concludes that combining automated vulnerability scanning tools with manual testing provides the most effective cybersecurity assessment. The developed scanner is flexible and customizable, capable of detecting various web and network threats.</a:t>
                      </a:r>
                      <a:endParaRPr sz="1150">
                        <a:solidFill>
                          <a:schemeClr val="dk1"/>
                        </a:solidFill>
                        <a:latin typeface="Times New Roman"/>
                        <a:ea typeface="Times New Roman"/>
                        <a:cs typeface="Times New Roman"/>
                        <a:sym typeface="Times New Roman"/>
                      </a:endParaRPr>
                    </a:p>
                  </a:txBody>
                  <a:tcPr marT="91425" marB="91425" marR="91425" marL="91425" anchor="ct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2"/>
          <p:cNvSpPr txBox="1"/>
          <p:nvPr>
            <p:ph idx="4294967295" type="body"/>
          </p:nvPr>
        </p:nvSpPr>
        <p:spPr>
          <a:xfrm>
            <a:off x="447525" y="894000"/>
            <a:ext cx="8275500" cy="5460900"/>
          </a:xfrm>
          <a:prstGeom prst="rect">
            <a:avLst/>
          </a:prstGeom>
          <a:noFill/>
          <a:ln>
            <a:noFill/>
          </a:ln>
        </p:spPr>
        <p:txBody>
          <a:bodyPr anchorCtr="0" anchor="t" bIns="45700" lIns="91425" spcFirstLastPara="1" rIns="91425" wrap="square" tIns="45700">
            <a:noAutofit/>
          </a:bodyPr>
          <a:lstStyle/>
          <a:p>
            <a:pPr indent="-330200" lvl="0" marL="457200" rtl="0" algn="just">
              <a:lnSpc>
                <a:spcPct val="115000"/>
              </a:lnSpc>
              <a:spcBef>
                <a:spcPts val="600"/>
              </a:spcBef>
              <a:spcAft>
                <a:spcPts val="0"/>
              </a:spcAft>
              <a:buSzPts val="1600"/>
              <a:buFont typeface="Times New Roman"/>
              <a:buChar char="●"/>
            </a:pPr>
            <a:r>
              <a:rPr lang="en-US" sz="1600" u="sng">
                <a:latin typeface="Times New Roman"/>
                <a:ea typeface="Times New Roman"/>
                <a:cs typeface="Times New Roman"/>
                <a:sym typeface="Times New Roman"/>
              </a:rPr>
              <a:t>Backend Framework</a:t>
            </a:r>
            <a:r>
              <a:rPr lang="en-US" sz="1600">
                <a:latin typeface="Times New Roman"/>
                <a:ea typeface="Times New Roman"/>
                <a:cs typeface="Times New Roman"/>
                <a:sym typeface="Times New Roman"/>
              </a:rPr>
              <a:t>: Python with </a:t>
            </a:r>
            <a:r>
              <a:rPr b="1" lang="en-US" sz="1600">
                <a:latin typeface="Times New Roman"/>
                <a:ea typeface="Times New Roman"/>
                <a:cs typeface="Times New Roman"/>
                <a:sym typeface="Times New Roman"/>
              </a:rPr>
              <a:t>FastAPI</a:t>
            </a:r>
            <a:r>
              <a:rPr lang="en-US" sz="1600">
                <a:latin typeface="Times New Roman"/>
                <a:ea typeface="Times New Roman"/>
                <a:cs typeface="Times New Roman"/>
                <a:sym typeface="Times New Roman"/>
              </a:rPr>
              <a:t> for high-performance API development and ML model integration.</a:t>
            </a:r>
            <a:endParaRPr sz="1600">
              <a:latin typeface="Times New Roman"/>
              <a:ea typeface="Times New Roman"/>
              <a:cs typeface="Times New Roman"/>
              <a:sym typeface="Times New Roman"/>
            </a:endParaRPr>
          </a:p>
          <a:p>
            <a:pPr indent="-330200" lvl="0" marL="457200" rtl="0" algn="just">
              <a:lnSpc>
                <a:spcPct val="115000"/>
              </a:lnSpc>
              <a:spcBef>
                <a:spcPts val="0"/>
              </a:spcBef>
              <a:spcAft>
                <a:spcPts val="0"/>
              </a:spcAft>
              <a:buSzPts val="1600"/>
              <a:buFont typeface="Times New Roman"/>
              <a:buChar char="●"/>
            </a:pPr>
            <a:r>
              <a:rPr lang="en-US" sz="1600" u="sng">
                <a:latin typeface="Times New Roman"/>
                <a:ea typeface="Times New Roman"/>
                <a:cs typeface="Times New Roman"/>
                <a:sym typeface="Times New Roman"/>
              </a:rPr>
              <a:t>Machine Learning Libraries</a:t>
            </a:r>
            <a:r>
              <a:rPr lang="en-US" sz="1600">
                <a:latin typeface="Times New Roman"/>
                <a:ea typeface="Times New Roman"/>
                <a:cs typeface="Times New Roman"/>
                <a:sym typeface="Times New Roman"/>
              </a:rPr>
              <a:t>: </a:t>
            </a:r>
            <a:r>
              <a:rPr b="1" lang="en-US" sz="1600">
                <a:latin typeface="Times New Roman"/>
                <a:ea typeface="Times New Roman"/>
                <a:cs typeface="Times New Roman"/>
                <a:sym typeface="Times New Roman"/>
              </a:rPr>
              <a:t>TensorFlow, PyTorch, scikit-learn </a:t>
            </a:r>
            <a:r>
              <a:rPr lang="en-US" sz="1600">
                <a:latin typeface="Times New Roman"/>
                <a:ea typeface="Times New Roman"/>
                <a:cs typeface="Times New Roman"/>
                <a:sym typeface="Times New Roman"/>
              </a:rPr>
              <a:t>for vulnerability detection algorithms and training our model .</a:t>
            </a:r>
            <a:endParaRPr sz="1600">
              <a:latin typeface="Times New Roman"/>
              <a:ea typeface="Times New Roman"/>
              <a:cs typeface="Times New Roman"/>
              <a:sym typeface="Times New Roman"/>
            </a:endParaRPr>
          </a:p>
          <a:p>
            <a:pPr indent="-330200" lvl="0" marL="457200" rtl="0" algn="just">
              <a:lnSpc>
                <a:spcPct val="115000"/>
              </a:lnSpc>
              <a:spcBef>
                <a:spcPts val="0"/>
              </a:spcBef>
              <a:spcAft>
                <a:spcPts val="0"/>
              </a:spcAft>
              <a:buSzPts val="1600"/>
              <a:buFont typeface="Times New Roman"/>
              <a:buChar char="●"/>
            </a:pPr>
            <a:r>
              <a:rPr lang="en-US" sz="1600" u="sng">
                <a:latin typeface="Times New Roman"/>
                <a:ea typeface="Times New Roman"/>
                <a:cs typeface="Times New Roman"/>
                <a:sym typeface="Times New Roman"/>
              </a:rPr>
              <a:t>Natural Language Processing:</a:t>
            </a:r>
            <a:r>
              <a:rPr lang="en-US" sz="1600">
                <a:latin typeface="Times New Roman"/>
                <a:ea typeface="Times New Roman"/>
                <a:cs typeface="Times New Roman"/>
                <a:sym typeface="Times New Roman"/>
              </a:rPr>
              <a:t> LangChain for orchestrating chatbot functionality , utilizing a powerful self-hosted LLM like </a:t>
            </a:r>
            <a:r>
              <a:rPr b="1" lang="en-US" sz="1600">
                <a:latin typeface="Times New Roman"/>
                <a:ea typeface="Times New Roman"/>
                <a:cs typeface="Times New Roman"/>
                <a:sym typeface="Times New Roman"/>
              </a:rPr>
              <a:t>Llama 3 </a:t>
            </a:r>
            <a:r>
              <a:rPr lang="en-US" sz="1600">
                <a:latin typeface="Times New Roman"/>
                <a:ea typeface="Times New Roman"/>
                <a:cs typeface="Times New Roman"/>
                <a:sym typeface="Times New Roman"/>
              </a:rPr>
              <a:t>for generating story-driven explanations , and</a:t>
            </a:r>
            <a:r>
              <a:rPr b="1" lang="en-US" sz="1600">
                <a:latin typeface="Times New Roman"/>
                <a:ea typeface="Times New Roman"/>
                <a:cs typeface="Times New Roman"/>
                <a:sym typeface="Times New Roman"/>
              </a:rPr>
              <a:t> spaCy</a:t>
            </a:r>
            <a:r>
              <a:rPr lang="en-US" sz="1600">
                <a:latin typeface="Times New Roman"/>
                <a:ea typeface="Times New Roman"/>
                <a:cs typeface="Times New Roman"/>
                <a:sym typeface="Times New Roman"/>
              </a:rPr>
              <a:t> for efficient initial query parsing and entity extraction.</a:t>
            </a:r>
            <a:endParaRPr sz="1600">
              <a:latin typeface="Times New Roman"/>
              <a:ea typeface="Times New Roman"/>
              <a:cs typeface="Times New Roman"/>
              <a:sym typeface="Times New Roman"/>
            </a:endParaRPr>
          </a:p>
          <a:p>
            <a:pPr indent="-330200" lvl="0" marL="457200" rtl="0" algn="just">
              <a:lnSpc>
                <a:spcPct val="115000"/>
              </a:lnSpc>
              <a:spcBef>
                <a:spcPts val="0"/>
              </a:spcBef>
              <a:spcAft>
                <a:spcPts val="0"/>
              </a:spcAft>
              <a:buSzPts val="1600"/>
              <a:buFont typeface="Times New Roman"/>
              <a:buChar char="●"/>
            </a:pPr>
            <a:r>
              <a:rPr lang="en-US" sz="1600" u="sng">
                <a:latin typeface="Times New Roman"/>
                <a:ea typeface="Times New Roman"/>
                <a:cs typeface="Times New Roman"/>
                <a:sym typeface="Times New Roman"/>
              </a:rPr>
              <a:t>Frontend Development</a:t>
            </a:r>
            <a:r>
              <a:rPr lang="en-US" sz="1600">
                <a:latin typeface="Times New Roman"/>
                <a:ea typeface="Times New Roman"/>
                <a:cs typeface="Times New Roman"/>
                <a:sym typeface="Times New Roman"/>
              </a:rPr>
              <a:t>: </a:t>
            </a:r>
            <a:r>
              <a:rPr b="1" lang="en-US" sz="1600">
                <a:latin typeface="Times New Roman"/>
                <a:ea typeface="Times New Roman"/>
                <a:cs typeface="Times New Roman"/>
                <a:sym typeface="Times New Roman"/>
              </a:rPr>
              <a:t>React.js </a:t>
            </a:r>
            <a:r>
              <a:rPr lang="en-US" sz="1600">
                <a:latin typeface="Times New Roman"/>
                <a:ea typeface="Times New Roman"/>
                <a:cs typeface="Times New Roman"/>
                <a:sym typeface="Times New Roman"/>
              </a:rPr>
              <a:t>for frame work , </a:t>
            </a:r>
            <a:r>
              <a:rPr b="1" lang="en-US" sz="1600">
                <a:latin typeface="Times New Roman"/>
                <a:ea typeface="Times New Roman"/>
                <a:cs typeface="Times New Roman"/>
                <a:sym typeface="Times New Roman"/>
              </a:rPr>
              <a:t>Rechart </a:t>
            </a:r>
            <a:r>
              <a:rPr lang="en-US" sz="1600">
                <a:latin typeface="Times New Roman"/>
                <a:ea typeface="Times New Roman"/>
                <a:cs typeface="Times New Roman"/>
                <a:sym typeface="Times New Roman"/>
              </a:rPr>
              <a:t>for visualization , </a:t>
            </a:r>
            <a:r>
              <a:rPr b="1" lang="en-US" sz="1600">
                <a:latin typeface="Times New Roman"/>
                <a:ea typeface="Times New Roman"/>
                <a:cs typeface="Times New Roman"/>
                <a:sym typeface="Times New Roman"/>
              </a:rPr>
              <a:t>Redux Toolkit </a:t>
            </a:r>
            <a:r>
              <a:rPr lang="en-US" sz="1600">
                <a:latin typeface="Times New Roman"/>
                <a:ea typeface="Times New Roman"/>
                <a:cs typeface="Times New Roman"/>
                <a:sym typeface="Times New Roman"/>
              </a:rPr>
              <a:t> for real time interactive components and threat detection , </a:t>
            </a:r>
            <a:r>
              <a:rPr b="1" lang="en-US" sz="1600">
                <a:latin typeface="Times New Roman"/>
                <a:ea typeface="Times New Roman"/>
                <a:cs typeface="Times New Roman"/>
                <a:sym typeface="Times New Roman"/>
              </a:rPr>
              <a:t>Material UI of Figma </a:t>
            </a:r>
            <a:r>
              <a:rPr lang="en-US" sz="1600">
                <a:latin typeface="Times New Roman"/>
                <a:ea typeface="Times New Roman"/>
                <a:cs typeface="Times New Roman"/>
                <a:sym typeface="Times New Roman"/>
              </a:rPr>
              <a:t>for ui components.  </a:t>
            </a:r>
            <a:endParaRPr sz="1600">
              <a:latin typeface="Times New Roman"/>
              <a:ea typeface="Times New Roman"/>
              <a:cs typeface="Times New Roman"/>
              <a:sym typeface="Times New Roman"/>
            </a:endParaRPr>
          </a:p>
          <a:p>
            <a:pPr indent="-330200" lvl="0" marL="457200" rtl="0" algn="just">
              <a:lnSpc>
                <a:spcPct val="115000"/>
              </a:lnSpc>
              <a:spcBef>
                <a:spcPts val="0"/>
              </a:spcBef>
              <a:spcAft>
                <a:spcPts val="0"/>
              </a:spcAft>
              <a:buSzPts val="1600"/>
              <a:buFont typeface="Times New Roman"/>
              <a:buChar char="●"/>
            </a:pPr>
            <a:r>
              <a:rPr lang="en-US" sz="1600" u="sng">
                <a:latin typeface="Times New Roman"/>
                <a:ea typeface="Times New Roman"/>
                <a:cs typeface="Times New Roman"/>
                <a:sym typeface="Times New Roman"/>
              </a:rPr>
              <a:t>Database Systems:</a:t>
            </a:r>
            <a:r>
              <a:rPr lang="en-US" sz="1600">
                <a:latin typeface="Times New Roman"/>
                <a:ea typeface="Times New Roman"/>
                <a:cs typeface="Times New Roman"/>
                <a:sym typeface="Times New Roman"/>
              </a:rPr>
              <a:t> </a:t>
            </a:r>
            <a:r>
              <a:rPr b="1" lang="en-US" sz="1600">
                <a:latin typeface="Times New Roman"/>
                <a:ea typeface="Times New Roman"/>
                <a:cs typeface="Times New Roman"/>
                <a:sym typeface="Times New Roman"/>
              </a:rPr>
              <a:t>PostgreSQL </a:t>
            </a:r>
            <a:r>
              <a:rPr lang="en-US" sz="1600">
                <a:latin typeface="Times New Roman"/>
                <a:ea typeface="Times New Roman"/>
                <a:cs typeface="Times New Roman"/>
                <a:sym typeface="Times New Roman"/>
              </a:rPr>
              <a:t>for relational data, </a:t>
            </a:r>
            <a:r>
              <a:rPr b="1" lang="en-US" sz="1600">
                <a:latin typeface="Times New Roman"/>
                <a:ea typeface="Times New Roman"/>
                <a:cs typeface="Times New Roman"/>
                <a:sym typeface="Times New Roman"/>
              </a:rPr>
              <a:t>MongoDB </a:t>
            </a:r>
            <a:r>
              <a:rPr lang="en-US" sz="1600">
                <a:latin typeface="Times New Roman"/>
                <a:ea typeface="Times New Roman"/>
                <a:cs typeface="Times New Roman"/>
                <a:sym typeface="Times New Roman"/>
              </a:rPr>
              <a:t>for vulnerability logs and user customizations.</a:t>
            </a:r>
            <a:endParaRPr sz="1600">
              <a:latin typeface="Times New Roman"/>
              <a:ea typeface="Times New Roman"/>
              <a:cs typeface="Times New Roman"/>
              <a:sym typeface="Times New Roman"/>
            </a:endParaRPr>
          </a:p>
          <a:p>
            <a:pPr indent="-330200" lvl="0" marL="457200" rtl="0" algn="just">
              <a:lnSpc>
                <a:spcPct val="115000"/>
              </a:lnSpc>
              <a:spcBef>
                <a:spcPts val="0"/>
              </a:spcBef>
              <a:spcAft>
                <a:spcPts val="0"/>
              </a:spcAft>
              <a:buSzPts val="1600"/>
              <a:buFont typeface="Times New Roman"/>
              <a:buChar char="●"/>
            </a:pPr>
            <a:r>
              <a:rPr lang="en-US" sz="1600" u="sng">
                <a:latin typeface="Times New Roman"/>
                <a:ea typeface="Times New Roman"/>
                <a:cs typeface="Times New Roman"/>
                <a:sym typeface="Times New Roman"/>
              </a:rPr>
              <a:t>Scanning Engines:</a:t>
            </a:r>
            <a:r>
              <a:rPr lang="en-US" sz="1600">
                <a:latin typeface="Times New Roman"/>
                <a:ea typeface="Times New Roman"/>
                <a:cs typeface="Times New Roman"/>
                <a:sym typeface="Times New Roman"/>
              </a:rPr>
              <a:t> </a:t>
            </a:r>
            <a:r>
              <a:rPr b="1" lang="en-US" sz="1600">
                <a:latin typeface="Times New Roman"/>
                <a:ea typeface="Times New Roman"/>
                <a:cs typeface="Times New Roman"/>
                <a:sym typeface="Times New Roman"/>
              </a:rPr>
              <a:t>OWASP ZAP </a:t>
            </a:r>
            <a:r>
              <a:rPr lang="en-US" sz="1600">
                <a:latin typeface="Times New Roman"/>
                <a:ea typeface="Times New Roman"/>
                <a:cs typeface="Times New Roman"/>
                <a:sym typeface="Times New Roman"/>
              </a:rPr>
              <a:t>for web application vulnerability scanning, </a:t>
            </a:r>
            <a:r>
              <a:rPr b="1" lang="en-US" sz="1600">
                <a:latin typeface="Times New Roman"/>
                <a:ea typeface="Times New Roman"/>
                <a:cs typeface="Times New Roman"/>
                <a:sym typeface="Times New Roman"/>
              </a:rPr>
              <a:t>Nikto</a:t>
            </a:r>
            <a:r>
              <a:rPr lang="en-US" sz="1600">
                <a:latin typeface="Times New Roman"/>
                <a:ea typeface="Times New Roman"/>
                <a:cs typeface="Times New Roman"/>
                <a:sym typeface="Times New Roman"/>
              </a:rPr>
              <a:t> for rapid initial scanning </a:t>
            </a:r>
            <a:r>
              <a:rPr lang="en-US" sz="1600">
                <a:latin typeface="Times New Roman"/>
                <a:ea typeface="Times New Roman"/>
                <a:cs typeface="Times New Roman"/>
                <a:sym typeface="Times New Roman"/>
              </a:rPr>
              <a:t>identifying</a:t>
            </a:r>
            <a:r>
              <a:rPr lang="en-US" sz="1600">
                <a:latin typeface="Times New Roman"/>
                <a:ea typeface="Times New Roman"/>
                <a:cs typeface="Times New Roman"/>
                <a:sym typeface="Times New Roman"/>
              </a:rPr>
              <a:t> known vulnerabilities and common misconfigurations on the web server itself , and custom build scanning models .</a:t>
            </a:r>
            <a:endParaRPr sz="1600">
              <a:latin typeface="Times New Roman"/>
              <a:ea typeface="Times New Roman"/>
              <a:cs typeface="Times New Roman"/>
              <a:sym typeface="Times New Roman"/>
            </a:endParaRPr>
          </a:p>
          <a:p>
            <a:pPr indent="-330200" lvl="0" marL="457200" rtl="0" algn="just">
              <a:lnSpc>
                <a:spcPct val="115000"/>
              </a:lnSpc>
              <a:spcBef>
                <a:spcPts val="0"/>
              </a:spcBef>
              <a:spcAft>
                <a:spcPts val="0"/>
              </a:spcAft>
              <a:buSzPts val="1600"/>
              <a:buFont typeface="Times New Roman"/>
              <a:buChar char="●"/>
            </a:pPr>
            <a:r>
              <a:rPr lang="en-US" sz="1600" u="sng">
                <a:latin typeface="Times New Roman"/>
                <a:ea typeface="Times New Roman"/>
                <a:cs typeface="Times New Roman"/>
                <a:sym typeface="Times New Roman"/>
              </a:rPr>
              <a:t>Authentication</a:t>
            </a:r>
            <a:r>
              <a:rPr lang="en-US" sz="1600">
                <a:latin typeface="Times New Roman"/>
                <a:ea typeface="Times New Roman"/>
                <a:cs typeface="Times New Roman"/>
                <a:sym typeface="Times New Roman"/>
              </a:rPr>
              <a:t>:</a:t>
            </a:r>
            <a:r>
              <a:rPr b="1" lang="en-US" sz="1600">
                <a:latin typeface="Times New Roman"/>
                <a:ea typeface="Times New Roman"/>
                <a:cs typeface="Times New Roman"/>
                <a:sym typeface="Times New Roman"/>
              </a:rPr>
              <a:t> JWT tokens</a:t>
            </a:r>
            <a:r>
              <a:rPr lang="en-US" sz="1600">
                <a:latin typeface="Times New Roman"/>
                <a:ea typeface="Times New Roman"/>
                <a:cs typeface="Times New Roman"/>
                <a:sym typeface="Times New Roman"/>
              </a:rPr>
              <a:t> will be used to authenticate API requests , </a:t>
            </a:r>
            <a:r>
              <a:rPr b="1" lang="en-US" sz="1600">
                <a:latin typeface="Times New Roman"/>
                <a:ea typeface="Times New Roman"/>
                <a:cs typeface="Times New Roman"/>
                <a:sym typeface="Times New Roman"/>
              </a:rPr>
              <a:t>OAuth 2.0 </a:t>
            </a:r>
            <a:r>
              <a:rPr lang="en-US" sz="1600">
                <a:latin typeface="Times New Roman"/>
                <a:ea typeface="Times New Roman"/>
                <a:cs typeface="Times New Roman"/>
                <a:sym typeface="Times New Roman"/>
              </a:rPr>
              <a:t>will serve as the framework for authorization and potential third-party logins.</a:t>
            </a:r>
            <a:endParaRPr sz="1600">
              <a:latin typeface="Times New Roman"/>
              <a:ea typeface="Times New Roman"/>
              <a:cs typeface="Times New Roman"/>
              <a:sym typeface="Times New Roman"/>
            </a:endParaRPr>
          </a:p>
          <a:p>
            <a:pPr indent="-330200" lvl="0" marL="457200" rtl="0" algn="just">
              <a:lnSpc>
                <a:spcPct val="115000"/>
              </a:lnSpc>
              <a:spcBef>
                <a:spcPts val="0"/>
              </a:spcBef>
              <a:spcAft>
                <a:spcPts val="0"/>
              </a:spcAft>
              <a:buSzPts val="1600"/>
              <a:buFont typeface="Times New Roman"/>
              <a:buChar char="●"/>
            </a:pPr>
            <a:r>
              <a:rPr lang="en-US" sz="1600" u="sng">
                <a:latin typeface="Times New Roman"/>
                <a:ea typeface="Times New Roman"/>
                <a:cs typeface="Times New Roman"/>
                <a:sym typeface="Times New Roman"/>
              </a:rPr>
              <a:t>Development Environment</a:t>
            </a:r>
            <a:r>
              <a:rPr lang="en-US" sz="1600">
                <a:latin typeface="Times New Roman"/>
                <a:ea typeface="Times New Roman"/>
                <a:cs typeface="Times New Roman"/>
                <a:sym typeface="Times New Roman"/>
              </a:rPr>
              <a:t>: </a:t>
            </a:r>
            <a:r>
              <a:rPr b="1" lang="en-US" sz="1600">
                <a:latin typeface="Times New Roman"/>
                <a:ea typeface="Times New Roman"/>
                <a:cs typeface="Times New Roman"/>
                <a:sym typeface="Times New Roman"/>
              </a:rPr>
              <a:t>VS code</a:t>
            </a:r>
            <a:r>
              <a:rPr lang="en-US" sz="1600">
                <a:latin typeface="Times New Roman"/>
                <a:ea typeface="Times New Roman"/>
                <a:cs typeface="Times New Roman"/>
                <a:sym typeface="Times New Roman"/>
              </a:rPr>
              <a:t> for coding and </a:t>
            </a:r>
            <a:r>
              <a:rPr b="1" lang="en-US" sz="1600">
                <a:latin typeface="Times New Roman"/>
                <a:ea typeface="Times New Roman"/>
                <a:cs typeface="Times New Roman"/>
                <a:sym typeface="Times New Roman"/>
              </a:rPr>
              <a:t>Git-Hub </a:t>
            </a:r>
            <a:r>
              <a:rPr lang="en-US" sz="1600">
                <a:latin typeface="Times New Roman"/>
                <a:ea typeface="Times New Roman"/>
                <a:cs typeface="Times New Roman"/>
                <a:sym typeface="Times New Roman"/>
              </a:rPr>
              <a:t>for organising and saving code files in repositories </a:t>
            </a:r>
            <a:endParaRPr sz="1600">
              <a:latin typeface="Times New Roman"/>
              <a:ea typeface="Times New Roman"/>
              <a:cs typeface="Times New Roman"/>
              <a:sym typeface="Times New Roman"/>
            </a:endParaRPr>
          </a:p>
        </p:txBody>
      </p:sp>
      <p:sp>
        <p:nvSpPr>
          <p:cNvPr id="240" name="Google Shape;240;p42"/>
          <p:cNvSpPr txBox="1"/>
          <p:nvPr>
            <p:ph type="title"/>
          </p:nvPr>
        </p:nvSpPr>
        <p:spPr>
          <a:xfrm>
            <a:off x="0" y="0"/>
            <a:ext cx="9144000" cy="894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Software Requirements</a:t>
            </a:r>
            <a:endParaRPr/>
          </a:p>
        </p:txBody>
      </p:sp>
      <p:sp>
        <p:nvSpPr>
          <p:cNvPr id="241" name="Google Shape;241;p42"/>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10</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3"/>
          <p:cNvSpPr txBox="1"/>
          <p:nvPr>
            <p:ph type="title"/>
          </p:nvPr>
        </p:nvSpPr>
        <p:spPr>
          <a:xfrm>
            <a:off x="0" y="0"/>
            <a:ext cx="9144000" cy="9348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Integration of AI &amp; Cyber Security</a:t>
            </a:r>
            <a:endParaRPr b="1">
              <a:latin typeface="Times New Roman"/>
              <a:ea typeface="Times New Roman"/>
              <a:cs typeface="Times New Roman"/>
              <a:sym typeface="Times New Roman"/>
            </a:endParaRPr>
          </a:p>
        </p:txBody>
      </p:sp>
      <p:sp>
        <p:nvSpPr>
          <p:cNvPr id="248" name="Google Shape;248;p43"/>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11</a:t>
            </a:r>
            <a:endParaRPr/>
          </a:p>
        </p:txBody>
      </p:sp>
      <p:sp>
        <p:nvSpPr>
          <p:cNvPr id="249" name="Google Shape;249;p43"/>
          <p:cNvSpPr txBox="1"/>
          <p:nvPr/>
        </p:nvSpPr>
        <p:spPr>
          <a:xfrm>
            <a:off x="447525" y="934800"/>
            <a:ext cx="8239200" cy="5011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Integrating AI with cybersecurity provides:-</a:t>
            </a:r>
            <a:endParaRPr sz="16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600"/>
              </a:spcBef>
              <a:spcAft>
                <a:spcPts val="0"/>
              </a:spcAft>
              <a:buClr>
                <a:schemeClr val="dk1"/>
              </a:buClr>
              <a:buSzPts val="1600"/>
              <a:buFont typeface="Times New Roman"/>
              <a:buChar char="●"/>
            </a:pPr>
            <a:r>
              <a:rPr b="1" lang="en-US" sz="1600" u="sng">
                <a:solidFill>
                  <a:schemeClr val="dk1"/>
                </a:solidFill>
                <a:latin typeface="Times New Roman"/>
                <a:ea typeface="Times New Roman"/>
                <a:cs typeface="Times New Roman"/>
                <a:sym typeface="Times New Roman"/>
              </a:rPr>
              <a:t>Spots Hidden Threats:</a:t>
            </a:r>
            <a:r>
              <a:rPr lang="en-US" sz="1600">
                <a:solidFill>
                  <a:schemeClr val="dk1"/>
                </a:solidFill>
                <a:latin typeface="Times New Roman"/>
                <a:ea typeface="Times New Roman"/>
                <a:cs typeface="Times New Roman"/>
                <a:sym typeface="Times New Roman"/>
              </a:rPr>
              <a:t> The AI constantly sifts through your network data to </a:t>
            </a:r>
            <a:r>
              <a:rPr b="1" lang="en-US" sz="1600">
                <a:solidFill>
                  <a:schemeClr val="dk1"/>
                </a:solidFill>
                <a:latin typeface="Times New Roman"/>
                <a:ea typeface="Times New Roman"/>
                <a:cs typeface="Times New Roman"/>
                <a:sym typeface="Times New Roman"/>
              </a:rPr>
              <a:t>find suspicious patterns </a:t>
            </a:r>
            <a:r>
              <a:rPr lang="en-US" sz="1600">
                <a:solidFill>
                  <a:schemeClr val="dk1"/>
                </a:solidFill>
                <a:latin typeface="Times New Roman"/>
                <a:ea typeface="Times New Roman"/>
                <a:cs typeface="Times New Roman"/>
                <a:sym typeface="Times New Roman"/>
              </a:rPr>
              <a:t>and</a:t>
            </a:r>
            <a:r>
              <a:rPr b="1" lang="en-US" sz="1600">
                <a:solidFill>
                  <a:schemeClr val="dk1"/>
                </a:solidFill>
                <a:latin typeface="Times New Roman"/>
                <a:ea typeface="Times New Roman"/>
                <a:cs typeface="Times New Roman"/>
                <a:sym typeface="Times New Roman"/>
              </a:rPr>
              <a:t> predict attacks</a:t>
            </a:r>
            <a:r>
              <a:rPr lang="en-US" sz="1600">
                <a:solidFill>
                  <a:schemeClr val="dk1"/>
                </a:solidFill>
                <a:latin typeface="Times New Roman"/>
                <a:ea typeface="Times New Roman"/>
                <a:cs typeface="Times New Roman"/>
                <a:sym typeface="Times New Roman"/>
              </a:rPr>
              <a:t> before they happen.</a:t>
            </a:r>
            <a:endParaRPr sz="1600">
              <a:solidFill>
                <a:schemeClr val="dk1"/>
              </a:solidFill>
              <a:latin typeface="Times New Roman"/>
              <a:ea typeface="Times New Roman"/>
              <a:cs typeface="Times New Roman"/>
              <a:sym typeface="Times New Roman"/>
            </a:endParaRPr>
          </a:p>
          <a:p>
            <a:pPr indent="0" lvl="0" marL="457200" rtl="0" algn="just">
              <a:lnSpc>
                <a:spcPct val="115000"/>
              </a:lnSpc>
              <a:spcBef>
                <a:spcPts val="600"/>
              </a:spcBef>
              <a:spcAft>
                <a:spcPts val="0"/>
              </a:spcAft>
              <a:buNone/>
            </a:pPr>
            <a:r>
              <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600"/>
              </a:spcBef>
              <a:spcAft>
                <a:spcPts val="0"/>
              </a:spcAft>
              <a:buClr>
                <a:schemeClr val="dk1"/>
              </a:buClr>
              <a:buSzPts val="1600"/>
              <a:buFont typeface="Times New Roman"/>
              <a:buChar char="●"/>
            </a:pPr>
            <a:r>
              <a:rPr b="1" lang="en-US" sz="1600" u="sng">
                <a:solidFill>
                  <a:schemeClr val="dk1"/>
                </a:solidFill>
                <a:latin typeface="Times New Roman"/>
                <a:ea typeface="Times New Roman"/>
                <a:cs typeface="Times New Roman"/>
                <a:sym typeface="Times New Roman"/>
              </a:rPr>
              <a:t>Acts Instantly to Stop Attacks</a:t>
            </a:r>
            <a:r>
              <a:rPr b="1" lang="en-US" sz="1600">
                <a:solidFill>
                  <a:schemeClr val="dk1"/>
                </a:solidFill>
                <a:latin typeface="Times New Roman"/>
                <a:ea typeface="Times New Roman"/>
                <a:cs typeface="Times New Roman"/>
                <a:sym typeface="Times New Roman"/>
              </a:rPr>
              <a:t>:</a:t>
            </a:r>
            <a:r>
              <a:rPr lang="en-US" sz="1600">
                <a:solidFill>
                  <a:schemeClr val="dk1"/>
                </a:solidFill>
                <a:latin typeface="Times New Roman"/>
                <a:ea typeface="Times New Roman"/>
                <a:cs typeface="Times New Roman"/>
                <a:sym typeface="Times New Roman"/>
              </a:rPr>
              <a:t> The moment a threat is found, the </a:t>
            </a:r>
            <a:r>
              <a:rPr b="1" lang="en-US" sz="1600">
                <a:solidFill>
                  <a:schemeClr val="dk1"/>
                </a:solidFill>
                <a:latin typeface="Times New Roman"/>
                <a:ea typeface="Times New Roman"/>
                <a:cs typeface="Times New Roman"/>
                <a:sym typeface="Times New Roman"/>
              </a:rPr>
              <a:t>AI can automatically take action to block malicious traffic </a:t>
            </a:r>
            <a:r>
              <a:rPr lang="en-US" sz="1600">
                <a:solidFill>
                  <a:schemeClr val="dk1"/>
                </a:solidFill>
                <a:latin typeface="Times New Roman"/>
                <a:ea typeface="Times New Roman"/>
                <a:cs typeface="Times New Roman"/>
                <a:sym typeface="Times New Roman"/>
              </a:rPr>
              <a:t>or begin other security measures.</a:t>
            </a:r>
            <a:endParaRPr sz="1600">
              <a:solidFill>
                <a:schemeClr val="dk1"/>
              </a:solidFill>
              <a:latin typeface="Times New Roman"/>
              <a:ea typeface="Times New Roman"/>
              <a:cs typeface="Times New Roman"/>
              <a:sym typeface="Times New Roman"/>
            </a:endParaRPr>
          </a:p>
          <a:p>
            <a:pPr indent="0" lvl="0" marL="457200" rtl="0" algn="just">
              <a:lnSpc>
                <a:spcPct val="115000"/>
              </a:lnSpc>
              <a:spcBef>
                <a:spcPts val="600"/>
              </a:spcBef>
              <a:spcAft>
                <a:spcPts val="0"/>
              </a:spcAft>
              <a:buNone/>
            </a:pPr>
            <a:r>
              <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600"/>
              </a:spcBef>
              <a:spcAft>
                <a:spcPts val="0"/>
              </a:spcAft>
              <a:buClr>
                <a:schemeClr val="dk1"/>
              </a:buClr>
              <a:buSzPts val="1600"/>
              <a:buFont typeface="Times New Roman"/>
              <a:buChar char="●"/>
            </a:pPr>
            <a:r>
              <a:rPr b="1" lang="en-US" sz="1600" u="sng">
                <a:solidFill>
                  <a:schemeClr val="dk1"/>
                </a:solidFill>
                <a:latin typeface="Times New Roman"/>
                <a:ea typeface="Times New Roman"/>
                <a:cs typeface="Times New Roman"/>
                <a:sym typeface="Times New Roman"/>
              </a:rPr>
              <a:t>Focuses on What Matters Most:</a:t>
            </a:r>
            <a:r>
              <a:rPr lang="en-US" sz="1600">
                <a:solidFill>
                  <a:schemeClr val="dk1"/>
                </a:solidFill>
                <a:latin typeface="Times New Roman"/>
                <a:ea typeface="Times New Roman"/>
                <a:cs typeface="Times New Roman"/>
                <a:sym typeface="Times New Roman"/>
              </a:rPr>
              <a:t> It </a:t>
            </a:r>
            <a:r>
              <a:rPr b="1" lang="en-US" sz="1600">
                <a:solidFill>
                  <a:schemeClr val="dk1"/>
                </a:solidFill>
                <a:latin typeface="Times New Roman"/>
                <a:ea typeface="Times New Roman"/>
                <a:cs typeface="Times New Roman"/>
                <a:sym typeface="Times New Roman"/>
              </a:rPr>
              <a:t>intelligently prioritizes threats</a:t>
            </a:r>
            <a:r>
              <a:rPr lang="en-US" sz="1600">
                <a:solidFill>
                  <a:schemeClr val="dk1"/>
                </a:solidFill>
                <a:latin typeface="Times New Roman"/>
                <a:ea typeface="Times New Roman"/>
                <a:cs typeface="Times New Roman"/>
                <a:sym typeface="Times New Roman"/>
              </a:rPr>
              <a:t>, allowing you to focus your energy on the most critical security issues first.</a:t>
            </a:r>
            <a:endParaRPr sz="1600">
              <a:solidFill>
                <a:schemeClr val="dk1"/>
              </a:solidFill>
              <a:latin typeface="Times New Roman"/>
              <a:ea typeface="Times New Roman"/>
              <a:cs typeface="Times New Roman"/>
              <a:sym typeface="Times New Roman"/>
            </a:endParaRPr>
          </a:p>
          <a:p>
            <a:pPr indent="0" lvl="0" marL="457200" rtl="0" algn="just">
              <a:lnSpc>
                <a:spcPct val="115000"/>
              </a:lnSpc>
              <a:spcBef>
                <a:spcPts val="600"/>
              </a:spcBef>
              <a:spcAft>
                <a:spcPts val="0"/>
              </a:spcAft>
              <a:buNone/>
            </a:pPr>
            <a:r>
              <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600"/>
              </a:spcBef>
              <a:spcAft>
                <a:spcPts val="0"/>
              </a:spcAft>
              <a:buClr>
                <a:schemeClr val="dk1"/>
              </a:buClr>
              <a:buSzPts val="1600"/>
              <a:buFont typeface="Times New Roman"/>
              <a:buChar char="●"/>
            </a:pPr>
            <a:r>
              <a:rPr b="1" lang="en-US" sz="1600" u="sng">
                <a:solidFill>
                  <a:schemeClr val="dk1"/>
                </a:solidFill>
                <a:latin typeface="Times New Roman"/>
                <a:ea typeface="Times New Roman"/>
                <a:cs typeface="Times New Roman"/>
                <a:sym typeface="Times New Roman"/>
              </a:rPr>
              <a:t>Connects the Dots</a:t>
            </a:r>
            <a:r>
              <a:rPr lang="en-US" sz="1600" u="sng">
                <a:solidFill>
                  <a:schemeClr val="dk1"/>
                </a:solidFill>
                <a:latin typeface="Times New Roman"/>
                <a:ea typeface="Times New Roman"/>
                <a:cs typeface="Times New Roman"/>
                <a:sym typeface="Times New Roman"/>
              </a:rPr>
              <a:t>: </a:t>
            </a:r>
            <a:r>
              <a:rPr lang="en-US" sz="1600">
                <a:solidFill>
                  <a:schemeClr val="dk1"/>
                </a:solidFill>
                <a:latin typeface="Times New Roman"/>
                <a:ea typeface="Times New Roman"/>
                <a:cs typeface="Times New Roman"/>
                <a:sym typeface="Times New Roman"/>
              </a:rPr>
              <a:t>The AI </a:t>
            </a:r>
            <a:r>
              <a:rPr b="1" lang="en-US" sz="1600">
                <a:solidFill>
                  <a:schemeClr val="dk1"/>
                </a:solidFill>
                <a:latin typeface="Times New Roman"/>
                <a:ea typeface="Times New Roman"/>
                <a:cs typeface="Times New Roman"/>
                <a:sym typeface="Times New Roman"/>
              </a:rPr>
              <a:t>analyzes data from multiple sources </a:t>
            </a:r>
            <a:r>
              <a:rPr lang="en-US" sz="1600">
                <a:solidFill>
                  <a:schemeClr val="dk1"/>
                </a:solidFill>
                <a:latin typeface="Times New Roman"/>
                <a:ea typeface="Times New Roman"/>
                <a:cs typeface="Times New Roman"/>
                <a:sym typeface="Times New Roman"/>
              </a:rPr>
              <a:t>at once to give you a complete picture of a potential threat. In this project, the AI modules are designed to process real-time network traffic, flag suspicious activity, and even auto-mitigate threats.</a:t>
            </a:r>
            <a:endParaRPr sz="1600">
              <a:solidFill>
                <a:schemeClr val="dk1"/>
              </a:solidFill>
              <a:latin typeface="Times New Roman"/>
              <a:ea typeface="Times New Roman"/>
              <a:cs typeface="Times New Roman"/>
              <a:sym typeface="Times New Roman"/>
            </a:endParaRPr>
          </a:p>
          <a:p>
            <a:pPr indent="0" lvl="0" marL="457200" rtl="0" algn="just">
              <a:lnSpc>
                <a:spcPct val="115000"/>
              </a:lnSpc>
              <a:spcBef>
                <a:spcPts val="600"/>
              </a:spcBef>
              <a:spcAft>
                <a:spcPts val="60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4"/>
          <p:cNvSpPr txBox="1"/>
          <p:nvPr>
            <p:ph type="title"/>
          </p:nvPr>
        </p:nvSpPr>
        <p:spPr>
          <a:xfrm>
            <a:off x="914400" y="80263"/>
            <a:ext cx="8229600" cy="639900"/>
          </a:xfrm>
          <a:prstGeom prst="rect">
            <a:avLst/>
          </a:prstGeom>
        </p:spPr>
        <p:txBody>
          <a:bodyPr anchorCtr="0" anchor="ctr" bIns="45700" lIns="91425" spcFirstLastPara="1" rIns="91425" wrap="square" tIns="45700">
            <a:noAutofit/>
          </a:bodyPr>
          <a:lstStyle/>
          <a:p>
            <a:pPr indent="0" lvl="0" marL="342900" rtl="0" algn="l">
              <a:lnSpc>
                <a:spcPct val="115000"/>
              </a:lnSpc>
              <a:spcBef>
                <a:spcPts val="500"/>
              </a:spcBef>
              <a:spcAft>
                <a:spcPts val="0"/>
              </a:spcAft>
              <a:buNone/>
            </a:pPr>
            <a:r>
              <a:rPr b="1" lang="en-US">
                <a:solidFill>
                  <a:schemeClr val="dk1"/>
                </a:solidFill>
                <a:latin typeface="Times New Roman"/>
                <a:ea typeface="Times New Roman"/>
                <a:cs typeface="Times New Roman"/>
                <a:sym typeface="Times New Roman"/>
              </a:rPr>
              <a:t>Vulnerabilities That We Aim To Solve</a:t>
            </a:r>
            <a:endParaRPr sz="4400"/>
          </a:p>
        </p:txBody>
      </p:sp>
      <p:sp>
        <p:nvSpPr>
          <p:cNvPr id="256" name="Google Shape;256;p44"/>
          <p:cNvSpPr txBox="1"/>
          <p:nvPr/>
        </p:nvSpPr>
        <p:spPr>
          <a:xfrm>
            <a:off x="447525" y="913000"/>
            <a:ext cx="8229600" cy="5529000"/>
          </a:xfrm>
          <a:prstGeom prst="rect">
            <a:avLst/>
          </a:prstGeom>
          <a:noFill/>
          <a:ln>
            <a:noFill/>
          </a:ln>
        </p:spPr>
        <p:txBody>
          <a:bodyPr anchorCtr="0" anchor="t" bIns="91425" lIns="91425" spcFirstLastPara="1" rIns="91425" wrap="square" tIns="91425">
            <a:spAutoFit/>
          </a:bodyPr>
          <a:lstStyle/>
          <a:p>
            <a:pPr indent="-330200" lvl="0" marL="457200" rtl="0" algn="just">
              <a:lnSpc>
                <a:spcPct val="115000"/>
              </a:lnSpc>
              <a:spcBef>
                <a:spcPts val="0"/>
              </a:spcBef>
              <a:spcAft>
                <a:spcPts val="0"/>
              </a:spcAft>
              <a:buClr>
                <a:schemeClr val="dk1"/>
              </a:buClr>
              <a:buSzPts val="1600"/>
              <a:buChar char="●"/>
            </a:pPr>
            <a:r>
              <a:rPr b="1" lang="en-US" sz="1600" u="sng">
                <a:solidFill>
                  <a:schemeClr val="dk1"/>
                </a:solidFill>
                <a:latin typeface="Times New Roman"/>
                <a:ea typeface="Times New Roman"/>
                <a:cs typeface="Times New Roman"/>
                <a:sym typeface="Times New Roman"/>
              </a:rPr>
              <a:t>XSS (Cross-Site Scripting) &amp; CSRF (Cross-Site Request Forgery)</a:t>
            </a:r>
            <a:r>
              <a:rPr b="1" lang="en-US" sz="1600">
                <a:solidFill>
                  <a:schemeClr val="dk1"/>
                </a:solidFill>
                <a:latin typeface="Times New Roman"/>
                <a:ea typeface="Times New Roman"/>
                <a:cs typeface="Times New Roman"/>
                <a:sym typeface="Times New Roman"/>
              </a:rPr>
              <a:t>: XSS</a:t>
            </a:r>
            <a:r>
              <a:rPr lang="en-US" sz="1600">
                <a:solidFill>
                  <a:schemeClr val="dk1"/>
                </a:solidFill>
                <a:latin typeface="Times New Roman"/>
                <a:ea typeface="Times New Roman"/>
                <a:cs typeface="Times New Roman"/>
                <a:sym typeface="Times New Roman"/>
              </a:rPr>
              <a:t> allows attackers to inject malicious scripts into a website viewed by other users, potentially stealing data or hijacking sessions. </a:t>
            </a:r>
            <a:r>
              <a:rPr b="1" lang="en-US" sz="1600">
                <a:solidFill>
                  <a:schemeClr val="dk1"/>
                </a:solidFill>
                <a:latin typeface="Times New Roman"/>
                <a:ea typeface="Times New Roman"/>
                <a:cs typeface="Times New Roman"/>
                <a:sym typeface="Times New Roman"/>
              </a:rPr>
              <a:t>CSRF</a:t>
            </a:r>
            <a:r>
              <a:rPr lang="en-US" sz="1600">
                <a:solidFill>
                  <a:schemeClr val="dk1"/>
                </a:solidFill>
                <a:latin typeface="Times New Roman"/>
                <a:ea typeface="Times New Roman"/>
                <a:cs typeface="Times New Roman"/>
                <a:sym typeface="Times New Roman"/>
              </a:rPr>
              <a:t> tricks a logged-in user into performing unwanted actions on a web application (e.g., changing their email or transferring funds).</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Char char="●"/>
            </a:pPr>
            <a:r>
              <a:rPr b="1" lang="en-US" sz="1600" u="sng">
                <a:solidFill>
                  <a:schemeClr val="dk1"/>
                </a:solidFill>
                <a:latin typeface="Times New Roman"/>
                <a:ea typeface="Times New Roman"/>
                <a:cs typeface="Times New Roman"/>
                <a:sym typeface="Times New Roman"/>
              </a:rPr>
              <a:t>SQL Injection </a:t>
            </a:r>
            <a:r>
              <a:rPr b="1" lang="en-US" sz="1600" u="sng">
                <a:solidFill>
                  <a:schemeClr val="dk1"/>
                </a:solidFill>
                <a:latin typeface="Times New Roman"/>
                <a:ea typeface="Times New Roman"/>
                <a:cs typeface="Times New Roman"/>
                <a:sym typeface="Times New Roman"/>
              </a:rPr>
              <a:t>(SQLi)</a:t>
            </a:r>
            <a:r>
              <a:rPr b="1" lang="en-US" sz="1600">
                <a:solidFill>
                  <a:schemeClr val="dk1"/>
                </a:solidFill>
                <a:latin typeface="Times New Roman"/>
                <a:ea typeface="Times New Roman"/>
                <a:cs typeface="Times New Roman"/>
                <a:sym typeface="Times New Roman"/>
              </a:rPr>
              <a:t>: </a:t>
            </a:r>
            <a:r>
              <a:rPr lang="en-US" sz="1600">
                <a:solidFill>
                  <a:schemeClr val="dk1"/>
                </a:solidFill>
                <a:latin typeface="Times New Roman"/>
                <a:ea typeface="Times New Roman"/>
                <a:cs typeface="Times New Roman"/>
                <a:sym typeface="Times New Roman"/>
              </a:rPr>
              <a:t>Attackers inject malicious SQL code into input fields, allowing them to view, modify, or delete data in the application's database, leading to </a:t>
            </a:r>
            <a:r>
              <a:rPr b="1" lang="en-US" sz="1600">
                <a:solidFill>
                  <a:schemeClr val="dk1"/>
                </a:solidFill>
                <a:latin typeface="Times New Roman"/>
                <a:ea typeface="Times New Roman"/>
                <a:cs typeface="Times New Roman"/>
                <a:sym typeface="Times New Roman"/>
              </a:rPr>
              <a:t>data theft</a:t>
            </a:r>
            <a:r>
              <a:rPr lang="en-US" sz="1600">
                <a:solidFill>
                  <a:schemeClr val="dk1"/>
                </a:solidFill>
                <a:latin typeface="Times New Roman"/>
                <a:ea typeface="Times New Roman"/>
                <a:cs typeface="Times New Roman"/>
                <a:sym typeface="Times New Roman"/>
              </a:rPr>
              <a:t> or </a:t>
            </a:r>
            <a:r>
              <a:rPr b="1" lang="en-US" sz="1600">
                <a:solidFill>
                  <a:schemeClr val="dk1"/>
                </a:solidFill>
                <a:latin typeface="Times New Roman"/>
                <a:ea typeface="Times New Roman"/>
                <a:cs typeface="Times New Roman"/>
                <a:sym typeface="Times New Roman"/>
              </a:rPr>
              <a:t>loss of integrity.</a:t>
            </a:r>
            <a:endParaRPr b="1"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Char char="●"/>
            </a:pPr>
            <a:r>
              <a:rPr b="1" lang="en-US" sz="1600" u="sng">
                <a:solidFill>
                  <a:schemeClr val="dk1"/>
                </a:solidFill>
                <a:latin typeface="Times New Roman"/>
                <a:ea typeface="Times New Roman"/>
                <a:cs typeface="Times New Roman"/>
                <a:sym typeface="Times New Roman"/>
              </a:rPr>
              <a:t>Buffer Overflow</a:t>
            </a:r>
            <a:r>
              <a:rPr lang="en-US" sz="1600">
                <a:solidFill>
                  <a:schemeClr val="dk1"/>
                </a:solidFill>
                <a:latin typeface="Times New Roman"/>
                <a:ea typeface="Times New Roman"/>
                <a:cs typeface="Times New Roman"/>
                <a:sym typeface="Times New Roman"/>
              </a:rPr>
              <a:t>: Occurs when a program tries to write more data to a fixed-length memory block (</a:t>
            </a:r>
            <a:r>
              <a:rPr b="1" lang="en-US" sz="1600">
                <a:solidFill>
                  <a:schemeClr val="dk1"/>
                </a:solidFill>
                <a:latin typeface="Times New Roman"/>
                <a:ea typeface="Times New Roman"/>
                <a:cs typeface="Times New Roman"/>
                <a:sym typeface="Times New Roman"/>
              </a:rPr>
              <a:t>buffer</a:t>
            </a:r>
            <a:r>
              <a:rPr lang="en-US" sz="1600">
                <a:solidFill>
                  <a:schemeClr val="dk1"/>
                </a:solidFill>
                <a:latin typeface="Times New Roman"/>
                <a:ea typeface="Times New Roman"/>
                <a:cs typeface="Times New Roman"/>
                <a:sym typeface="Times New Roman"/>
              </a:rPr>
              <a:t>) than it can hold. This can </a:t>
            </a:r>
            <a:r>
              <a:rPr b="1" lang="en-US" sz="1600">
                <a:solidFill>
                  <a:schemeClr val="dk1"/>
                </a:solidFill>
                <a:latin typeface="Times New Roman"/>
                <a:ea typeface="Times New Roman"/>
                <a:cs typeface="Times New Roman"/>
                <a:sym typeface="Times New Roman"/>
              </a:rPr>
              <a:t>corrupt adjacent data</a:t>
            </a:r>
            <a:r>
              <a:rPr lang="en-US" sz="1600">
                <a:solidFill>
                  <a:schemeClr val="dk1"/>
                </a:solidFill>
                <a:latin typeface="Times New Roman"/>
                <a:ea typeface="Times New Roman"/>
                <a:cs typeface="Times New Roman"/>
                <a:sym typeface="Times New Roman"/>
              </a:rPr>
              <a:t> or allow an attacker to </a:t>
            </a:r>
            <a:r>
              <a:rPr b="1" lang="en-US" sz="1600">
                <a:solidFill>
                  <a:schemeClr val="dk1"/>
                </a:solidFill>
                <a:latin typeface="Times New Roman"/>
                <a:ea typeface="Times New Roman"/>
                <a:cs typeface="Times New Roman"/>
                <a:sym typeface="Times New Roman"/>
              </a:rPr>
              <a:t>execute malicious code</a:t>
            </a:r>
            <a:r>
              <a:rPr lang="en-US" sz="1600">
                <a:solidFill>
                  <a:schemeClr val="dk1"/>
                </a:solidFill>
                <a:latin typeface="Times New Roman"/>
                <a:ea typeface="Times New Roman"/>
                <a:cs typeface="Times New Roman"/>
                <a:sym typeface="Times New Roman"/>
              </a:rPr>
              <a:t>.</a:t>
            </a:r>
            <a:endParaRPr b="1"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0"/>
              </a:spcBef>
              <a:spcAft>
                <a:spcPts val="0"/>
              </a:spcAft>
              <a:buSzPts val="1600"/>
              <a:buChar char="●"/>
            </a:pPr>
            <a:r>
              <a:rPr b="1" lang="en-US" sz="1600" u="sng">
                <a:solidFill>
                  <a:schemeClr val="dk1"/>
                </a:solidFill>
                <a:latin typeface="Times New Roman"/>
                <a:ea typeface="Times New Roman"/>
                <a:cs typeface="Times New Roman"/>
                <a:sym typeface="Times New Roman"/>
              </a:rPr>
              <a:t>Vulnerable &amp; Outdated Components</a:t>
            </a:r>
            <a:r>
              <a:rPr b="1" lang="en-US" sz="1600">
                <a:solidFill>
                  <a:schemeClr val="dk1"/>
                </a:solidFill>
                <a:latin typeface="Times New Roman"/>
                <a:ea typeface="Times New Roman"/>
                <a:cs typeface="Times New Roman"/>
                <a:sym typeface="Times New Roman"/>
              </a:rPr>
              <a:t>:</a:t>
            </a:r>
            <a:r>
              <a:rPr lang="en-US" sz="1600">
                <a:latin typeface="Times New Roman"/>
                <a:ea typeface="Times New Roman"/>
                <a:cs typeface="Times New Roman"/>
                <a:sym typeface="Times New Roman"/>
              </a:rPr>
              <a:t> </a:t>
            </a:r>
            <a:r>
              <a:rPr lang="en-US" sz="1600">
                <a:solidFill>
                  <a:schemeClr val="dk1"/>
                </a:solidFill>
                <a:latin typeface="Times New Roman"/>
                <a:ea typeface="Times New Roman"/>
                <a:cs typeface="Times New Roman"/>
                <a:sym typeface="Times New Roman"/>
              </a:rPr>
              <a:t>Using libraries, frameworks, or other software components with known </a:t>
            </a:r>
            <a:r>
              <a:rPr b="1" lang="en-US" sz="1600">
                <a:solidFill>
                  <a:schemeClr val="dk1"/>
                </a:solidFill>
                <a:latin typeface="Times New Roman"/>
                <a:ea typeface="Times New Roman"/>
                <a:cs typeface="Times New Roman"/>
                <a:sym typeface="Times New Roman"/>
              </a:rPr>
              <a:t>security flaws</a:t>
            </a:r>
            <a:r>
              <a:rPr lang="en-US" sz="1600">
                <a:solidFill>
                  <a:schemeClr val="dk1"/>
                </a:solidFill>
                <a:latin typeface="Times New Roman"/>
                <a:ea typeface="Times New Roman"/>
                <a:cs typeface="Times New Roman"/>
                <a:sym typeface="Times New Roman"/>
              </a:rPr>
              <a:t>. This is a common and easily exploitable weakness if not managed.</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Char char="●"/>
            </a:pPr>
            <a:r>
              <a:rPr b="1" lang="en-US" sz="1600" u="sng">
                <a:solidFill>
                  <a:schemeClr val="dk1"/>
                </a:solidFill>
                <a:latin typeface="Times New Roman"/>
                <a:ea typeface="Times New Roman"/>
                <a:cs typeface="Times New Roman"/>
                <a:sym typeface="Times New Roman"/>
              </a:rPr>
              <a:t>Security Misconfigurations</a:t>
            </a:r>
            <a:r>
              <a:rPr b="1" lang="en-US" sz="1600">
                <a:solidFill>
                  <a:schemeClr val="dk1"/>
                </a:solidFill>
                <a:latin typeface="Times New Roman"/>
                <a:ea typeface="Times New Roman"/>
                <a:cs typeface="Times New Roman"/>
                <a:sym typeface="Times New Roman"/>
              </a:rPr>
              <a:t>: </a:t>
            </a:r>
            <a:r>
              <a:rPr lang="en-US" sz="1600">
                <a:solidFill>
                  <a:schemeClr val="dk1"/>
                </a:solidFill>
                <a:latin typeface="Times New Roman"/>
                <a:ea typeface="Times New Roman"/>
                <a:cs typeface="Times New Roman"/>
                <a:sym typeface="Times New Roman"/>
              </a:rPr>
              <a:t>This is a broad category, including </a:t>
            </a:r>
            <a:r>
              <a:rPr b="1" lang="en-US" sz="1600">
                <a:solidFill>
                  <a:schemeClr val="dk1"/>
                </a:solidFill>
                <a:latin typeface="Times New Roman"/>
                <a:ea typeface="Times New Roman"/>
                <a:cs typeface="Times New Roman"/>
                <a:sym typeface="Times New Roman"/>
              </a:rPr>
              <a:t>default settings</a:t>
            </a:r>
            <a:r>
              <a:rPr lang="en-US" sz="1600">
                <a:solidFill>
                  <a:schemeClr val="dk1"/>
                </a:solidFill>
                <a:latin typeface="Times New Roman"/>
                <a:ea typeface="Times New Roman"/>
                <a:cs typeface="Times New Roman"/>
                <a:sym typeface="Times New Roman"/>
              </a:rPr>
              <a:t> that aren't secured, </a:t>
            </a:r>
            <a:r>
              <a:rPr b="1" lang="en-US" sz="1600">
                <a:solidFill>
                  <a:schemeClr val="dk1"/>
                </a:solidFill>
                <a:latin typeface="Times New Roman"/>
                <a:ea typeface="Times New Roman"/>
                <a:cs typeface="Times New Roman"/>
                <a:sym typeface="Times New Roman"/>
              </a:rPr>
              <a:t>unnecessary features</a:t>
            </a:r>
            <a:r>
              <a:rPr lang="en-US" sz="1600">
                <a:solidFill>
                  <a:schemeClr val="dk1"/>
                </a:solidFill>
                <a:latin typeface="Times New Roman"/>
                <a:ea typeface="Times New Roman"/>
                <a:cs typeface="Times New Roman"/>
                <a:sym typeface="Times New Roman"/>
              </a:rPr>
              <a:t> that are enabled, or </a:t>
            </a:r>
            <a:r>
              <a:rPr b="1" lang="en-US" sz="1600">
                <a:solidFill>
                  <a:schemeClr val="dk1"/>
                </a:solidFill>
                <a:latin typeface="Times New Roman"/>
                <a:ea typeface="Times New Roman"/>
                <a:cs typeface="Times New Roman"/>
                <a:sym typeface="Times New Roman"/>
              </a:rPr>
              <a:t>improper permissions</a:t>
            </a:r>
            <a:r>
              <a:rPr lang="en-US" sz="1600">
                <a:solidFill>
                  <a:schemeClr val="dk1"/>
                </a:solidFill>
                <a:latin typeface="Times New Roman"/>
                <a:ea typeface="Times New Roman"/>
                <a:cs typeface="Times New Roman"/>
                <a:sym typeface="Times New Roman"/>
              </a:rPr>
              <a:t> that expose sensitive information.</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Char char="●"/>
            </a:pPr>
            <a:r>
              <a:rPr b="1" lang="en-US" sz="1600" u="sng">
                <a:solidFill>
                  <a:schemeClr val="dk1"/>
                </a:solidFill>
                <a:latin typeface="Times New Roman"/>
                <a:ea typeface="Times New Roman"/>
                <a:cs typeface="Times New Roman"/>
                <a:sym typeface="Times New Roman"/>
              </a:rPr>
              <a:t>Cryptographic </a:t>
            </a:r>
            <a:r>
              <a:rPr b="1" lang="en-US" sz="1600" u="sng">
                <a:solidFill>
                  <a:schemeClr val="dk1"/>
                </a:solidFill>
                <a:latin typeface="Times New Roman"/>
                <a:ea typeface="Times New Roman"/>
                <a:cs typeface="Times New Roman"/>
                <a:sym typeface="Times New Roman"/>
              </a:rPr>
              <a:t>Failures</a:t>
            </a:r>
            <a:r>
              <a:rPr b="1" lang="en-US" sz="1600" u="sng">
                <a:solidFill>
                  <a:schemeClr val="dk1"/>
                </a:solidFill>
                <a:latin typeface="Times New Roman"/>
                <a:ea typeface="Times New Roman"/>
                <a:cs typeface="Times New Roman"/>
                <a:sym typeface="Times New Roman"/>
              </a:rPr>
              <a:t>:</a:t>
            </a:r>
            <a:r>
              <a:rPr lang="en-US" sz="1600">
                <a:solidFill>
                  <a:schemeClr val="dk1"/>
                </a:solidFill>
                <a:latin typeface="Times New Roman"/>
                <a:ea typeface="Times New Roman"/>
                <a:cs typeface="Times New Roman"/>
                <a:sym typeface="Times New Roman"/>
              </a:rPr>
              <a:t> Occurs when </a:t>
            </a:r>
            <a:r>
              <a:rPr b="1" lang="en-US" sz="1600">
                <a:solidFill>
                  <a:schemeClr val="dk1"/>
                </a:solidFill>
                <a:latin typeface="Times New Roman"/>
                <a:ea typeface="Times New Roman"/>
                <a:cs typeface="Times New Roman"/>
                <a:sym typeface="Times New Roman"/>
              </a:rPr>
              <a:t>sensitive data</a:t>
            </a:r>
            <a:r>
              <a:rPr lang="en-US" sz="1600">
                <a:solidFill>
                  <a:schemeClr val="dk1"/>
                </a:solidFill>
                <a:latin typeface="Times New Roman"/>
                <a:ea typeface="Times New Roman"/>
                <a:cs typeface="Times New Roman"/>
                <a:sym typeface="Times New Roman"/>
              </a:rPr>
              <a:t> (e.g., passwords, financial data) is not encrypted, is encrypted </a:t>
            </a:r>
            <a:r>
              <a:rPr b="1" lang="en-US" sz="1600">
                <a:solidFill>
                  <a:schemeClr val="dk1"/>
                </a:solidFill>
                <a:latin typeface="Times New Roman"/>
                <a:ea typeface="Times New Roman"/>
                <a:cs typeface="Times New Roman"/>
                <a:sym typeface="Times New Roman"/>
              </a:rPr>
              <a:t>poorly</a:t>
            </a:r>
            <a:r>
              <a:rPr lang="en-US" sz="1600">
                <a:solidFill>
                  <a:schemeClr val="dk1"/>
                </a:solidFill>
                <a:latin typeface="Times New Roman"/>
                <a:ea typeface="Times New Roman"/>
                <a:cs typeface="Times New Roman"/>
                <a:sym typeface="Times New Roman"/>
              </a:rPr>
              <a:t>, or is stored with weak hashing algorithms, leading to a high risk of </a:t>
            </a:r>
            <a:r>
              <a:rPr b="1" lang="en-US" sz="1600">
                <a:solidFill>
                  <a:schemeClr val="dk1"/>
                </a:solidFill>
                <a:latin typeface="Times New Roman"/>
                <a:ea typeface="Times New Roman"/>
                <a:cs typeface="Times New Roman"/>
                <a:sym typeface="Times New Roman"/>
              </a:rPr>
              <a:t>data exposure</a:t>
            </a:r>
            <a:r>
              <a:rPr lang="en-US" sz="1600">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p:txBody>
      </p:sp>
      <p:sp>
        <p:nvSpPr>
          <p:cNvPr id="257" name="Google Shape;257;p44"/>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12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5"/>
          <p:cNvSpPr txBox="1"/>
          <p:nvPr>
            <p:ph type="title"/>
          </p:nvPr>
        </p:nvSpPr>
        <p:spPr>
          <a:xfrm>
            <a:off x="457200" y="0"/>
            <a:ext cx="8229600" cy="9696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Requirement</a:t>
            </a:r>
            <a:r>
              <a:rPr b="1" lang="en-US">
                <a:latin typeface="Times New Roman"/>
                <a:ea typeface="Times New Roman"/>
                <a:cs typeface="Times New Roman"/>
                <a:sym typeface="Times New Roman"/>
              </a:rPr>
              <a:t> of Security in Applications</a:t>
            </a:r>
            <a:endParaRPr b="1">
              <a:latin typeface="Times New Roman"/>
              <a:ea typeface="Times New Roman"/>
              <a:cs typeface="Times New Roman"/>
              <a:sym typeface="Times New Roman"/>
            </a:endParaRPr>
          </a:p>
        </p:txBody>
      </p:sp>
      <p:sp>
        <p:nvSpPr>
          <p:cNvPr id="264" name="Google Shape;264;p45"/>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13</a:t>
            </a:r>
            <a:endParaRPr/>
          </a:p>
        </p:txBody>
      </p:sp>
      <p:sp>
        <p:nvSpPr>
          <p:cNvPr id="265" name="Google Shape;265;p45"/>
          <p:cNvSpPr txBox="1"/>
          <p:nvPr/>
        </p:nvSpPr>
        <p:spPr>
          <a:xfrm>
            <a:off x="457250" y="1051118"/>
            <a:ext cx="8229600" cy="4112700"/>
          </a:xfrm>
          <a:prstGeom prst="rect">
            <a:avLst/>
          </a:prstGeom>
          <a:noFill/>
          <a:ln>
            <a:noFill/>
          </a:ln>
        </p:spPr>
        <p:txBody>
          <a:bodyPr anchorCtr="0" anchor="t" bIns="91425" lIns="91425" spcFirstLastPara="1" rIns="91425" wrap="square" tIns="91425">
            <a:spAutoFit/>
          </a:bodyPr>
          <a:lstStyle/>
          <a:p>
            <a:pPr indent="-330200" lvl="0" marL="457200" rtl="0" algn="just">
              <a:lnSpc>
                <a:spcPct val="115000"/>
              </a:lnSpc>
              <a:spcBef>
                <a:spcPts val="600"/>
              </a:spcBef>
              <a:spcAft>
                <a:spcPts val="0"/>
              </a:spcAft>
              <a:buClr>
                <a:schemeClr val="dk1"/>
              </a:buClr>
              <a:buSzPts val="1600"/>
              <a:buFont typeface="Times New Roman"/>
              <a:buChar char="●"/>
            </a:pPr>
            <a:r>
              <a:rPr b="1" lang="en-US" sz="1600" u="sng">
                <a:solidFill>
                  <a:schemeClr val="dk1"/>
                </a:solidFill>
                <a:latin typeface="Times New Roman"/>
                <a:ea typeface="Times New Roman"/>
                <a:cs typeface="Times New Roman"/>
                <a:sym typeface="Times New Roman"/>
              </a:rPr>
              <a:t>Data Protection Imperatives</a:t>
            </a:r>
            <a:r>
              <a:rPr lang="en-US" sz="1600">
                <a:solidFill>
                  <a:schemeClr val="dk1"/>
                </a:solidFill>
                <a:latin typeface="Times New Roman"/>
                <a:ea typeface="Times New Roman"/>
                <a:cs typeface="Times New Roman"/>
                <a:sym typeface="Times New Roman"/>
              </a:rPr>
              <a:t>: Modern web applications handle sensitive personal information, financial data, and business-critical operations. Security breaches result in average costs of $4.45 million per incident, making robust protection essential for organizational survival.</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Font typeface="Times New Roman"/>
              <a:buChar char="●"/>
            </a:pPr>
            <a:r>
              <a:rPr b="1" lang="en-US" sz="1600" u="sng">
                <a:solidFill>
                  <a:schemeClr val="dk1"/>
                </a:solidFill>
                <a:latin typeface="Times New Roman"/>
                <a:ea typeface="Times New Roman"/>
                <a:cs typeface="Times New Roman"/>
                <a:sym typeface="Times New Roman"/>
              </a:rPr>
              <a:t>Regulatory Compliance</a:t>
            </a:r>
            <a:r>
              <a:rPr lang="en-US" sz="1600">
                <a:solidFill>
                  <a:schemeClr val="dk1"/>
                </a:solidFill>
                <a:latin typeface="Times New Roman"/>
                <a:ea typeface="Times New Roman"/>
                <a:cs typeface="Times New Roman"/>
                <a:sym typeface="Times New Roman"/>
              </a:rPr>
              <a:t>: Applications must meet stringent requirements including GDPR, HIPAA, PCI-DSS, and SOX regulations. Non-compliance results in significant financial penalties and legal consequences.</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Font typeface="Times New Roman"/>
              <a:buChar char="●"/>
            </a:pPr>
            <a:r>
              <a:rPr b="1" lang="en-US" sz="1600" u="sng">
                <a:solidFill>
                  <a:schemeClr val="dk1"/>
                </a:solidFill>
                <a:latin typeface="Times New Roman"/>
                <a:ea typeface="Times New Roman"/>
                <a:cs typeface="Times New Roman"/>
                <a:sym typeface="Times New Roman"/>
              </a:rPr>
              <a:t>Trust and Reputation</a:t>
            </a:r>
            <a:r>
              <a:rPr lang="en-US" sz="1600">
                <a:solidFill>
                  <a:schemeClr val="dk1"/>
                </a:solidFill>
                <a:latin typeface="Times New Roman"/>
                <a:ea typeface="Times New Roman"/>
                <a:cs typeface="Times New Roman"/>
                <a:sym typeface="Times New Roman"/>
              </a:rPr>
              <a:t>: Security breaches damage brand reputation and customer trust, with studies showing 60% of customers stop using services after data breaches.</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Font typeface="Times New Roman"/>
              <a:buChar char="●"/>
            </a:pPr>
            <a:r>
              <a:rPr b="1" lang="en-US" sz="1600" u="sng">
                <a:solidFill>
                  <a:schemeClr val="dk1"/>
                </a:solidFill>
                <a:latin typeface="Times New Roman"/>
                <a:ea typeface="Times New Roman"/>
                <a:cs typeface="Times New Roman"/>
                <a:sym typeface="Times New Roman"/>
              </a:rPr>
              <a:t>Business Continuity</a:t>
            </a:r>
            <a:r>
              <a:rPr lang="en-US" sz="1600">
                <a:solidFill>
                  <a:schemeClr val="dk1"/>
                </a:solidFill>
                <a:latin typeface="Times New Roman"/>
                <a:ea typeface="Times New Roman"/>
                <a:cs typeface="Times New Roman"/>
                <a:sym typeface="Times New Roman"/>
              </a:rPr>
              <a:t>: Cyberattacks can disrupt operations for weeks, causing revenue loss and competitive disadvantage. Proactive security measures ensure operational resilience.</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Font typeface="Times New Roman"/>
              <a:buChar char="●"/>
            </a:pPr>
            <a:r>
              <a:rPr b="1" lang="en-US" sz="1600" u="sng">
                <a:solidFill>
                  <a:schemeClr val="dk1"/>
                </a:solidFill>
                <a:latin typeface="Times New Roman"/>
                <a:ea typeface="Times New Roman"/>
                <a:cs typeface="Times New Roman"/>
                <a:sym typeface="Times New Roman"/>
              </a:rPr>
              <a:t>Evolving Threat Landscape</a:t>
            </a:r>
            <a:r>
              <a:rPr lang="en-US" sz="1600">
                <a:solidFill>
                  <a:schemeClr val="dk1"/>
                </a:solidFill>
                <a:latin typeface="Times New Roman"/>
                <a:ea typeface="Times New Roman"/>
                <a:cs typeface="Times New Roman"/>
                <a:sym typeface="Times New Roman"/>
              </a:rPr>
              <a:t>: Cybercriminals continuously develop sophisticated attack methods. AI-powered defenses are necessary to keep pace with automated attacks and advanced persistent threats.</a:t>
            </a:r>
            <a:endParaRPr sz="1600" u="sng">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6"/>
          <p:cNvSpPr txBox="1"/>
          <p:nvPr>
            <p:ph type="title"/>
          </p:nvPr>
        </p:nvSpPr>
        <p:spPr>
          <a:xfrm>
            <a:off x="457200" y="0"/>
            <a:ext cx="8229600" cy="894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Conclusion</a:t>
            </a:r>
            <a:endParaRPr b="1">
              <a:latin typeface="Times New Roman"/>
              <a:ea typeface="Times New Roman"/>
              <a:cs typeface="Times New Roman"/>
              <a:sym typeface="Times New Roman"/>
            </a:endParaRPr>
          </a:p>
        </p:txBody>
      </p:sp>
      <p:sp>
        <p:nvSpPr>
          <p:cNvPr id="271" name="Google Shape;271;p46"/>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14</a:t>
            </a:r>
            <a:endParaRPr/>
          </a:p>
        </p:txBody>
      </p:sp>
      <p:sp>
        <p:nvSpPr>
          <p:cNvPr id="272" name="Google Shape;272;p46"/>
          <p:cNvSpPr txBox="1"/>
          <p:nvPr/>
        </p:nvSpPr>
        <p:spPr>
          <a:xfrm>
            <a:off x="457200" y="1487075"/>
            <a:ext cx="8229600" cy="2815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In conclusion, this project successfully created a user-friendly platform that makes fixing web security issues much simpler. By combining a clear dashboard with an engaging, story-telling chatbot, we have bridged the difficult gap between finding a security problem and actually solving it. This tool not only helps developers fix current threats accurately but also teaches them valuable lessons along the way. Ultimately, it empowers them to build safer, more secure applications from the start, fostering a better security culture for everyone.</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7"/>
          <p:cNvSpPr txBox="1"/>
          <p:nvPr/>
        </p:nvSpPr>
        <p:spPr>
          <a:xfrm>
            <a:off x="457200" y="1107725"/>
            <a:ext cx="8229600" cy="4876800"/>
          </a:xfrm>
          <a:prstGeom prst="rect">
            <a:avLst/>
          </a:prstGeom>
          <a:noFill/>
          <a:ln>
            <a:noFill/>
          </a:ln>
        </p:spPr>
        <p:txBody>
          <a:bodyPr anchorCtr="0" anchor="t" bIns="45700" lIns="91425" spcFirstLastPara="1" rIns="91425" wrap="square" tIns="45700">
            <a:noAutofit/>
          </a:bodyPr>
          <a:lstStyle/>
          <a:p>
            <a:pPr indent="-330200" lvl="0" marL="457200" rtl="0" algn="just">
              <a:lnSpc>
                <a:spcPct val="115000"/>
              </a:lnSpc>
              <a:spcBef>
                <a:spcPts val="0"/>
              </a:spcBef>
              <a:spcAft>
                <a:spcPts val="0"/>
              </a:spcAft>
              <a:buSzPts val="1600"/>
              <a:buFont typeface="Times New Roman"/>
              <a:buAutoNum type="arabicPeriod"/>
            </a:pPr>
            <a:r>
              <a:rPr lang="en-US" sz="1600">
                <a:solidFill>
                  <a:srgbClr val="091922"/>
                </a:solidFill>
                <a:latin typeface="Times New Roman"/>
                <a:ea typeface="Times New Roman"/>
                <a:cs typeface="Times New Roman"/>
                <a:sym typeface="Times New Roman"/>
              </a:rPr>
              <a:t>AI in Cybersecurity: Latest Developments + How It's Used in 2025 - </a:t>
            </a:r>
            <a:r>
              <a:rPr lang="en-US" sz="1600" u="sng">
                <a:solidFill>
                  <a:srgbClr val="1155CC"/>
                </a:solidFill>
                <a:latin typeface="Times New Roman"/>
                <a:ea typeface="Times New Roman"/>
                <a:cs typeface="Times New Roman"/>
                <a:sym typeface="Times New Roman"/>
                <a:hlinkClick r:id="rId3">
                  <a:extLst>
                    <a:ext uri="{A12FA001-AC4F-418D-AE19-62706E023703}">
                      <ahyp:hlinkClr val="tx"/>
                    </a:ext>
                  </a:extLst>
                </a:hlinkClick>
              </a:rPr>
              <a:t>https://secureframe.com/blog/ai-in-cybersecurity</a:t>
            </a:r>
            <a:endParaRPr sz="1600">
              <a:solidFill>
                <a:srgbClr val="091922"/>
              </a:solidFill>
              <a:latin typeface="Times New Roman"/>
              <a:ea typeface="Times New Roman"/>
              <a:cs typeface="Times New Roman"/>
              <a:sym typeface="Times New Roman"/>
            </a:endParaRPr>
          </a:p>
          <a:p>
            <a:pPr indent="-330200" lvl="0" marL="457200" rtl="0" algn="just">
              <a:lnSpc>
                <a:spcPct val="122222"/>
              </a:lnSpc>
              <a:spcBef>
                <a:spcPts val="0"/>
              </a:spcBef>
              <a:spcAft>
                <a:spcPts val="0"/>
              </a:spcAft>
              <a:buClr>
                <a:srgbClr val="222222"/>
              </a:buClr>
              <a:buSzPts val="1600"/>
              <a:buFont typeface="Times New Roman"/>
              <a:buAutoNum type="arabicPeriod"/>
            </a:pPr>
            <a:r>
              <a:rPr lang="en-US" sz="1600">
                <a:solidFill>
                  <a:srgbClr val="091528"/>
                </a:solidFill>
                <a:latin typeface="Times New Roman"/>
                <a:ea typeface="Times New Roman"/>
                <a:cs typeface="Times New Roman"/>
                <a:sym typeface="Times New Roman"/>
              </a:rPr>
              <a:t>AI Dashboard Future-proofing Business Analytics: Design, Applications, and Latest Trends - </a:t>
            </a:r>
            <a:r>
              <a:rPr lang="en-US" sz="1600" u="sng">
                <a:solidFill>
                  <a:srgbClr val="1155CC"/>
                </a:solidFill>
                <a:latin typeface="Times New Roman"/>
                <a:ea typeface="Times New Roman"/>
                <a:cs typeface="Times New Roman"/>
                <a:sym typeface="Times New Roman"/>
                <a:hlinkClick r:id="rId4">
                  <a:extLst>
                    <a:ext uri="{A12FA001-AC4F-418D-AE19-62706E023703}">
                      <ahyp:hlinkClr val="tx"/>
                    </a:ext>
                  </a:extLst>
                </a:hlinkClick>
              </a:rPr>
              <a:t>https://fuselabcreative.com/ai-business-analytics-dashboard/</a:t>
            </a:r>
            <a:endParaRPr sz="1600">
              <a:solidFill>
                <a:srgbClr val="091528"/>
              </a:solidFill>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rgbClr val="222222"/>
              </a:buClr>
              <a:buSzPts val="1600"/>
              <a:buFont typeface="Times New Roman"/>
              <a:buAutoNum type="arabicPeriod"/>
            </a:pPr>
            <a:r>
              <a:rPr lang="en-US" sz="1600">
                <a:solidFill>
                  <a:srgbClr val="111111"/>
                </a:solidFill>
                <a:highlight>
                  <a:srgbClr val="FFFFFF"/>
                </a:highlight>
                <a:latin typeface="Times New Roman"/>
                <a:ea typeface="Times New Roman"/>
                <a:cs typeface="Times New Roman"/>
                <a:sym typeface="Times New Roman"/>
              </a:rPr>
              <a:t>Vulnerabilities of Web Applications: Good Practices and New Trends - </a:t>
            </a:r>
            <a:r>
              <a:rPr lang="en-US" sz="1600" u="sng">
                <a:solidFill>
                  <a:srgbClr val="1155CC"/>
                </a:solidFill>
                <a:highlight>
                  <a:srgbClr val="FFFFFF"/>
                </a:highlight>
                <a:latin typeface="Times New Roman"/>
                <a:ea typeface="Times New Roman"/>
                <a:cs typeface="Times New Roman"/>
                <a:sym typeface="Times New Roman"/>
                <a:hlinkClick r:id="rId5">
                  <a:extLst>
                    <a:ext uri="{A12FA001-AC4F-418D-AE19-62706E023703}">
                      <ahyp:hlinkClr val="tx"/>
                    </a:ext>
                  </a:extLst>
                </a:hlinkClick>
              </a:rPr>
              <a:t>https://www.acigjournal.com/Vulnerabilities-of-Web-Applications-Good-Practices-and-New-Trends,199521,0,2.html</a:t>
            </a:r>
            <a:r>
              <a:rPr lang="en-US" sz="1600">
                <a:solidFill>
                  <a:srgbClr val="111111"/>
                </a:solidFill>
                <a:highlight>
                  <a:srgbClr val="FFFFFF"/>
                </a:highlight>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rgbClr val="222222"/>
              </a:buClr>
              <a:buSzPts val="1600"/>
              <a:buFont typeface="Times New Roman"/>
              <a:buAutoNum type="arabicPeriod"/>
            </a:pPr>
            <a:r>
              <a:rPr lang="en-US" sz="1600">
                <a:solidFill>
                  <a:schemeClr val="dk1"/>
                </a:solidFill>
                <a:latin typeface="Times New Roman"/>
                <a:ea typeface="Times New Roman"/>
                <a:cs typeface="Times New Roman"/>
                <a:sym typeface="Times New Roman"/>
              </a:rPr>
              <a:t>Web Application Scanning &amp; API Security - </a:t>
            </a:r>
            <a:r>
              <a:rPr lang="en-US" sz="1600" u="sng">
                <a:solidFill>
                  <a:srgbClr val="1155CC"/>
                </a:solidFill>
                <a:latin typeface="Times New Roman"/>
                <a:ea typeface="Times New Roman"/>
                <a:cs typeface="Times New Roman"/>
                <a:sym typeface="Times New Roman"/>
                <a:hlinkClick r:id="rId6">
                  <a:extLst>
                    <a:ext uri="{A12FA001-AC4F-418D-AE19-62706E023703}">
                      <ahyp:hlinkClr val="tx"/>
                    </a:ext>
                  </a:extLst>
                </a:hlinkClick>
              </a:rPr>
              <a:t>https://www.qualys.com/apps/web-app-scanning/</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rgbClr val="222222"/>
              </a:buClr>
              <a:buSzPts val="1600"/>
              <a:buFont typeface="Times New Roman"/>
              <a:buAutoNum type="arabicPeriod"/>
            </a:pPr>
            <a:r>
              <a:rPr lang="en-US" sz="1600">
                <a:solidFill>
                  <a:schemeClr val="dk1"/>
                </a:solidFill>
                <a:highlight>
                  <a:srgbClr val="FFFFFF"/>
                </a:highlight>
                <a:latin typeface="Times New Roman"/>
                <a:ea typeface="Times New Roman"/>
                <a:cs typeface="Times New Roman"/>
                <a:sym typeface="Times New Roman"/>
              </a:rPr>
              <a:t> Study of Vulnerability Scanners for Detecting SQL Injection and XSS Attack in Websites - </a:t>
            </a:r>
            <a:r>
              <a:rPr lang="en-US" sz="1600" u="sng">
                <a:solidFill>
                  <a:srgbClr val="1155CC"/>
                </a:solidFill>
                <a:highlight>
                  <a:srgbClr val="FFFFFF"/>
                </a:highlight>
                <a:latin typeface="Times New Roman"/>
                <a:ea typeface="Times New Roman"/>
                <a:cs typeface="Times New Roman"/>
                <a:sym typeface="Times New Roman"/>
                <a:hlinkClick r:id="rId7">
                  <a:extLst>
                    <a:ext uri="{A12FA001-AC4F-418D-AE19-62706E023703}">
                      <ahyp:hlinkClr val="tx"/>
                    </a:ext>
                  </a:extLst>
                </a:hlinkClick>
              </a:rPr>
              <a:t>https://ojs.bonviewpress.com/index.php/AIA/article/view/754/489</a:t>
            </a:r>
            <a:endParaRPr sz="1600">
              <a:solidFill>
                <a:srgbClr val="222222"/>
              </a:solidFill>
              <a:highlight>
                <a:srgbClr val="FFFFFF"/>
              </a:highlight>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rgbClr val="222222"/>
              </a:buClr>
              <a:buSzPts val="1600"/>
              <a:buFont typeface="Times New Roman"/>
              <a:buAutoNum type="arabicPeriod"/>
            </a:pPr>
            <a:r>
              <a:rPr lang="en-US" sz="1600">
                <a:solidFill>
                  <a:schemeClr val="dk1"/>
                </a:solidFill>
                <a:highlight>
                  <a:srgbClr val="FFFFFF"/>
                </a:highlight>
                <a:latin typeface="Times New Roman"/>
                <a:ea typeface="Times New Roman"/>
                <a:cs typeface="Times New Roman"/>
                <a:sym typeface="Times New Roman"/>
              </a:rPr>
              <a:t>AI in Cybersecurity: Key Benefits, Defense Strategies, &amp; Future Trends - </a:t>
            </a:r>
            <a:r>
              <a:rPr lang="en-US" sz="1600" u="sng">
                <a:solidFill>
                  <a:srgbClr val="1155CC"/>
                </a:solidFill>
                <a:highlight>
                  <a:srgbClr val="FFFFFF"/>
                </a:highlight>
                <a:latin typeface="Times New Roman"/>
                <a:ea typeface="Times New Roman"/>
                <a:cs typeface="Times New Roman"/>
                <a:sym typeface="Times New Roman"/>
                <a:hlinkClick r:id="rId8">
                  <a:extLst>
                    <a:ext uri="{A12FA001-AC4F-418D-AE19-62706E023703}">
                      <ahyp:hlinkClr val="tx"/>
                    </a:ext>
                  </a:extLst>
                </a:hlinkClick>
              </a:rPr>
              <a:t>https://www.fortinet.com/resources/cyberglossary/artificial-intelligence-in-cybersecurity</a:t>
            </a:r>
            <a:endParaRPr b="1" sz="1600" u="sng">
              <a:solidFill>
                <a:schemeClr val="dk1"/>
              </a:solidFill>
              <a:latin typeface="Times New Roman"/>
              <a:ea typeface="Times New Roman"/>
              <a:cs typeface="Times New Roman"/>
              <a:sym typeface="Times New Roman"/>
            </a:endParaRPr>
          </a:p>
        </p:txBody>
      </p:sp>
      <p:sp>
        <p:nvSpPr>
          <p:cNvPr id="278" name="Google Shape;278;p47"/>
          <p:cNvSpPr txBox="1"/>
          <p:nvPr>
            <p:ph type="title"/>
          </p:nvPr>
        </p:nvSpPr>
        <p:spPr>
          <a:xfrm>
            <a:off x="457200" y="0"/>
            <a:ext cx="8229600" cy="92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b="1" lang="en-US">
                <a:latin typeface="Times New Roman"/>
                <a:ea typeface="Times New Roman"/>
                <a:cs typeface="Times New Roman"/>
                <a:sym typeface="Times New Roman"/>
              </a:rPr>
            </a:br>
            <a:r>
              <a:rPr b="1" lang="en-US">
                <a:latin typeface="Times New Roman"/>
                <a:ea typeface="Times New Roman"/>
                <a:cs typeface="Times New Roman"/>
                <a:sym typeface="Times New Roman"/>
              </a:rPr>
              <a:t>References</a:t>
            </a:r>
            <a:br>
              <a:rPr b="1" lang="en-US">
                <a:latin typeface="Times New Roman"/>
                <a:ea typeface="Times New Roman"/>
                <a:cs typeface="Times New Roman"/>
                <a:sym typeface="Times New Roman"/>
              </a:rPr>
            </a:br>
            <a:endParaRPr/>
          </a:p>
        </p:txBody>
      </p:sp>
      <p:sp>
        <p:nvSpPr>
          <p:cNvPr id="279" name="Google Shape;279;p47"/>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15</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heme1">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Theme1">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