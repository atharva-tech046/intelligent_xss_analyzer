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7" r:id="rId5"/>
    <p:sldMasterId id="214748367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y="6858000" cx="9144000"/>
  <p:notesSz cx="6858000" cy="9144000"/>
  <p:embeddedFontLst>
    <p:embeddedFont>
      <p:font typeface="Roboto"/>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5E52522-B180-4A8B-A2EF-A155F0FA4AB5}">
  <a:tblStyle styleId="{95E52522-B180-4A8B-A2EF-A155F0FA4AB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F4B8B2B4-D14E-415F-BC35-52546FD888FE}"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Roboto-regular.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Roboto-italic.fntdata"/><Relationship Id="rId30" Type="http://schemas.openxmlformats.org/officeDocument/2006/relationships/font" Target="fonts/Roboto-bold.fntdata"/><Relationship Id="rId11" Type="http://schemas.openxmlformats.org/officeDocument/2006/relationships/slide" Target="slides/slide4.xml"/><Relationship Id="rId10" Type="http://schemas.openxmlformats.org/officeDocument/2006/relationships/slide" Target="slides/slide3.xml"/><Relationship Id="rId32" Type="http://schemas.openxmlformats.org/officeDocument/2006/relationships/font" Target="fonts/Roboto-boldItalic.fntdata"/><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5" name="Google Shape;155;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98dd834b53_0_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98dd834b53_0_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6" name="Google Shape;166;g398dd834b53_0_1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73d8e3babc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73d8e3babc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1" name="Google Shape;181;g373d8e3babc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878e74e52b_0_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878e74e52b_0_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9" name="Google Shape;189;g3878e74e52b_0_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878e74e52b_0_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878e74e52b_0_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4" name="Google Shape;204;g3878e74e52b_0_2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878e74e52b_0_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878e74e52b_0_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3" name="Google Shape;213;g3878e74e52b_0_1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80152e66a6_1_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80152e66a6_1_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1" name="Google Shape;221;g380152e66a6_1_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9ea15e692e_0_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9ea15e692e_0_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7" name="Google Shape;237;g39ea15e692e_0_6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9ea15e692e_0_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9ea15e692e_0_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6" name="Google Shape;246;g39ea15e692e_0_7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3" name="Google Shape;253;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73d8e3babc_0_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73d8e3babc_0_6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1" name="Google Shape;261;g373d8e3babc_0_6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9ea15e692e_0_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9ea15e692e_0_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9" name="Google Shape;269;g39ea15e692e_0_1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a1cd102655_1_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a1cd102655_1_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7" name="Google Shape;277;g3a1cd102655_1_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9ea15e692e_0_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9ea15e692e_0_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85" name="Google Shape;285;g39ea15e692e_0_3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92" name="Google Shape;292;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73314f27f8_0_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73314f27f8_0_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00" name="Google Shape;300;g373314f27f8_0_1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81c018a60d_0_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81c018a60d_0_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08" name="Google Shape;308;g381c018a60d_0_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16" name="Google Shape;316;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480"/>
              </a:spcBef>
              <a:spcAft>
                <a:spcPts val="0"/>
              </a:spcAft>
              <a:buClr>
                <a:schemeClr val="dk1"/>
              </a:buClr>
              <a:buSzPts val="2400"/>
              <a:buFont typeface="Arial"/>
              <a:buNone/>
              <a:defRPr/>
            </a:lvl1pPr>
            <a:lvl2pPr lvl="1" algn="ctr">
              <a:spcBef>
                <a:spcPts val="400"/>
              </a:spcBef>
              <a:spcAft>
                <a:spcPts val="0"/>
              </a:spcAft>
              <a:buClr>
                <a:schemeClr val="dk1"/>
              </a:buClr>
              <a:buSzPts val="2000"/>
              <a:buFont typeface="Arial"/>
              <a:buNone/>
              <a:defRPr/>
            </a:lvl2pPr>
            <a:lvl3pPr lvl="2" algn="ctr">
              <a:spcBef>
                <a:spcPts val="480"/>
              </a:spcBef>
              <a:spcAft>
                <a:spcPts val="0"/>
              </a:spcAft>
              <a:buClr>
                <a:schemeClr val="dk1"/>
              </a:buClr>
              <a:buSzPts val="2400"/>
              <a:buFont typeface="Arial"/>
              <a:buNone/>
              <a:defRPr/>
            </a:lvl3pPr>
            <a:lvl4pPr lvl="3" algn="ctr">
              <a:spcBef>
                <a:spcPts val="320"/>
              </a:spcBef>
              <a:spcAft>
                <a:spcPts val="0"/>
              </a:spcAft>
              <a:buClr>
                <a:schemeClr val="dk1"/>
              </a:buClr>
              <a:buSzPts val="1600"/>
              <a:buFont typeface="Arial"/>
              <a:buNone/>
              <a:defRPr/>
            </a:lvl4pPr>
            <a:lvl5pPr lvl="4" algn="ctr">
              <a:spcBef>
                <a:spcPts val="280"/>
              </a:spcBef>
              <a:spcAft>
                <a:spcPts val="0"/>
              </a:spcAft>
              <a:buClr>
                <a:schemeClr val="dk1"/>
              </a:buClr>
              <a:buSzPts val="1400"/>
              <a:buFont typeface="Arial"/>
              <a:buNone/>
              <a:defRPr/>
            </a:lvl5pPr>
            <a:lvl6pPr lvl="5" algn="ctr">
              <a:spcBef>
                <a:spcPts val="280"/>
              </a:spcBef>
              <a:spcAft>
                <a:spcPts val="0"/>
              </a:spcAft>
              <a:buClr>
                <a:schemeClr val="dk1"/>
              </a:buClr>
              <a:buSzPts val="1400"/>
              <a:buFont typeface="Arial"/>
              <a:buNone/>
              <a:defRPr/>
            </a:lvl6pPr>
            <a:lvl7pPr lvl="6" algn="ctr">
              <a:spcBef>
                <a:spcPts val="280"/>
              </a:spcBef>
              <a:spcAft>
                <a:spcPts val="0"/>
              </a:spcAft>
              <a:buClr>
                <a:schemeClr val="dk1"/>
              </a:buClr>
              <a:buSzPts val="1400"/>
              <a:buFont typeface="Arial"/>
              <a:buNone/>
              <a:defRPr/>
            </a:lvl7pPr>
            <a:lvl8pPr lvl="7" algn="ctr">
              <a:spcBef>
                <a:spcPts val="280"/>
              </a:spcBef>
              <a:spcAft>
                <a:spcPts val="0"/>
              </a:spcAft>
              <a:buClr>
                <a:schemeClr val="dk1"/>
              </a:buClr>
              <a:buSzPts val="1400"/>
              <a:buFont typeface="Arial"/>
              <a:buNone/>
              <a:defRPr/>
            </a:lvl8pPr>
            <a:lvl9pPr lvl="8" algn="ctr">
              <a:spcBef>
                <a:spcPts val="280"/>
              </a:spcBef>
              <a:spcAft>
                <a:spcPts val="0"/>
              </a:spcAft>
              <a:buClr>
                <a:schemeClr val="dk1"/>
              </a:buClr>
              <a:buSzPts val="1400"/>
              <a:buFont typeface="Arial"/>
              <a:buNone/>
              <a:defRPr/>
            </a:lvl9pPr>
          </a:lstStyle>
          <a:p/>
        </p:txBody>
      </p:sp>
      <p:sp>
        <p:nvSpPr>
          <p:cNvPr id="18" name="Google Shape;18;p2"/>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0" i="0" sz="1400" u="none" cap="none" strike="noStrike">
                <a:solidFill>
                  <a:srgbClr val="000000"/>
                </a:solidFill>
                <a:latin typeface="Arial"/>
                <a:ea typeface="Arial"/>
                <a:cs typeface="Arial"/>
                <a:sym typeface="Arial"/>
              </a:defRPr>
            </a:lvl1pPr>
            <a:lvl2pPr indent="0" lvl="1" marL="0" marR="0" algn="r">
              <a:spcBef>
                <a:spcPts val="0"/>
              </a:spcBef>
              <a:spcAft>
                <a:spcPts val="0"/>
              </a:spcAft>
              <a:buNone/>
              <a:defRPr b="0" i="0" sz="1400" u="none" cap="none" strike="noStrike">
                <a:solidFill>
                  <a:srgbClr val="000000"/>
                </a:solidFill>
                <a:latin typeface="Arial"/>
                <a:ea typeface="Arial"/>
                <a:cs typeface="Arial"/>
                <a:sym typeface="Arial"/>
              </a:defRPr>
            </a:lvl2pPr>
            <a:lvl3pPr indent="0" lvl="2" marL="0" marR="0" algn="r">
              <a:spcBef>
                <a:spcPts val="0"/>
              </a:spcBef>
              <a:spcAft>
                <a:spcPts val="0"/>
              </a:spcAft>
              <a:buNone/>
              <a:defRPr b="0" i="0" sz="1400" u="none" cap="none" strike="noStrike">
                <a:solidFill>
                  <a:srgbClr val="000000"/>
                </a:solidFill>
                <a:latin typeface="Arial"/>
                <a:ea typeface="Arial"/>
                <a:cs typeface="Arial"/>
                <a:sym typeface="Arial"/>
              </a:defRPr>
            </a:lvl3pPr>
            <a:lvl4pPr indent="0" lvl="3" marL="0" marR="0" algn="r">
              <a:spcBef>
                <a:spcPts val="0"/>
              </a:spcBef>
              <a:spcAft>
                <a:spcPts val="0"/>
              </a:spcAft>
              <a:buNone/>
              <a:defRPr b="0" i="0" sz="1400" u="none" cap="none" strike="noStrike">
                <a:solidFill>
                  <a:srgbClr val="000000"/>
                </a:solidFill>
                <a:latin typeface="Arial"/>
                <a:ea typeface="Arial"/>
                <a:cs typeface="Arial"/>
                <a:sym typeface="Arial"/>
              </a:defRPr>
            </a:lvl4pPr>
            <a:lvl5pPr indent="0" lvl="4" marL="0" marR="0" algn="r">
              <a:spcBef>
                <a:spcPts val="0"/>
              </a:spcBef>
              <a:spcAft>
                <a:spcPts val="0"/>
              </a:spcAft>
              <a:buNone/>
              <a:defRPr b="0" i="0" sz="1400" u="none" cap="none" strike="noStrike">
                <a:solidFill>
                  <a:srgbClr val="000000"/>
                </a:solidFill>
                <a:latin typeface="Arial"/>
                <a:ea typeface="Arial"/>
                <a:cs typeface="Arial"/>
                <a:sym typeface="Arial"/>
              </a:defRPr>
            </a:lvl5pPr>
            <a:lvl6pPr indent="0" lvl="5" marL="0" marR="0" algn="r">
              <a:spcBef>
                <a:spcPts val="0"/>
              </a:spcBef>
              <a:spcAft>
                <a:spcPts val="0"/>
              </a:spcAft>
              <a:buNone/>
              <a:defRPr b="0" i="0" sz="1400" u="none" cap="none" strike="noStrike">
                <a:solidFill>
                  <a:srgbClr val="000000"/>
                </a:solidFill>
                <a:latin typeface="Arial"/>
                <a:ea typeface="Arial"/>
                <a:cs typeface="Arial"/>
                <a:sym typeface="Arial"/>
              </a:defRPr>
            </a:lvl6pPr>
            <a:lvl7pPr indent="0" lvl="6" marL="0" marR="0" algn="r">
              <a:spcBef>
                <a:spcPts val="0"/>
              </a:spcBef>
              <a:spcAft>
                <a:spcPts val="0"/>
              </a:spcAft>
              <a:buNone/>
              <a:defRPr b="0" i="0" sz="1400" u="none" cap="none" strike="noStrike">
                <a:solidFill>
                  <a:srgbClr val="000000"/>
                </a:solidFill>
                <a:latin typeface="Arial"/>
                <a:ea typeface="Arial"/>
                <a:cs typeface="Arial"/>
                <a:sym typeface="Arial"/>
              </a:defRPr>
            </a:lvl7pPr>
            <a:lvl8pPr indent="0" lvl="7" marL="0" marR="0" algn="r">
              <a:spcBef>
                <a:spcPts val="0"/>
              </a:spcBef>
              <a:spcAft>
                <a:spcPts val="0"/>
              </a:spcAft>
              <a:buNone/>
              <a:defRPr b="0" i="0" sz="1400" u="none" cap="none" strike="noStrike">
                <a:solidFill>
                  <a:srgbClr val="000000"/>
                </a:solidFill>
                <a:latin typeface="Arial"/>
                <a:ea typeface="Arial"/>
                <a:cs typeface="Arial"/>
                <a:sym typeface="Arial"/>
              </a:defRPr>
            </a:lvl8pPr>
            <a:lvl9pPr indent="0" lvl="8" marL="0" marR="0" algn="r">
              <a:spcBef>
                <a:spcPts val="0"/>
              </a:spcBef>
              <a:spcAft>
                <a:spcPts val="0"/>
              </a:spcAft>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3"/>
          <p:cNvSpPr/>
          <p:nvPr/>
        </p:nvSpPr>
        <p:spPr>
          <a:xfrm>
            <a:off x="3556000" y="6362700"/>
            <a:ext cx="1905000" cy="4572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pic>
        <p:nvPicPr>
          <p:cNvPr id="21" name="Google Shape;21;p3"/>
          <p:cNvPicPr preferRelativeResize="0"/>
          <p:nvPr/>
        </p:nvPicPr>
        <p:blipFill rotWithShape="1">
          <a:blip r:embed="rId2">
            <a:alphaModFix/>
          </a:blip>
          <a:srcRect b="0" l="0" r="0" t="0"/>
          <a:stretch/>
        </p:blipFill>
        <p:spPr>
          <a:xfrm>
            <a:off x="228600" y="6375400"/>
            <a:ext cx="461963" cy="457200"/>
          </a:xfrm>
          <a:prstGeom prst="rect">
            <a:avLst/>
          </a:prstGeom>
          <a:noFill/>
          <a:ln>
            <a:noFill/>
          </a:ln>
        </p:spPr>
      </p:pic>
      <p:sp>
        <p:nvSpPr>
          <p:cNvPr id="22" name="Google Shape;22;p3"/>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3"/>
          <p:cNvSpPr txBox="1"/>
          <p:nvPr>
            <p:ph idx="1" type="body"/>
          </p:nvPr>
        </p:nvSpPr>
        <p:spPr>
          <a:xfrm>
            <a:off x="457200" y="1066800"/>
            <a:ext cx="8229600" cy="5181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0" r="0" t="0"/>
          <a:stretch/>
        </p:blipFill>
        <p:spPr>
          <a:xfrm>
            <a:off x="228600" y="6375400"/>
            <a:ext cx="461963" cy="457200"/>
          </a:xfrm>
          <a:prstGeom prst="rect">
            <a:avLst/>
          </a:prstGeom>
          <a:noFill/>
          <a:ln>
            <a:noFill/>
          </a:ln>
        </p:spPr>
      </p:pic>
      <p:sp>
        <p:nvSpPr>
          <p:cNvPr id="27" name="Google Shape;27;p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8" name="Google Shape;28;p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Arial"/>
              <a:buNone/>
              <a:defRPr sz="2000"/>
            </a:lvl1pPr>
            <a:lvl2pPr indent="-228600" lvl="1" marL="914400" algn="l">
              <a:spcBef>
                <a:spcPts val="360"/>
              </a:spcBef>
              <a:spcAft>
                <a:spcPts val="0"/>
              </a:spcAft>
              <a:buClr>
                <a:schemeClr val="dk1"/>
              </a:buClr>
              <a:buSzPts val="1800"/>
              <a:buFont typeface="Arial"/>
              <a:buNone/>
              <a:defRPr sz="1800"/>
            </a:lvl2pPr>
            <a:lvl3pPr indent="-228600" lvl="2" marL="1371600" algn="l">
              <a:spcBef>
                <a:spcPts val="320"/>
              </a:spcBef>
              <a:spcAft>
                <a:spcPts val="0"/>
              </a:spcAft>
              <a:buClr>
                <a:schemeClr val="dk1"/>
              </a:buClr>
              <a:buSzPts val="1600"/>
              <a:buFont typeface="Arial"/>
              <a:buNone/>
              <a:defRPr sz="1600"/>
            </a:lvl3pPr>
            <a:lvl4pPr indent="-228600" lvl="3" marL="1828800" algn="l">
              <a:spcBef>
                <a:spcPts val="280"/>
              </a:spcBef>
              <a:spcAft>
                <a:spcPts val="0"/>
              </a:spcAft>
              <a:buClr>
                <a:schemeClr val="dk1"/>
              </a:buClr>
              <a:buSzPts val="1400"/>
              <a:buFont typeface="Arial"/>
              <a:buNone/>
              <a:defRPr sz="1400"/>
            </a:lvl4pPr>
            <a:lvl5pPr indent="-228600" lvl="4" marL="2286000" algn="l">
              <a:spcBef>
                <a:spcPts val="280"/>
              </a:spcBef>
              <a:spcAft>
                <a:spcPts val="0"/>
              </a:spcAft>
              <a:buClr>
                <a:schemeClr val="dk1"/>
              </a:buClr>
              <a:buSzPts val="1400"/>
              <a:buFont typeface="Arial"/>
              <a:buNone/>
              <a:defRPr sz="1400"/>
            </a:lvl5pPr>
            <a:lvl6pPr indent="-228600" lvl="5" marL="2743200" algn="l">
              <a:spcBef>
                <a:spcPts val="280"/>
              </a:spcBef>
              <a:spcAft>
                <a:spcPts val="0"/>
              </a:spcAft>
              <a:buClr>
                <a:schemeClr val="dk1"/>
              </a:buClr>
              <a:buSzPts val="1400"/>
              <a:buFont typeface="Arial"/>
              <a:buNone/>
              <a:defRPr sz="1400"/>
            </a:lvl6pPr>
            <a:lvl7pPr indent="-228600" lvl="6" marL="3200400" algn="l">
              <a:spcBef>
                <a:spcPts val="280"/>
              </a:spcBef>
              <a:spcAft>
                <a:spcPts val="0"/>
              </a:spcAft>
              <a:buClr>
                <a:schemeClr val="dk1"/>
              </a:buClr>
              <a:buSzPts val="1400"/>
              <a:buFont typeface="Arial"/>
              <a:buNone/>
              <a:defRPr sz="1400"/>
            </a:lvl7pPr>
            <a:lvl8pPr indent="-228600" lvl="7" marL="3657600" algn="l">
              <a:spcBef>
                <a:spcPts val="280"/>
              </a:spcBef>
              <a:spcAft>
                <a:spcPts val="0"/>
              </a:spcAft>
              <a:buClr>
                <a:schemeClr val="dk1"/>
              </a:buClr>
              <a:buSzPts val="1400"/>
              <a:buFont typeface="Arial"/>
              <a:buNone/>
              <a:defRPr sz="1400"/>
            </a:lvl8pPr>
            <a:lvl9pPr indent="-228600" lvl="8" marL="4114800" algn="l">
              <a:spcBef>
                <a:spcPts val="280"/>
              </a:spcBef>
              <a:spcAft>
                <a:spcPts val="0"/>
              </a:spcAft>
              <a:buClr>
                <a:schemeClr val="dk1"/>
              </a:buClr>
              <a:buSzPts val="1400"/>
              <a:buFont typeface="Arial"/>
              <a:buNone/>
              <a:defRPr sz="1400"/>
            </a:lvl9pPr>
          </a:lstStyle>
          <a:p/>
        </p:txBody>
      </p:sp>
      <p:sp>
        <p:nvSpPr>
          <p:cNvPr id="29" name="Google Shape;29;p4"/>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0" name="Shape 30"/>
        <p:cNvGrpSpPr/>
        <p:nvPr/>
      </p:nvGrpSpPr>
      <p:grpSpPr>
        <a:xfrm>
          <a:off x="0" y="0"/>
          <a:ext cx="0" cy="0"/>
          <a:chOff x="0" y="0"/>
          <a:chExt cx="0" cy="0"/>
        </a:xfrm>
      </p:grpSpPr>
      <p:sp>
        <p:nvSpPr>
          <p:cNvPr id="31" name="Google Shape;31;p5"/>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2" name="Google Shape;32;p5"/>
          <p:cNvSpPr txBox="1"/>
          <p:nvPr>
            <p:ph idx="1" type="body"/>
          </p:nvPr>
        </p:nvSpPr>
        <p:spPr>
          <a:xfrm>
            <a:off x="457200" y="1066800"/>
            <a:ext cx="4038600" cy="51816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33" name="Google Shape;33;p5"/>
          <p:cNvSpPr txBox="1"/>
          <p:nvPr>
            <p:ph idx="2" type="body"/>
          </p:nvPr>
        </p:nvSpPr>
        <p:spPr>
          <a:xfrm>
            <a:off x="4648200" y="1066800"/>
            <a:ext cx="4038600" cy="51816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34" name="Google Shape;34;p5"/>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5" name="Shape 35"/>
        <p:cNvGrpSpPr/>
        <p:nvPr/>
      </p:nvGrpSpPr>
      <p:grpSpPr>
        <a:xfrm>
          <a:off x="0" y="0"/>
          <a:ext cx="0" cy="0"/>
          <a:chOff x="0" y="0"/>
          <a:chExt cx="0" cy="0"/>
        </a:xfrm>
      </p:grpSpPr>
      <p:sp>
        <p:nvSpPr>
          <p:cNvPr id="36" name="Google Shape;36;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7" name="Google Shape;37;p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38" name="Google Shape;38;p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39" name="Google Shape;39;p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40" name="Google Shape;40;p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41" name="Google Shape;41;p6"/>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2" name="Shape 42"/>
        <p:cNvGrpSpPr/>
        <p:nvPr/>
      </p:nvGrpSpPr>
      <p:grpSpPr>
        <a:xfrm>
          <a:off x="0" y="0"/>
          <a:ext cx="0" cy="0"/>
          <a:chOff x="0" y="0"/>
          <a:chExt cx="0" cy="0"/>
        </a:xfrm>
      </p:grpSpPr>
      <p:sp>
        <p:nvSpPr>
          <p:cNvPr id="43" name="Google Shape;43;p7"/>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4" name="Google Shape;44;p7"/>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5" name="Shape 45"/>
        <p:cNvGrpSpPr/>
        <p:nvPr/>
      </p:nvGrpSpPr>
      <p:grpSpPr>
        <a:xfrm>
          <a:off x="0" y="0"/>
          <a:ext cx="0" cy="0"/>
          <a:chOff x="0" y="0"/>
          <a:chExt cx="0" cy="0"/>
        </a:xfrm>
      </p:grpSpPr>
      <p:sp>
        <p:nvSpPr>
          <p:cNvPr id="46" name="Google Shape;46;p8"/>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7" name="Shape 47"/>
        <p:cNvGrpSpPr/>
        <p:nvPr/>
      </p:nvGrpSpPr>
      <p:grpSpPr>
        <a:xfrm>
          <a:off x="0" y="0"/>
          <a:ext cx="0" cy="0"/>
          <a:chOff x="0" y="0"/>
          <a:chExt cx="0" cy="0"/>
        </a:xfrm>
      </p:grpSpPr>
      <p:sp>
        <p:nvSpPr>
          <p:cNvPr id="48" name="Google Shape;48;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9" name="Google Shape;49;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Arial"/>
              <a:buChar char="•"/>
              <a:defRPr sz="3200"/>
            </a:lvl1pPr>
            <a:lvl2pPr indent="-406400" lvl="1" marL="914400" algn="l">
              <a:spcBef>
                <a:spcPts val="560"/>
              </a:spcBef>
              <a:spcAft>
                <a:spcPts val="0"/>
              </a:spcAft>
              <a:buClr>
                <a:schemeClr val="dk1"/>
              </a:buClr>
              <a:buSzPts val="2800"/>
              <a:buFont typeface="Arial"/>
              <a:buChar char="–"/>
              <a:defRPr sz="2800"/>
            </a:lvl2pPr>
            <a:lvl3pPr indent="-381000" lvl="2" marL="1371600" algn="l">
              <a:spcBef>
                <a:spcPts val="480"/>
              </a:spcBef>
              <a:spcAft>
                <a:spcPts val="0"/>
              </a:spcAft>
              <a:buClr>
                <a:schemeClr val="dk1"/>
              </a:buClr>
              <a:buSzPts val="240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spcBef>
                <a:spcPts val="400"/>
              </a:spcBef>
              <a:spcAft>
                <a:spcPts val="0"/>
              </a:spcAft>
              <a:buClr>
                <a:schemeClr val="dk1"/>
              </a:buClr>
              <a:buSzPts val="2000"/>
              <a:buFont typeface="Arial"/>
              <a:buChar char="»"/>
              <a:defRPr sz="2000"/>
            </a:lvl6pPr>
            <a:lvl7pPr indent="-355600" lvl="6" marL="3200400" algn="l">
              <a:spcBef>
                <a:spcPts val="400"/>
              </a:spcBef>
              <a:spcAft>
                <a:spcPts val="0"/>
              </a:spcAft>
              <a:buClr>
                <a:schemeClr val="dk1"/>
              </a:buClr>
              <a:buSzPts val="2000"/>
              <a:buFont typeface="Arial"/>
              <a:buChar char="»"/>
              <a:defRPr sz="2000"/>
            </a:lvl7pPr>
            <a:lvl8pPr indent="-355600" lvl="7" marL="3657600" algn="l">
              <a:spcBef>
                <a:spcPts val="400"/>
              </a:spcBef>
              <a:spcAft>
                <a:spcPts val="0"/>
              </a:spcAft>
              <a:buClr>
                <a:schemeClr val="dk1"/>
              </a:buClr>
              <a:buSzPts val="2000"/>
              <a:buFont typeface="Arial"/>
              <a:buChar char="»"/>
              <a:defRPr sz="2000"/>
            </a:lvl8pPr>
            <a:lvl9pPr indent="-355600" lvl="8" marL="4114800" algn="l">
              <a:spcBef>
                <a:spcPts val="400"/>
              </a:spcBef>
              <a:spcAft>
                <a:spcPts val="0"/>
              </a:spcAft>
              <a:buClr>
                <a:schemeClr val="dk1"/>
              </a:buClr>
              <a:buSzPts val="2000"/>
              <a:buFont typeface="Arial"/>
              <a:buChar char="»"/>
              <a:defRPr sz="2000"/>
            </a:lvl9pPr>
          </a:lstStyle>
          <a:p/>
        </p:txBody>
      </p:sp>
      <p:sp>
        <p:nvSpPr>
          <p:cNvPr id="50" name="Google Shape;50;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51" name="Google Shape;51;p9"/>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2" name="Shape 52"/>
        <p:cNvGrpSpPr/>
        <p:nvPr/>
      </p:nvGrpSpPr>
      <p:grpSpPr>
        <a:xfrm>
          <a:off x="0" y="0"/>
          <a:ext cx="0" cy="0"/>
          <a:chOff x="0" y="0"/>
          <a:chExt cx="0" cy="0"/>
        </a:xfrm>
      </p:grpSpPr>
      <p:sp>
        <p:nvSpPr>
          <p:cNvPr id="53" name="Google Shape;53;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4" name="Google Shape;54;p10"/>
          <p:cNvSpPr/>
          <p:nvPr>
            <p:ph idx="2" type="pic"/>
          </p:nvPr>
        </p:nvSpPr>
        <p:spPr>
          <a:xfrm>
            <a:off x="1792288" y="612775"/>
            <a:ext cx="5486400" cy="4114800"/>
          </a:xfrm>
          <a:prstGeom prst="rect">
            <a:avLst/>
          </a:prstGeom>
          <a:noFill/>
          <a:ln>
            <a:noFill/>
          </a:ln>
        </p:spPr>
      </p:sp>
      <p:sp>
        <p:nvSpPr>
          <p:cNvPr id="55" name="Google Shape;55;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56" name="Google Shape;56;p10"/>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7" name="Shape 57"/>
        <p:cNvGrpSpPr/>
        <p:nvPr/>
      </p:nvGrpSpPr>
      <p:grpSpPr>
        <a:xfrm>
          <a:off x="0" y="0"/>
          <a:ext cx="0" cy="0"/>
          <a:chOff x="0" y="0"/>
          <a:chExt cx="0" cy="0"/>
        </a:xfrm>
      </p:grpSpPr>
      <p:sp>
        <p:nvSpPr>
          <p:cNvPr id="58" name="Google Shape;58;p11"/>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9" name="Google Shape;59;p11"/>
          <p:cNvSpPr txBox="1"/>
          <p:nvPr>
            <p:ph idx="1" type="body"/>
          </p:nvPr>
        </p:nvSpPr>
        <p:spPr>
          <a:xfrm rot="5400000">
            <a:off x="1981200" y="-457200"/>
            <a:ext cx="5181600"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0" name="Google Shape;60;p11"/>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1" name="Shape 61"/>
        <p:cNvGrpSpPr/>
        <p:nvPr/>
      </p:nvGrpSpPr>
      <p:grpSpPr>
        <a:xfrm>
          <a:off x="0" y="0"/>
          <a:ext cx="0" cy="0"/>
          <a:chOff x="0" y="0"/>
          <a:chExt cx="0" cy="0"/>
        </a:xfrm>
      </p:grpSpPr>
      <p:sp>
        <p:nvSpPr>
          <p:cNvPr id="62" name="Google Shape;62;p12"/>
          <p:cNvSpPr txBox="1"/>
          <p:nvPr>
            <p:ph type="title"/>
          </p:nvPr>
        </p:nvSpPr>
        <p:spPr>
          <a:xfrm rot="5400000">
            <a:off x="4595019" y="2156619"/>
            <a:ext cx="6126162"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3" name="Google Shape;63;p12"/>
          <p:cNvSpPr txBox="1"/>
          <p:nvPr>
            <p:ph idx="1" type="body"/>
          </p:nvPr>
        </p:nvSpPr>
        <p:spPr>
          <a:xfrm rot="5400000">
            <a:off x="404019" y="175419"/>
            <a:ext cx="6126162"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4" name="Google Shape;64;p12"/>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65" name="Shape 65"/>
        <p:cNvGrpSpPr/>
        <p:nvPr/>
      </p:nvGrpSpPr>
      <p:grpSpPr>
        <a:xfrm>
          <a:off x="0" y="0"/>
          <a:ext cx="0" cy="0"/>
          <a:chOff x="0" y="0"/>
          <a:chExt cx="0" cy="0"/>
        </a:xfrm>
      </p:grpSpPr>
      <p:sp>
        <p:nvSpPr>
          <p:cNvPr id="66" name="Google Shape;66;p13"/>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7" name="Google Shape;67;p13"/>
          <p:cNvSpPr txBox="1"/>
          <p:nvPr>
            <p:ph idx="1" type="body"/>
          </p:nvPr>
        </p:nvSpPr>
        <p:spPr>
          <a:xfrm>
            <a:off x="457200" y="1066800"/>
            <a:ext cx="4038600" cy="5181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8" name="Google Shape;68;p13"/>
          <p:cNvSpPr txBox="1"/>
          <p:nvPr>
            <p:ph idx="2" type="body"/>
          </p:nvPr>
        </p:nvSpPr>
        <p:spPr>
          <a:xfrm>
            <a:off x="4648200" y="1066800"/>
            <a:ext cx="4038600" cy="5181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9" name="Google Shape;69;p13"/>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2 Content" type="txAndTwoObj">
  <p:cSld name="TEXT_AND_TWO_OBJECTS">
    <p:spTree>
      <p:nvGrpSpPr>
        <p:cNvPr id="70" name="Shape 70"/>
        <p:cNvGrpSpPr/>
        <p:nvPr/>
      </p:nvGrpSpPr>
      <p:grpSpPr>
        <a:xfrm>
          <a:off x="0" y="0"/>
          <a:ext cx="0" cy="0"/>
          <a:chOff x="0" y="0"/>
          <a:chExt cx="0" cy="0"/>
        </a:xfrm>
      </p:grpSpPr>
      <p:sp>
        <p:nvSpPr>
          <p:cNvPr id="71" name="Google Shape;71;p14"/>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2" name="Google Shape;72;p14"/>
          <p:cNvSpPr txBox="1"/>
          <p:nvPr>
            <p:ph idx="1" type="body"/>
          </p:nvPr>
        </p:nvSpPr>
        <p:spPr>
          <a:xfrm>
            <a:off x="457200" y="1066800"/>
            <a:ext cx="4038600" cy="5181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3" name="Google Shape;73;p14"/>
          <p:cNvSpPr txBox="1"/>
          <p:nvPr>
            <p:ph idx="2" type="body"/>
          </p:nvPr>
        </p:nvSpPr>
        <p:spPr>
          <a:xfrm>
            <a:off x="4648200" y="1066800"/>
            <a:ext cx="4038600" cy="2514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4" name="Google Shape;74;p14"/>
          <p:cNvSpPr txBox="1"/>
          <p:nvPr>
            <p:ph idx="3" type="body"/>
          </p:nvPr>
        </p:nvSpPr>
        <p:spPr>
          <a:xfrm>
            <a:off x="4648200" y="3733800"/>
            <a:ext cx="4038600" cy="2514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4"/>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type="tbl">
  <p:cSld name="TABLE">
    <p:spTree>
      <p:nvGrpSpPr>
        <p:cNvPr id="76" name="Shape 76"/>
        <p:cNvGrpSpPr/>
        <p:nvPr/>
      </p:nvGrpSpPr>
      <p:grpSpPr>
        <a:xfrm>
          <a:off x="0" y="0"/>
          <a:ext cx="0" cy="0"/>
          <a:chOff x="0" y="0"/>
          <a:chExt cx="0" cy="0"/>
        </a:xfrm>
      </p:grpSpPr>
      <p:sp>
        <p:nvSpPr>
          <p:cNvPr id="77" name="Google Shape;77;p15"/>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8" name="Google Shape;78;p15"/>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6" name="Shape 86"/>
        <p:cNvGrpSpPr/>
        <p:nvPr/>
      </p:nvGrpSpPr>
      <p:grpSpPr>
        <a:xfrm>
          <a:off x="0" y="0"/>
          <a:ext cx="0" cy="0"/>
          <a:chOff x="0" y="0"/>
          <a:chExt cx="0" cy="0"/>
        </a:xfrm>
      </p:grpSpPr>
      <p:sp>
        <p:nvSpPr>
          <p:cNvPr id="87" name="Google Shape;87;p17"/>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8" name="Google Shape;88;p17"/>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9" name="Shape 89"/>
        <p:cNvGrpSpPr/>
        <p:nvPr/>
      </p:nvGrpSpPr>
      <p:grpSpPr>
        <a:xfrm>
          <a:off x="0" y="0"/>
          <a:ext cx="0" cy="0"/>
          <a:chOff x="0" y="0"/>
          <a:chExt cx="0" cy="0"/>
        </a:xfrm>
      </p:grpSpPr>
      <p:sp>
        <p:nvSpPr>
          <p:cNvPr id="90" name="Google Shape;90;p1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1" name="Google Shape;91;p1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480"/>
              </a:spcBef>
              <a:spcAft>
                <a:spcPts val="0"/>
              </a:spcAft>
              <a:buClr>
                <a:schemeClr val="dk1"/>
              </a:buClr>
              <a:buSzPts val="2400"/>
              <a:buFont typeface="Arial"/>
              <a:buNone/>
              <a:defRPr/>
            </a:lvl1pPr>
            <a:lvl2pPr lvl="1" algn="ctr">
              <a:spcBef>
                <a:spcPts val="400"/>
              </a:spcBef>
              <a:spcAft>
                <a:spcPts val="0"/>
              </a:spcAft>
              <a:buClr>
                <a:schemeClr val="dk1"/>
              </a:buClr>
              <a:buSzPts val="2000"/>
              <a:buFont typeface="Arial"/>
              <a:buNone/>
              <a:defRPr/>
            </a:lvl2pPr>
            <a:lvl3pPr lvl="2" algn="ctr">
              <a:spcBef>
                <a:spcPts val="480"/>
              </a:spcBef>
              <a:spcAft>
                <a:spcPts val="0"/>
              </a:spcAft>
              <a:buClr>
                <a:schemeClr val="dk1"/>
              </a:buClr>
              <a:buSzPts val="2400"/>
              <a:buFont typeface="Arial"/>
              <a:buNone/>
              <a:defRPr/>
            </a:lvl3pPr>
            <a:lvl4pPr lvl="3" algn="ctr">
              <a:spcBef>
                <a:spcPts val="320"/>
              </a:spcBef>
              <a:spcAft>
                <a:spcPts val="0"/>
              </a:spcAft>
              <a:buClr>
                <a:schemeClr val="dk1"/>
              </a:buClr>
              <a:buSzPts val="1600"/>
              <a:buFont typeface="Arial"/>
              <a:buNone/>
              <a:defRPr/>
            </a:lvl4pPr>
            <a:lvl5pPr lvl="4" algn="ctr">
              <a:spcBef>
                <a:spcPts val="280"/>
              </a:spcBef>
              <a:spcAft>
                <a:spcPts val="0"/>
              </a:spcAft>
              <a:buClr>
                <a:schemeClr val="dk1"/>
              </a:buClr>
              <a:buSzPts val="1400"/>
              <a:buFont typeface="Arial"/>
              <a:buNone/>
              <a:defRPr/>
            </a:lvl5pPr>
            <a:lvl6pPr lvl="5" algn="ctr">
              <a:spcBef>
                <a:spcPts val="280"/>
              </a:spcBef>
              <a:spcAft>
                <a:spcPts val="0"/>
              </a:spcAft>
              <a:buClr>
                <a:schemeClr val="dk1"/>
              </a:buClr>
              <a:buSzPts val="1400"/>
              <a:buFont typeface="Arial"/>
              <a:buNone/>
              <a:defRPr/>
            </a:lvl6pPr>
            <a:lvl7pPr lvl="6" algn="ctr">
              <a:spcBef>
                <a:spcPts val="280"/>
              </a:spcBef>
              <a:spcAft>
                <a:spcPts val="0"/>
              </a:spcAft>
              <a:buClr>
                <a:schemeClr val="dk1"/>
              </a:buClr>
              <a:buSzPts val="1400"/>
              <a:buFont typeface="Arial"/>
              <a:buNone/>
              <a:defRPr/>
            </a:lvl7pPr>
            <a:lvl8pPr lvl="7" algn="ctr">
              <a:spcBef>
                <a:spcPts val="280"/>
              </a:spcBef>
              <a:spcAft>
                <a:spcPts val="0"/>
              </a:spcAft>
              <a:buClr>
                <a:schemeClr val="dk1"/>
              </a:buClr>
              <a:buSzPts val="1400"/>
              <a:buFont typeface="Arial"/>
              <a:buNone/>
              <a:defRPr/>
            </a:lvl8pPr>
            <a:lvl9pPr lvl="8" algn="ctr">
              <a:spcBef>
                <a:spcPts val="280"/>
              </a:spcBef>
              <a:spcAft>
                <a:spcPts val="0"/>
              </a:spcAft>
              <a:buClr>
                <a:schemeClr val="dk1"/>
              </a:buClr>
              <a:buSzPts val="1400"/>
              <a:buFont typeface="Arial"/>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2" name="Shape 92"/>
        <p:cNvGrpSpPr/>
        <p:nvPr/>
      </p:nvGrpSpPr>
      <p:grpSpPr>
        <a:xfrm>
          <a:off x="0" y="0"/>
          <a:ext cx="0" cy="0"/>
          <a:chOff x="0" y="0"/>
          <a:chExt cx="0" cy="0"/>
        </a:xfrm>
      </p:grpSpPr>
      <p:sp>
        <p:nvSpPr>
          <p:cNvPr id="93" name="Google Shape;93;p19"/>
          <p:cNvSpPr/>
          <p:nvPr/>
        </p:nvSpPr>
        <p:spPr>
          <a:xfrm>
            <a:off x="3505200" y="5715000"/>
            <a:ext cx="1905000" cy="4572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pic>
        <p:nvPicPr>
          <p:cNvPr id="94" name="Google Shape;94;p19"/>
          <p:cNvPicPr preferRelativeResize="0"/>
          <p:nvPr/>
        </p:nvPicPr>
        <p:blipFill rotWithShape="1">
          <a:blip r:embed="rId2">
            <a:alphaModFix/>
          </a:blip>
          <a:srcRect b="0" l="0" r="0" t="0"/>
          <a:stretch/>
        </p:blipFill>
        <p:spPr>
          <a:xfrm>
            <a:off x="228600" y="6375400"/>
            <a:ext cx="461963" cy="457200"/>
          </a:xfrm>
          <a:prstGeom prst="rect">
            <a:avLst/>
          </a:prstGeom>
          <a:noFill/>
          <a:ln>
            <a:noFill/>
          </a:ln>
        </p:spPr>
      </p:pic>
      <p:sp>
        <p:nvSpPr>
          <p:cNvPr id="95" name="Google Shape;95;p19"/>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6" name="Google Shape;96;p19"/>
          <p:cNvSpPr txBox="1"/>
          <p:nvPr>
            <p:ph idx="1" type="body"/>
          </p:nvPr>
        </p:nvSpPr>
        <p:spPr>
          <a:xfrm>
            <a:off x="457200" y="1066800"/>
            <a:ext cx="8229600" cy="5181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7" name="Google Shape;97;p19"/>
          <p:cNvSpPr/>
          <p:nvPr/>
        </p:nvSpPr>
        <p:spPr>
          <a:xfrm>
            <a:off x="8305800" y="6375400"/>
            <a:ext cx="466794"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
        <p:nvSpPr>
          <p:cNvPr id="98" name="Google Shape;98;p19"/>
          <p:cNvSpPr txBox="1"/>
          <p:nvPr/>
        </p:nvSpPr>
        <p:spPr>
          <a:xfrm>
            <a:off x="838200" y="6280834"/>
            <a:ext cx="7467600" cy="64633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lang="en-US" sz="1800">
                <a:solidFill>
                  <a:schemeClr val="dk2"/>
                </a:solidFill>
                <a:latin typeface="Times New Roman"/>
                <a:ea typeface="Times New Roman"/>
                <a:cs typeface="Times New Roman"/>
                <a:sym typeface="Times New Roman"/>
              </a:rPr>
              <a:t>A</a:t>
            </a:r>
            <a:r>
              <a:rPr b="0" lang="en-US" sz="1800">
                <a:solidFill>
                  <a:schemeClr val="dk2"/>
                </a:solidFill>
                <a:latin typeface="Times New Roman"/>
                <a:ea typeface="Times New Roman"/>
                <a:cs typeface="Times New Roman"/>
                <a:sym typeface="Times New Roman"/>
              </a:rPr>
              <a:t> </a:t>
            </a:r>
            <a:r>
              <a:rPr b="0" lang="en-US" sz="1800">
                <a:solidFill>
                  <a:schemeClr val="dk2"/>
                </a:solidFill>
                <a:latin typeface="Times New Roman"/>
                <a:ea typeface="Times New Roman"/>
                <a:cs typeface="Times New Roman"/>
                <a:sym typeface="Times New Roman"/>
              </a:rPr>
              <a:t>Sophisticated Low Profile Microwave Flat Lens using Periodic Structures at C Band</a:t>
            </a:r>
            <a:endParaRPr b="0" sz="1800">
              <a:solidFill>
                <a:schemeClr val="dk2"/>
              </a:solidFill>
              <a:latin typeface="Times New Roman"/>
              <a:ea typeface="Times New Roman"/>
              <a:cs typeface="Times New Roman"/>
              <a:sym typeface="Times New Roman"/>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9" name="Shape 99"/>
        <p:cNvGrpSpPr/>
        <p:nvPr/>
      </p:nvGrpSpPr>
      <p:grpSpPr>
        <a:xfrm>
          <a:off x="0" y="0"/>
          <a:ext cx="0" cy="0"/>
          <a:chOff x="0" y="0"/>
          <a:chExt cx="0" cy="0"/>
        </a:xfrm>
      </p:grpSpPr>
      <p:pic>
        <p:nvPicPr>
          <p:cNvPr id="100" name="Google Shape;100;p20"/>
          <p:cNvPicPr preferRelativeResize="0"/>
          <p:nvPr/>
        </p:nvPicPr>
        <p:blipFill rotWithShape="1">
          <a:blip r:embed="rId2">
            <a:alphaModFix/>
          </a:blip>
          <a:srcRect b="0" l="0" r="0" t="0"/>
          <a:stretch/>
        </p:blipFill>
        <p:spPr>
          <a:xfrm>
            <a:off x="228600" y="6375400"/>
            <a:ext cx="461963" cy="457200"/>
          </a:xfrm>
          <a:prstGeom prst="rect">
            <a:avLst/>
          </a:prstGeom>
          <a:noFill/>
          <a:ln>
            <a:noFill/>
          </a:ln>
        </p:spPr>
      </p:pic>
      <p:sp>
        <p:nvSpPr>
          <p:cNvPr id="101" name="Google Shape;101;p2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2" name="Google Shape;102;p2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Arial"/>
              <a:buNone/>
              <a:defRPr sz="2000"/>
            </a:lvl1pPr>
            <a:lvl2pPr indent="-228600" lvl="1" marL="914400" algn="l">
              <a:spcBef>
                <a:spcPts val="360"/>
              </a:spcBef>
              <a:spcAft>
                <a:spcPts val="0"/>
              </a:spcAft>
              <a:buClr>
                <a:schemeClr val="dk1"/>
              </a:buClr>
              <a:buSzPts val="1800"/>
              <a:buFont typeface="Arial"/>
              <a:buNone/>
              <a:defRPr sz="1800"/>
            </a:lvl2pPr>
            <a:lvl3pPr indent="-228600" lvl="2" marL="1371600" algn="l">
              <a:spcBef>
                <a:spcPts val="320"/>
              </a:spcBef>
              <a:spcAft>
                <a:spcPts val="0"/>
              </a:spcAft>
              <a:buClr>
                <a:schemeClr val="dk1"/>
              </a:buClr>
              <a:buSzPts val="1600"/>
              <a:buFont typeface="Arial"/>
              <a:buNone/>
              <a:defRPr sz="1600"/>
            </a:lvl3pPr>
            <a:lvl4pPr indent="-228600" lvl="3" marL="1828800" algn="l">
              <a:spcBef>
                <a:spcPts val="280"/>
              </a:spcBef>
              <a:spcAft>
                <a:spcPts val="0"/>
              </a:spcAft>
              <a:buClr>
                <a:schemeClr val="dk1"/>
              </a:buClr>
              <a:buSzPts val="1400"/>
              <a:buFont typeface="Arial"/>
              <a:buNone/>
              <a:defRPr sz="1400"/>
            </a:lvl4pPr>
            <a:lvl5pPr indent="-228600" lvl="4" marL="2286000" algn="l">
              <a:spcBef>
                <a:spcPts val="280"/>
              </a:spcBef>
              <a:spcAft>
                <a:spcPts val="0"/>
              </a:spcAft>
              <a:buClr>
                <a:schemeClr val="dk1"/>
              </a:buClr>
              <a:buSzPts val="1400"/>
              <a:buFont typeface="Arial"/>
              <a:buNone/>
              <a:defRPr sz="1400"/>
            </a:lvl5pPr>
            <a:lvl6pPr indent="-228600" lvl="5" marL="2743200" algn="l">
              <a:spcBef>
                <a:spcPts val="280"/>
              </a:spcBef>
              <a:spcAft>
                <a:spcPts val="0"/>
              </a:spcAft>
              <a:buClr>
                <a:schemeClr val="dk1"/>
              </a:buClr>
              <a:buSzPts val="1400"/>
              <a:buFont typeface="Arial"/>
              <a:buNone/>
              <a:defRPr sz="1400"/>
            </a:lvl6pPr>
            <a:lvl7pPr indent="-228600" lvl="6" marL="3200400" algn="l">
              <a:spcBef>
                <a:spcPts val="280"/>
              </a:spcBef>
              <a:spcAft>
                <a:spcPts val="0"/>
              </a:spcAft>
              <a:buClr>
                <a:schemeClr val="dk1"/>
              </a:buClr>
              <a:buSzPts val="1400"/>
              <a:buFont typeface="Arial"/>
              <a:buNone/>
              <a:defRPr sz="1400"/>
            </a:lvl7pPr>
            <a:lvl8pPr indent="-228600" lvl="7" marL="3657600" algn="l">
              <a:spcBef>
                <a:spcPts val="280"/>
              </a:spcBef>
              <a:spcAft>
                <a:spcPts val="0"/>
              </a:spcAft>
              <a:buClr>
                <a:schemeClr val="dk1"/>
              </a:buClr>
              <a:buSzPts val="1400"/>
              <a:buFont typeface="Arial"/>
              <a:buNone/>
              <a:defRPr sz="1400"/>
            </a:lvl8pPr>
            <a:lvl9pPr indent="-228600" lvl="8" marL="4114800" algn="l">
              <a:spcBef>
                <a:spcPts val="280"/>
              </a:spcBef>
              <a:spcAft>
                <a:spcPts val="0"/>
              </a:spcAft>
              <a:buClr>
                <a:schemeClr val="dk1"/>
              </a:buClr>
              <a:buSzPts val="1400"/>
              <a:buFont typeface="Arial"/>
              <a:buNone/>
              <a:defRPr sz="1400"/>
            </a:lvl9pPr>
          </a:lstStyle>
          <a:p/>
        </p:txBody>
      </p:sp>
      <p:sp>
        <p:nvSpPr>
          <p:cNvPr id="103" name="Google Shape;103;p20"/>
          <p:cNvSpPr txBox="1"/>
          <p:nvPr>
            <p:ph idx="12" type="sldNum"/>
          </p:nvPr>
        </p:nvSpPr>
        <p:spPr>
          <a:xfrm>
            <a:off x="7010400" y="6381750"/>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r>
              <a:rPr lang="en-US"/>
              <a:t>       </a:t>
            </a: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4" name="Shape 104"/>
        <p:cNvGrpSpPr/>
        <p:nvPr/>
      </p:nvGrpSpPr>
      <p:grpSpPr>
        <a:xfrm>
          <a:off x="0" y="0"/>
          <a:ext cx="0" cy="0"/>
          <a:chOff x="0" y="0"/>
          <a:chExt cx="0" cy="0"/>
        </a:xfrm>
      </p:grpSpPr>
      <p:sp>
        <p:nvSpPr>
          <p:cNvPr id="105" name="Google Shape;105;p21"/>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6" name="Google Shape;106;p21"/>
          <p:cNvSpPr txBox="1"/>
          <p:nvPr>
            <p:ph idx="1" type="body"/>
          </p:nvPr>
        </p:nvSpPr>
        <p:spPr>
          <a:xfrm>
            <a:off x="457200" y="1066800"/>
            <a:ext cx="4038600" cy="51816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107" name="Google Shape;107;p21"/>
          <p:cNvSpPr txBox="1"/>
          <p:nvPr>
            <p:ph idx="2" type="body"/>
          </p:nvPr>
        </p:nvSpPr>
        <p:spPr>
          <a:xfrm>
            <a:off x="4648200" y="1066800"/>
            <a:ext cx="4038600" cy="51816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108" name="Google Shape;108;p21"/>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09" name="Shape 109"/>
        <p:cNvGrpSpPr/>
        <p:nvPr/>
      </p:nvGrpSpPr>
      <p:grpSpPr>
        <a:xfrm>
          <a:off x="0" y="0"/>
          <a:ext cx="0" cy="0"/>
          <a:chOff x="0" y="0"/>
          <a:chExt cx="0" cy="0"/>
        </a:xfrm>
      </p:grpSpPr>
      <p:sp>
        <p:nvSpPr>
          <p:cNvPr id="110" name="Google Shape;110;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1" name="Google Shape;111;p2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112" name="Google Shape;112;p2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113" name="Google Shape;113;p2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114" name="Google Shape;114;p2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115" name="Google Shape;115;p22"/>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6" name="Shape 116"/>
        <p:cNvGrpSpPr/>
        <p:nvPr/>
      </p:nvGrpSpPr>
      <p:grpSpPr>
        <a:xfrm>
          <a:off x="0" y="0"/>
          <a:ext cx="0" cy="0"/>
          <a:chOff x="0" y="0"/>
          <a:chExt cx="0" cy="0"/>
        </a:xfrm>
      </p:grpSpPr>
      <p:sp>
        <p:nvSpPr>
          <p:cNvPr id="117" name="Google Shape;117;p23"/>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18" name="Shape 118"/>
        <p:cNvGrpSpPr/>
        <p:nvPr/>
      </p:nvGrpSpPr>
      <p:grpSpPr>
        <a:xfrm>
          <a:off x="0" y="0"/>
          <a:ext cx="0" cy="0"/>
          <a:chOff x="0" y="0"/>
          <a:chExt cx="0" cy="0"/>
        </a:xfrm>
      </p:grpSpPr>
      <p:sp>
        <p:nvSpPr>
          <p:cNvPr id="119" name="Google Shape;119;p2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0" name="Google Shape;120;p2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Arial"/>
              <a:buChar char="•"/>
              <a:defRPr sz="3200"/>
            </a:lvl1pPr>
            <a:lvl2pPr indent="-406400" lvl="1" marL="914400" algn="l">
              <a:spcBef>
                <a:spcPts val="560"/>
              </a:spcBef>
              <a:spcAft>
                <a:spcPts val="0"/>
              </a:spcAft>
              <a:buClr>
                <a:schemeClr val="dk1"/>
              </a:buClr>
              <a:buSzPts val="2800"/>
              <a:buFont typeface="Arial"/>
              <a:buChar char="–"/>
              <a:defRPr sz="2800"/>
            </a:lvl2pPr>
            <a:lvl3pPr indent="-381000" lvl="2" marL="1371600" algn="l">
              <a:spcBef>
                <a:spcPts val="480"/>
              </a:spcBef>
              <a:spcAft>
                <a:spcPts val="0"/>
              </a:spcAft>
              <a:buClr>
                <a:schemeClr val="dk1"/>
              </a:buClr>
              <a:buSzPts val="240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spcBef>
                <a:spcPts val="400"/>
              </a:spcBef>
              <a:spcAft>
                <a:spcPts val="0"/>
              </a:spcAft>
              <a:buClr>
                <a:schemeClr val="dk1"/>
              </a:buClr>
              <a:buSzPts val="2000"/>
              <a:buFont typeface="Arial"/>
              <a:buChar char="»"/>
              <a:defRPr sz="2000"/>
            </a:lvl6pPr>
            <a:lvl7pPr indent="-355600" lvl="6" marL="3200400" algn="l">
              <a:spcBef>
                <a:spcPts val="400"/>
              </a:spcBef>
              <a:spcAft>
                <a:spcPts val="0"/>
              </a:spcAft>
              <a:buClr>
                <a:schemeClr val="dk1"/>
              </a:buClr>
              <a:buSzPts val="2000"/>
              <a:buFont typeface="Arial"/>
              <a:buChar char="»"/>
              <a:defRPr sz="2000"/>
            </a:lvl7pPr>
            <a:lvl8pPr indent="-355600" lvl="7" marL="3657600" algn="l">
              <a:spcBef>
                <a:spcPts val="400"/>
              </a:spcBef>
              <a:spcAft>
                <a:spcPts val="0"/>
              </a:spcAft>
              <a:buClr>
                <a:schemeClr val="dk1"/>
              </a:buClr>
              <a:buSzPts val="2000"/>
              <a:buFont typeface="Arial"/>
              <a:buChar char="»"/>
              <a:defRPr sz="2000"/>
            </a:lvl8pPr>
            <a:lvl9pPr indent="-355600" lvl="8" marL="4114800" algn="l">
              <a:spcBef>
                <a:spcPts val="400"/>
              </a:spcBef>
              <a:spcAft>
                <a:spcPts val="0"/>
              </a:spcAft>
              <a:buClr>
                <a:schemeClr val="dk1"/>
              </a:buClr>
              <a:buSzPts val="2000"/>
              <a:buFont typeface="Arial"/>
              <a:buChar char="»"/>
              <a:defRPr sz="2000"/>
            </a:lvl9pPr>
          </a:lstStyle>
          <a:p/>
        </p:txBody>
      </p:sp>
      <p:sp>
        <p:nvSpPr>
          <p:cNvPr id="121" name="Google Shape;121;p2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122" name="Google Shape;122;p24"/>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23" name="Shape 123"/>
        <p:cNvGrpSpPr/>
        <p:nvPr/>
      </p:nvGrpSpPr>
      <p:grpSpPr>
        <a:xfrm>
          <a:off x="0" y="0"/>
          <a:ext cx="0" cy="0"/>
          <a:chOff x="0" y="0"/>
          <a:chExt cx="0" cy="0"/>
        </a:xfrm>
      </p:grpSpPr>
      <p:sp>
        <p:nvSpPr>
          <p:cNvPr id="124" name="Google Shape;124;p2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5" name="Google Shape;125;p25"/>
          <p:cNvSpPr/>
          <p:nvPr>
            <p:ph idx="2" type="pic"/>
          </p:nvPr>
        </p:nvSpPr>
        <p:spPr>
          <a:xfrm>
            <a:off x="1792288" y="612775"/>
            <a:ext cx="5486400" cy="4114800"/>
          </a:xfrm>
          <a:prstGeom prst="rect">
            <a:avLst/>
          </a:prstGeom>
          <a:noFill/>
          <a:ln>
            <a:noFill/>
          </a:ln>
        </p:spPr>
      </p:sp>
      <p:sp>
        <p:nvSpPr>
          <p:cNvPr id="126" name="Google Shape;126;p2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127" name="Google Shape;127;p25"/>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8" name="Shape 128"/>
        <p:cNvGrpSpPr/>
        <p:nvPr/>
      </p:nvGrpSpPr>
      <p:grpSpPr>
        <a:xfrm>
          <a:off x="0" y="0"/>
          <a:ext cx="0" cy="0"/>
          <a:chOff x="0" y="0"/>
          <a:chExt cx="0" cy="0"/>
        </a:xfrm>
      </p:grpSpPr>
      <p:sp>
        <p:nvSpPr>
          <p:cNvPr id="129" name="Google Shape;129;p26"/>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0" name="Google Shape;130;p26"/>
          <p:cNvSpPr txBox="1"/>
          <p:nvPr>
            <p:ph idx="1" type="body"/>
          </p:nvPr>
        </p:nvSpPr>
        <p:spPr>
          <a:xfrm rot="5400000">
            <a:off x="1981200" y="-457200"/>
            <a:ext cx="5181600"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31" name="Google Shape;131;p26"/>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2" name="Shape 132"/>
        <p:cNvGrpSpPr/>
        <p:nvPr/>
      </p:nvGrpSpPr>
      <p:grpSpPr>
        <a:xfrm>
          <a:off x="0" y="0"/>
          <a:ext cx="0" cy="0"/>
          <a:chOff x="0" y="0"/>
          <a:chExt cx="0" cy="0"/>
        </a:xfrm>
      </p:grpSpPr>
      <p:sp>
        <p:nvSpPr>
          <p:cNvPr id="133" name="Google Shape;133;p27"/>
          <p:cNvSpPr txBox="1"/>
          <p:nvPr>
            <p:ph type="title"/>
          </p:nvPr>
        </p:nvSpPr>
        <p:spPr>
          <a:xfrm rot="5400000">
            <a:off x="4595019" y="2156619"/>
            <a:ext cx="6126162"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4" name="Google Shape;134;p27"/>
          <p:cNvSpPr txBox="1"/>
          <p:nvPr>
            <p:ph idx="1" type="body"/>
          </p:nvPr>
        </p:nvSpPr>
        <p:spPr>
          <a:xfrm rot="5400000">
            <a:off x="404019" y="175419"/>
            <a:ext cx="6126162"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35" name="Google Shape;135;p27"/>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136" name="Shape 136"/>
        <p:cNvGrpSpPr/>
        <p:nvPr/>
      </p:nvGrpSpPr>
      <p:grpSpPr>
        <a:xfrm>
          <a:off x="0" y="0"/>
          <a:ext cx="0" cy="0"/>
          <a:chOff x="0" y="0"/>
          <a:chExt cx="0" cy="0"/>
        </a:xfrm>
      </p:grpSpPr>
      <p:sp>
        <p:nvSpPr>
          <p:cNvPr id="137" name="Google Shape;137;p28"/>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8" name="Google Shape;138;p28"/>
          <p:cNvSpPr txBox="1"/>
          <p:nvPr>
            <p:ph idx="1" type="body"/>
          </p:nvPr>
        </p:nvSpPr>
        <p:spPr>
          <a:xfrm>
            <a:off x="457200" y="1066800"/>
            <a:ext cx="4038600" cy="5181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39" name="Google Shape;139;p28"/>
          <p:cNvSpPr txBox="1"/>
          <p:nvPr>
            <p:ph idx="2" type="body"/>
          </p:nvPr>
        </p:nvSpPr>
        <p:spPr>
          <a:xfrm>
            <a:off x="4648200" y="1066800"/>
            <a:ext cx="4038600" cy="5181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0" name="Google Shape;140;p28"/>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2 Content" type="txAndTwoObj">
  <p:cSld name="TEXT_AND_TWO_OBJECTS">
    <p:spTree>
      <p:nvGrpSpPr>
        <p:cNvPr id="141" name="Shape 141"/>
        <p:cNvGrpSpPr/>
        <p:nvPr/>
      </p:nvGrpSpPr>
      <p:grpSpPr>
        <a:xfrm>
          <a:off x="0" y="0"/>
          <a:ext cx="0" cy="0"/>
          <a:chOff x="0" y="0"/>
          <a:chExt cx="0" cy="0"/>
        </a:xfrm>
      </p:grpSpPr>
      <p:sp>
        <p:nvSpPr>
          <p:cNvPr id="142" name="Google Shape;142;p29"/>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3" name="Google Shape;143;p29"/>
          <p:cNvSpPr txBox="1"/>
          <p:nvPr>
            <p:ph idx="1" type="body"/>
          </p:nvPr>
        </p:nvSpPr>
        <p:spPr>
          <a:xfrm>
            <a:off x="457200" y="1066800"/>
            <a:ext cx="4038600" cy="5181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4" name="Google Shape;144;p29"/>
          <p:cNvSpPr txBox="1"/>
          <p:nvPr>
            <p:ph idx="2" type="body"/>
          </p:nvPr>
        </p:nvSpPr>
        <p:spPr>
          <a:xfrm>
            <a:off x="4648200" y="1066800"/>
            <a:ext cx="4038600" cy="2514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5" name="Google Shape;145;p29"/>
          <p:cNvSpPr txBox="1"/>
          <p:nvPr>
            <p:ph idx="3" type="body"/>
          </p:nvPr>
        </p:nvSpPr>
        <p:spPr>
          <a:xfrm>
            <a:off x="4648200" y="3733800"/>
            <a:ext cx="4038600" cy="2514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6" name="Google Shape;146;p29"/>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type="tbl">
  <p:cSld name="TABLE">
    <p:spTree>
      <p:nvGrpSpPr>
        <p:cNvPr id="147" name="Shape 147"/>
        <p:cNvGrpSpPr/>
        <p:nvPr/>
      </p:nvGrpSpPr>
      <p:grpSpPr>
        <a:xfrm>
          <a:off x="0" y="0"/>
          <a:ext cx="0" cy="0"/>
          <a:chOff x="0" y="0"/>
          <a:chExt cx="0" cy="0"/>
        </a:xfrm>
      </p:grpSpPr>
      <p:sp>
        <p:nvSpPr>
          <p:cNvPr id="148" name="Google Shape;148;p30"/>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9" name="Google Shape;149;p30"/>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000000"/>
                </a:solidFill>
                <a:latin typeface="Arial"/>
                <a:ea typeface="Arial"/>
                <a:cs typeface="Arial"/>
                <a:sym typeface="Arial"/>
              </a:defRPr>
            </a:lvl1pPr>
            <a:lvl2pPr indent="0" lvl="1" marL="0" marR="0" algn="r">
              <a:spcBef>
                <a:spcPts val="0"/>
              </a:spcBef>
              <a:spcAft>
                <a:spcPts val="0"/>
              </a:spcAft>
              <a:buNone/>
              <a:defRPr sz="1400">
                <a:solidFill>
                  <a:srgbClr val="000000"/>
                </a:solidFill>
                <a:latin typeface="Arial"/>
                <a:ea typeface="Arial"/>
                <a:cs typeface="Arial"/>
                <a:sym typeface="Arial"/>
              </a:defRPr>
            </a:lvl2pPr>
            <a:lvl3pPr indent="0" lvl="2" marL="0" marR="0" algn="r">
              <a:spcBef>
                <a:spcPts val="0"/>
              </a:spcBef>
              <a:spcAft>
                <a:spcPts val="0"/>
              </a:spcAft>
              <a:buNone/>
              <a:defRPr sz="1400">
                <a:solidFill>
                  <a:srgbClr val="000000"/>
                </a:solidFill>
                <a:latin typeface="Arial"/>
                <a:ea typeface="Arial"/>
                <a:cs typeface="Arial"/>
                <a:sym typeface="Arial"/>
              </a:defRPr>
            </a:lvl3pPr>
            <a:lvl4pPr indent="0" lvl="3" marL="0" marR="0" algn="r">
              <a:spcBef>
                <a:spcPts val="0"/>
              </a:spcBef>
              <a:spcAft>
                <a:spcPts val="0"/>
              </a:spcAft>
              <a:buNone/>
              <a:defRPr sz="1400">
                <a:solidFill>
                  <a:srgbClr val="000000"/>
                </a:solidFill>
                <a:latin typeface="Arial"/>
                <a:ea typeface="Arial"/>
                <a:cs typeface="Arial"/>
                <a:sym typeface="Arial"/>
              </a:defRPr>
            </a:lvl4pPr>
            <a:lvl5pPr indent="0" lvl="4" marL="0" marR="0" algn="r">
              <a:spcBef>
                <a:spcPts val="0"/>
              </a:spcBef>
              <a:spcAft>
                <a:spcPts val="0"/>
              </a:spcAft>
              <a:buNone/>
              <a:defRPr sz="1400">
                <a:solidFill>
                  <a:srgbClr val="000000"/>
                </a:solidFill>
                <a:latin typeface="Arial"/>
                <a:ea typeface="Arial"/>
                <a:cs typeface="Arial"/>
                <a:sym typeface="Arial"/>
              </a:defRPr>
            </a:lvl5pPr>
            <a:lvl6pPr indent="0" lvl="5" marL="0" marR="0" algn="r">
              <a:spcBef>
                <a:spcPts val="0"/>
              </a:spcBef>
              <a:spcAft>
                <a:spcPts val="0"/>
              </a:spcAft>
              <a:buNone/>
              <a:defRPr sz="1400">
                <a:solidFill>
                  <a:srgbClr val="000000"/>
                </a:solidFill>
                <a:latin typeface="Arial"/>
                <a:ea typeface="Arial"/>
                <a:cs typeface="Arial"/>
                <a:sym typeface="Arial"/>
              </a:defRPr>
            </a:lvl6pPr>
            <a:lvl7pPr indent="0" lvl="6" marL="0" marR="0" algn="r">
              <a:spcBef>
                <a:spcPts val="0"/>
              </a:spcBef>
              <a:spcAft>
                <a:spcPts val="0"/>
              </a:spcAft>
              <a:buNone/>
              <a:defRPr sz="1400">
                <a:solidFill>
                  <a:srgbClr val="000000"/>
                </a:solidFill>
                <a:latin typeface="Arial"/>
                <a:ea typeface="Arial"/>
                <a:cs typeface="Arial"/>
                <a:sym typeface="Arial"/>
              </a:defRPr>
            </a:lvl7pPr>
            <a:lvl8pPr indent="0" lvl="7" marL="0" marR="0" algn="r">
              <a:spcBef>
                <a:spcPts val="0"/>
              </a:spcBef>
              <a:spcAft>
                <a:spcPts val="0"/>
              </a:spcAft>
              <a:buNone/>
              <a:defRPr sz="1400">
                <a:solidFill>
                  <a:srgbClr val="000000"/>
                </a:solidFill>
                <a:latin typeface="Arial"/>
                <a:ea typeface="Arial"/>
                <a:cs typeface="Arial"/>
                <a:sym typeface="Arial"/>
              </a:defRPr>
            </a:lvl8pPr>
            <a:lvl9pPr indent="0" lvl="8" marL="0" marR="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50" name="Shape 150"/>
        <p:cNvGrpSpPr/>
        <p:nvPr/>
      </p:nvGrpSpPr>
      <p:grpSpPr>
        <a:xfrm>
          <a:off x="0" y="0"/>
          <a:ext cx="0" cy="0"/>
          <a:chOff x="0" y="0"/>
          <a:chExt cx="0" cy="0"/>
        </a:xfrm>
      </p:grpSpPr>
      <p:sp>
        <p:nvSpPr>
          <p:cNvPr id="151" name="Google Shape;151;p31"/>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52" name="Google Shape;152;p31"/>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5.xml"/><Relationship Id="rId10" Type="http://schemas.openxmlformats.org/officeDocument/2006/relationships/slideLayout" Target="../slideLayouts/slideLayout24.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5" Type="http://schemas.openxmlformats.org/officeDocument/2006/relationships/slideLayout" Target="../slideLayouts/slideLayout29.xml"/><Relationship Id="rId14" Type="http://schemas.openxmlformats.org/officeDocument/2006/relationships/slideLayout" Target="../slideLayouts/slideLayout28.xml"/><Relationship Id="rId16" Type="http://schemas.openxmlformats.org/officeDocument/2006/relationships/theme" Target="../theme/theme3.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32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32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32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32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32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32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32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32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3200" u="none" cap="none" strike="noStrike">
                <a:solidFill>
                  <a:schemeClr val="dk2"/>
                </a:solidFill>
                <a:latin typeface="Arial"/>
                <a:ea typeface="Arial"/>
                <a:cs typeface="Arial"/>
                <a:sym typeface="Arial"/>
              </a:defRPr>
            </a:lvl9pPr>
          </a:lstStyle>
          <a:p/>
        </p:txBody>
      </p:sp>
      <p:sp>
        <p:nvSpPr>
          <p:cNvPr id="11" name="Google Shape;11;p1"/>
          <p:cNvSpPr txBox="1"/>
          <p:nvPr>
            <p:ph idx="1" type="body"/>
          </p:nvPr>
        </p:nvSpPr>
        <p:spPr>
          <a:xfrm>
            <a:off x="457200" y="1066800"/>
            <a:ext cx="8229600" cy="5181600"/>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1pPr>
            <a:lvl2pPr indent="-355600" lvl="1" marL="914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30200" lvl="3" marL="18288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spcBef>
                <a:spcPts val="28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spcBef>
                <a:spcPts val="28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spcBef>
                <a:spcPts val="28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spcBef>
                <a:spcPts val="28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spcBef>
                <a:spcPts val="28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2" name="Google Shape;12;p1"/>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spcAft>
                <a:spcPts val="0"/>
              </a:spcAft>
              <a:buNone/>
              <a:defRPr b="0" i="0" sz="1400" u="none" cap="none" strike="noStrike">
                <a:solidFill>
                  <a:srgbClr val="000000"/>
                </a:solidFill>
                <a:latin typeface="Arial"/>
                <a:ea typeface="Arial"/>
                <a:cs typeface="Arial"/>
                <a:sym typeface="Arial"/>
              </a:defRPr>
            </a:lvl1pPr>
            <a:lvl2pPr indent="0" lvl="1" marL="0" marR="0" rtl="0" algn="r">
              <a:spcBef>
                <a:spcPts val="0"/>
              </a:spcBef>
              <a:spcAft>
                <a:spcPts val="0"/>
              </a:spcAft>
              <a:buNone/>
              <a:defRPr b="0" i="0" sz="1400" u="none" cap="none" strike="noStrike">
                <a:solidFill>
                  <a:srgbClr val="000000"/>
                </a:solidFill>
                <a:latin typeface="Arial"/>
                <a:ea typeface="Arial"/>
                <a:cs typeface="Arial"/>
                <a:sym typeface="Arial"/>
              </a:defRPr>
            </a:lvl2pPr>
            <a:lvl3pPr indent="0" lvl="2" marL="0" marR="0" rtl="0" algn="r">
              <a:spcBef>
                <a:spcPts val="0"/>
              </a:spcBef>
              <a:spcAft>
                <a:spcPts val="0"/>
              </a:spcAft>
              <a:buNone/>
              <a:defRPr b="0" i="0" sz="1400" u="none" cap="none" strike="noStrike">
                <a:solidFill>
                  <a:srgbClr val="000000"/>
                </a:solidFill>
                <a:latin typeface="Arial"/>
                <a:ea typeface="Arial"/>
                <a:cs typeface="Arial"/>
                <a:sym typeface="Arial"/>
              </a:defRPr>
            </a:lvl3pPr>
            <a:lvl4pPr indent="0" lvl="3" marL="0" marR="0" rtl="0" algn="r">
              <a:spcBef>
                <a:spcPts val="0"/>
              </a:spcBef>
              <a:spcAft>
                <a:spcPts val="0"/>
              </a:spcAft>
              <a:buNone/>
              <a:defRPr b="0" i="0" sz="1400" u="none" cap="none" strike="noStrike">
                <a:solidFill>
                  <a:srgbClr val="000000"/>
                </a:solidFill>
                <a:latin typeface="Arial"/>
                <a:ea typeface="Arial"/>
                <a:cs typeface="Arial"/>
                <a:sym typeface="Arial"/>
              </a:defRPr>
            </a:lvl4pPr>
            <a:lvl5pPr indent="0" lvl="4" marL="0" marR="0" rtl="0" algn="r">
              <a:spcBef>
                <a:spcPts val="0"/>
              </a:spcBef>
              <a:spcAft>
                <a:spcPts val="0"/>
              </a:spcAft>
              <a:buNone/>
              <a:defRPr b="0" i="0" sz="1400" u="none" cap="none" strike="noStrike">
                <a:solidFill>
                  <a:srgbClr val="000000"/>
                </a:solidFill>
                <a:latin typeface="Arial"/>
                <a:ea typeface="Arial"/>
                <a:cs typeface="Arial"/>
                <a:sym typeface="Arial"/>
              </a:defRPr>
            </a:lvl5pPr>
            <a:lvl6pPr indent="0" lvl="5" marL="0" marR="0" rtl="0" algn="r">
              <a:spcBef>
                <a:spcPts val="0"/>
              </a:spcBef>
              <a:spcAft>
                <a:spcPts val="0"/>
              </a:spcAft>
              <a:buNone/>
              <a:defRPr b="0" i="0" sz="1400" u="none" cap="none" strike="noStrike">
                <a:solidFill>
                  <a:srgbClr val="000000"/>
                </a:solidFill>
                <a:latin typeface="Arial"/>
                <a:ea typeface="Arial"/>
                <a:cs typeface="Arial"/>
                <a:sym typeface="Arial"/>
              </a:defRPr>
            </a:lvl6pPr>
            <a:lvl7pPr indent="0" lvl="6" marL="0" marR="0" rtl="0" algn="r">
              <a:spcBef>
                <a:spcPts val="0"/>
              </a:spcBef>
              <a:spcAft>
                <a:spcPts val="0"/>
              </a:spcAft>
              <a:buNone/>
              <a:defRPr b="0" i="0" sz="1400" u="none" cap="none" strike="noStrike">
                <a:solidFill>
                  <a:srgbClr val="000000"/>
                </a:solidFill>
                <a:latin typeface="Arial"/>
                <a:ea typeface="Arial"/>
                <a:cs typeface="Arial"/>
                <a:sym typeface="Arial"/>
              </a:defRPr>
            </a:lvl7pPr>
            <a:lvl8pPr indent="0" lvl="7" marL="0" marR="0" rtl="0" algn="r">
              <a:spcBef>
                <a:spcPts val="0"/>
              </a:spcBef>
              <a:spcAft>
                <a:spcPts val="0"/>
              </a:spcAft>
              <a:buNone/>
              <a:defRPr b="0" i="0" sz="1400" u="none" cap="none" strike="noStrike">
                <a:solidFill>
                  <a:srgbClr val="000000"/>
                </a:solidFill>
                <a:latin typeface="Arial"/>
                <a:ea typeface="Arial"/>
                <a:cs typeface="Arial"/>
                <a:sym typeface="Arial"/>
              </a:defRPr>
            </a:lvl8pPr>
            <a:lvl9pPr indent="0" lvl="8" marL="0" marR="0" rtl="0" algn="r">
              <a:spcBef>
                <a:spcPts val="0"/>
              </a:spcBef>
              <a:spcAft>
                <a:spcPts val="0"/>
              </a:spcAft>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cxnSp>
        <p:nvCxnSpPr>
          <p:cNvPr id="13" name="Google Shape;13;p1"/>
          <p:cNvCxnSpPr/>
          <p:nvPr/>
        </p:nvCxnSpPr>
        <p:spPr>
          <a:xfrm>
            <a:off x="0" y="914400"/>
            <a:ext cx="9144000" cy="0"/>
          </a:xfrm>
          <a:prstGeom prst="straightConnector1">
            <a:avLst/>
          </a:prstGeom>
          <a:noFill/>
          <a:ln cap="flat" cmpd="sng" w="28575">
            <a:solidFill>
              <a:schemeClr val="accent2"/>
            </a:solidFill>
            <a:prstDash val="solid"/>
            <a:round/>
            <a:headEnd len="med" w="med" type="none"/>
            <a:tailEnd len="med" w="med" type="none"/>
          </a:ln>
        </p:spPr>
      </p:cxnSp>
      <p:cxnSp>
        <p:nvCxnSpPr>
          <p:cNvPr id="14" name="Google Shape;14;p1"/>
          <p:cNvCxnSpPr/>
          <p:nvPr/>
        </p:nvCxnSpPr>
        <p:spPr>
          <a:xfrm>
            <a:off x="0" y="6324600"/>
            <a:ext cx="9144000" cy="0"/>
          </a:xfrm>
          <a:prstGeom prst="straightConnector1">
            <a:avLst/>
          </a:prstGeom>
          <a:noFill/>
          <a:ln cap="flat" cmpd="sng" w="28575">
            <a:solidFill>
              <a:schemeClr val="accent2"/>
            </a:solidFill>
            <a:prstDash val="solid"/>
            <a:round/>
            <a:headEnd len="med" w="med" type="none"/>
            <a:tailEnd len="med" w="med" type="none"/>
          </a:ln>
        </p:spPr>
      </p:cxn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9" name="Shape 79"/>
        <p:cNvGrpSpPr/>
        <p:nvPr/>
      </p:nvGrpSpPr>
      <p:grpSpPr>
        <a:xfrm>
          <a:off x="0" y="0"/>
          <a:ext cx="0" cy="0"/>
          <a:chOff x="0" y="0"/>
          <a:chExt cx="0" cy="0"/>
        </a:xfrm>
      </p:grpSpPr>
      <p:sp>
        <p:nvSpPr>
          <p:cNvPr id="80" name="Google Shape;80;p16"/>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32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32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32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32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32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32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32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32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3200" u="none" cap="none" strike="noStrike">
                <a:solidFill>
                  <a:schemeClr val="dk2"/>
                </a:solidFill>
                <a:latin typeface="Arial"/>
                <a:ea typeface="Arial"/>
                <a:cs typeface="Arial"/>
                <a:sym typeface="Arial"/>
              </a:defRPr>
            </a:lvl9pPr>
          </a:lstStyle>
          <a:p/>
        </p:txBody>
      </p:sp>
      <p:sp>
        <p:nvSpPr>
          <p:cNvPr id="81" name="Google Shape;81;p16"/>
          <p:cNvSpPr txBox="1"/>
          <p:nvPr>
            <p:ph idx="1" type="body"/>
          </p:nvPr>
        </p:nvSpPr>
        <p:spPr>
          <a:xfrm>
            <a:off x="457200" y="1066800"/>
            <a:ext cx="8229600" cy="5181600"/>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1pPr>
            <a:lvl2pPr indent="-355600" lvl="1" marL="914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30200" lvl="3" marL="18288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spcBef>
                <a:spcPts val="28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spcBef>
                <a:spcPts val="28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spcBef>
                <a:spcPts val="28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spcBef>
                <a:spcPts val="28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spcBef>
                <a:spcPts val="28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2" name="Google Shape;82;p16"/>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spcAft>
                <a:spcPts val="0"/>
              </a:spcAft>
              <a:buNone/>
              <a:defRPr sz="1400">
                <a:solidFill>
                  <a:srgbClr val="000000"/>
                </a:solidFill>
                <a:latin typeface="Arial"/>
                <a:ea typeface="Arial"/>
                <a:cs typeface="Arial"/>
                <a:sym typeface="Arial"/>
              </a:defRPr>
            </a:lvl1pPr>
            <a:lvl2pPr indent="0" lvl="1" marL="0" marR="0" rtl="0" algn="r">
              <a:spcBef>
                <a:spcPts val="0"/>
              </a:spcBef>
              <a:spcAft>
                <a:spcPts val="0"/>
              </a:spcAft>
              <a:buNone/>
              <a:defRPr sz="1400">
                <a:solidFill>
                  <a:srgbClr val="000000"/>
                </a:solidFill>
                <a:latin typeface="Arial"/>
                <a:ea typeface="Arial"/>
                <a:cs typeface="Arial"/>
                <a:sym typeface="Arial"/>
              </a:defRPr>
            </a:lvl2pPr>
            <a:lvl3pPr indent="0" lvl="2" marL="0" marR="0" rtl="0" algn="r">
              <a:spcBef>
                <a:spcPts val="0"/>
              </a:spcBef>
              <a:spcAft>
                <a:spcPts val="0"/>
              </a:spcAft>
              <a:buNone/>
              <a:defRPr sz="1400">
                <a:solidFill>
                  <a:srgbClr val="000000"/>
                </a:solidFill>
                <a:latin typeface="Arial"/>
                <a:ea typeface="Arial"/>
                <a:cs typeface="Arial"/>
                <a:sym typeface="Arial"/>
              </a:defRPr>
            </a:lvl3pPr>
            <a:lvl4pPr indent="0" lvl="3" marL="0" marR="0" rtl="0" algn="r">
              <a:spcBef>
                <a:spcPts val="0"/>
              </a:spcBef>
              <a:spcAft>
                <a:spcPts val="0"/>
              </a:spcAft>
              <a:buNone/>
              <a:defRPr sz="1400">
                <a:solidFill>
                  <a:srgbClr val="000000"/>
                </a:solidFill>
                <a:latin typeface="Arial"/>
                <a:ea typeface="Arial"/>
                <a:cs typeface="Arial"/>
                <a:sym typeface="Arial"/>
              </a:defRPr>
            </a:lvl4pPr>
            <a:lvl5pPr indent="0" lvl="4" marL="0" marR="0" rtl="0" algn="r">
              <a:spcBef>
                <a:spcPts val="0"/>
              </a:spcBef>
              <a:spcAft>
                <a:spcPts val="0"/>
              </a:spcAft>
              <a:buNone/>
              <a:defRPr sz="1400">
                <a:solidFill>
                  <a:srgbClr val="000000"/>
                </a:solidFill>
                <a:latin typeface="Arial"/>
                <a:ea typeface="Arial"/>
                <a:cs typeface="Arial"/>
                <a:sym typeface="Arial"/>
              </a:defRPr>
            </a:lvl5pPr>
            <a:lvl6pPr indent="0" lvl="5" marL="0" marR="0" rtl="0" algn="r">
              <a:spcBef>
                <a:spcPts val="0"/>
              </a:spcBef>
              <a:spcAft>
                <a:spcPts val="0"/>
              </a:spcAft>
              <a:buNone/>
              <a:defRPr sz="1400">
                <a:solidFill>
                  <a:srgbClr val="000000"/>
                </a:solidFill>
                <a:latin typeface="Arial"/>
                <a:ea typeface="Arial"/>
                <a:cs typeface="Arial"/>
                <a:sym typeface="Arial"/>
              </a:defRPr>
            </a:lvl6pPr>
            <a:lvl7pPr indent="0" lvl="6" marL="0" marR="0" rtl="0" algn="r">
              <a:spcBef>
                <a:spcPts val="0"/>
              </a:spcBef>
              <a:spcAft>
                <a:spcPts val="0"/>
              </a:spcAft>
              <a:buNone/>
              <a:defRPr sz="1400">
                <a:solidFill>
                  <a:srgbClr val="000000"/>
                </a:solidFill>
                <a:latin typeface="Arial"/>
                <a:ea typeface="Arial"/>
                <a:cs typeface="Arial"/>
                <a:sym typeface="Arial"/>
              </a:defRPr>
            </a:lvl7pPr>
            <a:lvl8pPr indent="0" lvl="7" marL="0" marR="0" rtl="0" algn="r">
              <a:spcBef>
                <a:spcPts val="0"/>
              </a:spcBef>
              <a:spcAft>
                <a:spcPts val="0"/>
              </a:spcAft>
              <a:buNone/>
              <a:defRPr sz="1400">
                <a:solidFill>
                  <a:srgbClr val="000000"/>
                </a:solidFill>
                <a:latin typeface="Arial"/>
                <a:ea typeface="Arial"/>
                <a:cs typeface="Arial"/>
                <a:sym typeface="Arial"/>
              </a:defRPr>
            </a:lvl8pPr>
            <a:lvl9pPr indent="0" lvl="8" marL="0" marR="0" rtl="0" algn="r">
              <a:spcBef>
                <a:spcPts val="0"/>
              </a:spcBef>
              <a:spcAft>
                <a:spcPts val="0"/>
              </a:spcAft>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cxnSp>
        <p:nvCxnSpPr>
          <p:cNvPr id="83" name="Google Shape;83;p16"/>
          <p:cNvCxnSpPr/>
          <p:nvPr/>
        </p:nvCxnSpPr>
        <p:spPr>
          <a:xfrm>
            <a:off x="0" y="914400"/>
            <a:ext cx="9144000" cy="0"/>
          </a:xfrm>
          <a:prstGeom prst="straightConnector1">
            <a:avLst/>
          </a:prstGeom>
          <a:noFill/>
          <a:ln cap="flat" cmpd="sng" w="28575">
            <a:solidFill>
              <a:schemeClr val="accent2"/>
            </a:solidFill>
            <a:prstDash val="solid"/>
            <a:round/>
            <a:headEnd len="med" w="med" type="none"/>
            <a:tailEnd len="med" w="med" type="none"/>
          </a:ln>
        </p:spPr>
      </p:cxnSp>
      <p:cxnSp>
        <p:nvCxnSpPr>
          <p:cNvPr id="84" name="Google Shape;84;p16"/>
          <p:cNvCxnSpPr/>
          <p:nvPr/>
        </p:nvCxnSpPr>
        <p:spPr>
          <a:xfrm>
            <a:off x="0" y="6324600"/>
            <a:ext cx="9144000" cy="0"/>
          </a:xfrm>
          <a:prstGeom prst="straightConnector1">
            <a:avLst/>
          </a:prstGeom>
          <a:noFill/>
          <a:ln cap="flat" cmpd="sng" w="28575">
            <a:solidFill>
              <a:schemeClr val="accent2"/>
            </a:solidFill>
            <a:prstDash val="solid"/>
            <a:round/>
            <a:headEnd len="med" w="med" type="none"/>
            <a:tailEnd len="med" w="med" type="none"/>
          </a:ln>
        </p:spPr>
      </p:cxnSp>
      <p:sp>
        <p:nvSpPr>
          <p:cNvPr id="85" name="Google Shape;85;p16"/>
          <p:cNvSpPr txBox="1"/>
          <p:nvPr/>
        </p:nvSpPr>
        <p:spPr>
          <a:xfrm>
            <a:off x="838200" y="6381750"/>
            <a:ext cx="7543800" cy="47625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 Id="rId3" Type="http://schemas.openxmlformats.org/officeDocument/2006/relationships/hyperlink" Target="https://www.scribd.com/document/811759841/XSS-Vulnerability-Scanner" TargetMode="External"/><Relationship Id="rId4" Type="http://schemas.openxmlformats.org/officeDocument/2006/relationships/hyperlink" Target="https://www.journalijar.com/uploads/2025/05/68344e5066f45_IJAR-51522.pdf"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 Id="rId3" Type="http://schemas.openxmlformats.org/officeDocument/2006/relationships/hyperlink" Target="https://papers.ssrn.com/sol3/papers.cfm?abstract_id=5102292" TargetMode="External"/><Relationship Id="rId4" Type="http://schemas.openxmlformats.org/officeDocument/2006/relationships/hyperlink" Target="https://papers.ssrn.com/sol3/papers.cfm?abstract_id=5102292" TargetMode="External"/><Relationship Id="rId5" Type="http://schemas.openxmlformats.org/officeDocument/2006/relationships/hyperlink" Target="https://www.jetir.org/view?paper=JETIRFP06071" TargetMode="External"/></Relationships>
</file>

<file path=ppt/slides/_rels/slide21.xml.rels><?xml version="1.0" encoding="UTF-8" standalone="yes"?><Relationships xmlns="http://schemas.openxmlformats.org/package/2006/relationships"><Relationship Id="rId11" Type="http://schemas.openxmlformats.org/officeDocument/2006/relationships/hyperlink" Target="https://owasp.org/www-community/attacks/xss/" TargetMode="External"/><Relationship Id="rId10" Type="http://schemas.openxmlformats.org/officeDocument/2006/relationships/hyperlink" Target="https://www.getastra.com/blog/dast/what-is-dast/" TargetMode="External"/><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hyperlink" Target="https://secureframe.com/blog/ai-in-cybersecurity" TargetMode="External"/><Relationship Id="rId4" Type="http://schemas.openxmlformats.org/officeDocument/2006/relationships/hyperlink" Target="https://www.acigjournal.com/Vulnerabilities-of-Web-Applications-Good-Practices-and-New-Trends,199521,0,2.html" TargetMode="External"/><Relationship Id="rId9" Type="http://schemas.openxmlformats.org/officeDocument/2006/relationships/hyperlink" Target="https://www.scribd.com/document/811759841/XSS-Vulnerability-Scanner" TargetMode="External"/><Relationship Id="rId5" Type="http://schemas.openxmlformats.org/officeDocument/2006/relationships/hyperlink" Target="https://www.qualys.com/apps/web-app-scanning/" TargetMode="External"/><Relationship Id="rId6" Type="http://schemas.openxmlformats.org/officeDocument/2006/relationships/hyperlink" Target="https://ojs.bonviewpress.com/index.php/AIA/article/view/754/489" TargetMode="External"/><Relationship Id="rId7" Type="http://schemas.openxmlformats.org/officeDocument/2006/relationships/hyperlink" Target="https://www.fortinet.com/resources/cyberglossary/artificial-intelligence-in-cybersecurity" TargetMode="External"/><Relationship Id="rId8" Type="http://schemas.openxmlformats.org/officeDocument/2006/relationships/hyperlink" Target="https://www.journalijar.com/uploads/2025/05/68344e5066f45_IJAR-51522.pdf"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32"/>
          <p:cNvSpPr txBox="1"/>
          <p:nvPr/>
        </p:nvSpPr>
        <p:spPr>
          <a:xfrm>
            <a:off x="266700" y="4090525"/>
            <a:ext cx="8610600" cy="2268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2000" u="none" cap="none" strike="noStrike">
                <a:solidFill>
                  <a:schemeClr val="dk1"/>
                </a:solidFill>
                <a:latin typeface="Times New Roman"/>
                <a:ea typeface="Times New Roman"/>
                <a:cs typeface="Times New Roman"/>
                <a:sym typeface="Times New Roman"/>
              </a:rPr>
              <a:t>Under the guidance</a:t>
            </a:r>
            <a:endParaRPr sz="2000"/>
          </a:p>
          <a:p>
            <a:pPr indent="0" lvl="0" marL="0" marR="0" rtl="0" algn="ctr">
              <a:spcBef>
                <a:spcPts val="0"/>
              </a:spcBef>
              <a:spcAft>
                <a:spcPts val="0"/>
              </a:spcAft>
              <a:buNone/>
            </a:pPr>
            <a:r>
              <a:rPr b="0" i="0" lang="en-US" sz="2000" u="none" cap="none" strike="noStrike">
                <a:solidFill>
                  <a:schemeClr val="dk1"/>
                </a:solidFill>
                <a:latin typeface="Times New Roman"/>
                <a:ea typeface="Times New Roman"/>
                <a:cs typeface="Times New Roman"/>
                <a:sym typeface="Times New Roman"/>
              </a:rPr>
              <a:t>of</a:t>
            </a:r>
            <a:endParaRPr sz="2000"/>
          </a:p>
          <a:p>
            <a:pPr indent="0" lvl="0" marL="0" marR="0" rtl="0" algn="ctr">
              <a:spcBef>
                <a:spcPts val="0"/>
              </a:spcBef>
              <a:spcAft>
                <a:spcPts val="0"/>
              </a:spcAft>
              <a:buNone/>
            </a:pPr>
            <a:r>
              <a:rPr b="0" i="0" lang="en-US" sz="2000" u="none" cap="none" strike="noStrike">
                <a:solidFill>
                  <a:schemeClr val="dk1"/>
                </a:solidFill>
                <a:latin typeface="Times New Roman"/>
                <a:ea typeface="Times New Roman"/>
                <a:cs typeface="Times New Roman"/>
                <a:sym typeface="Times New Roman"/>
              </a:rPr>
              <a:t>Dr. </a:t>
            </a:r>
            <a:r>
              <a:rPr lang="en-US" sz="2000">
                <a:solidFill>
                  <a:schemeClr val="dk1"/>
                </a:solidFill>
                <a:latin typeface="Times New Roman"/>
                <a:ea typeface="Times New Roman"/>
                <a:cs typeface="Times New Roman"/>
                <a:sym typeface="Times New Roman"/>
              </a:rPr>
              <a:t>Jayasudha Koti</a:t>
            </a:r>
            <a:endParaRPr sz="2000"/>
          </a:p>
          <a:p>
            <a:pPr indent="0" lvl="0" marL="0" marR="0" rtl="0" algn="ctr">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ctr">
              <a:spcBef>
                <a:spcPts val="0"/>
              </a:spcBef>
              <a:spcAft>
                <a:spcPts val="0"/>
              </a:spcAft>
              <a:buNone/>
            </a:pPr>
            <a:r>
              <a:rPr b="0" i="0" lang="en-US" sz="2000" u="none" cap="none" strike="noStrike">
                <a:solidFill>
                  <a:srgbClr val="000000"/>
                </a:solidFill>
                <a:latin typeface="Times New Roman"/>
                <a:ea typeface="Times New Roman"/>
                <a:cs typeface="Times New Roman"/>
                <a:sym typeface="Times New Roman"/>
              </a:rPr>
              <a:t>                     Department of Electronics and Telecommunication Engineering</a:t>
            </a:r>
            <a:endParaRPr sz="2000"/>
          </a:p>
          <a:p>
            <a:pPr indent="0" lvl="0" marL="0" marR="0" rtl="0" algn="ctr">
              <a:spcBef>
                <a:spcPts val="0"/>
              </a:spcBef>
              <a:spcAft>
                <a:spcPts val="0"/>
              </a:spcAft>
              <a:buNone/>
            </a:pPr>
            <a:r>
              <a:rPr b="0" i="0" lang="en-US" sz="2000" u="none" cap="none" strike="noStrike">
                <a:solidFill>
                  <a:srgbClr val="000000"/>
                </a:solidFill>
                <a:latin typeface="Times New Roman"/>
                <a:ea typeface="Times New Roman"/>
                <a:cs typeface="Times New Roman"/>
                <a:sym typeface="Times New Roman"/>
              </a:rPr>
              <a:t>             St. Francis Institute of Technology, Mumbai  </a:t>
            </a:r>
            <a:endParaRPr sz="2000"/>
          </a:p>
        </p:txBody>
      </p:sp>
      <p:pic>
        <p:nvPicPr>
          <p:cNvPr id="158" name="Google Shape;158;p32"/>
          <p:cNvPicPr preferRelativeResize="0"/>
          <p:nvPr/>
        </p:nvPicPr>
        <p:blipFill rotWithShape="1">
          <a:blip r:embed="rId3">
            <a:alphaModFix/>
          </a:blip>
          <a:srcRect b="0" l="0" r="0" t="0"/>
          <a:stretch/>
        </p:blipFill>
        <p:spPr>
          <a:xfrm>
            <a:off x="296462" y="4999275"/>
            <a:ext cx="1369300" cy="1235300"/>
          </a:xfrm>
          <a:prstGeom prst="rect">
            <a:avLst/>
          </a:prstGeom>
          <a:noFill/>
          <a:ln>
            <a:noFill/>
          </a:ln>
        </p:spPr>
      </p:pic>
      <p:sp>
        <p:nvSpPr>
          <p:cNvPr id="159" name="Google Shape;159;p32"/>
          <p:cNvSpPr txBox="1"/>
          <p:nvPr/>
        </p:nvSpPr>
        <p:spPr>
          <a:xfrm>
            <a:off x="150" y="2424900"/>
            <a:ext cx="9144000" cy="1371600"/>
          </a:xfrm>
          <a:prstGeom prst="rect">
            <a:avLst/>
          </a:prstGeom>
          <a:noFill/>
          <a:ln>
            <a:noFill/>
          </a:ln>
        </p:spPr>
        <p:txBody>
          <a:bodyPr anchorCtr="0" anchor="t" bIns="45700" lIns="91425" spcFirstLastPara="1" rIns="91425" wrap="square" tIns="45700">
            <a:noAutofit/>
          </a:bodyPr>
          <a:lstStyle/>
          <a:p>
            <a:pPr indent="-342900" lvl="0" marL="3543300" marR="0" rtl="0" algn="l">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Sakshi Khalate </a:t>
            </a:r>
            <a:r>
              <a:rPr b="0" i="0" lang="en-US" sz="2000" u="none" cap="none" strike="noStrike">
                <a:solidFill>
                  <a:schemeClr val="dk1"/>
                </a:solidFill>
                <a:latin typeface="Times New Roman"/>
                <a:ea typeface="Times New Roman"/>
                <a:cs typeface="Times New Roman"/>
                <a:sym typeface="Times New Roman"/>
              </a:rPr>
              <a:t>– </a:t>
            </a:r>
            <a:r>
              <a:rPr lang="en-US" sz="2000">
                <a:solidFill>
                  <a:schemeClr val="dk1"/>
                </a:solidFill>
                <a:latin typeface="Times New Roman"/>
                <a:ea typeface="Times New Roman"/>
                <a:cs typeface="Times New Roman"/>
                <a:sym typeface="Times New Roman"/>
              </a:rPr>
              <a:t>25</a:t>
            </a:r>
            <a:endParaRPr/>
          </a:p>
          <a:p>
            <a:pPr indent="-342900" lvl="0" marL="3543300" marR="0" rtl="0" algn="l">
              <a:spcBef>
                <a:spcPts val="40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Layba Khan    </a:t>
            </a:r>
            <a:r>
              <a:rPr b="0" i="0" lang="en-US" sz="2000" u="none" cap="none" strike="noStrike">
                <a:solidFill>
                  <a:schemeClr val="dk1"/>
                </a:solidFill>
                <a:latin typeface="Times New Roman"/>
                <a:ea typeface="Times New Roman"/>
                <a:cs typeface="Times New Roman"/>
                <a:sym typeface="Times New Roman"/>
              </a:rPr>
              <a:t> – </a:t>
            </a:r>
            <a:r>
              <a:rPr lang="en-US" sz="2000">
                <a:solidFill>
                  <a:schemeClr val="dk1"/>
                </a:solidFill>
                <a:latin typeface="Times New Roman"/>
                <a:ea typeface="Times New Roman"/>
                <a:cs typeface="Times New Roman"/>
                <a:sym typeface="Times New Roman"/>
              </a:rPr>
              <a:t>26</a:t>
            </a:r>
            <a:endParaRPr/>
          </a:p>
          <a:p>
            <a:pPr indent="-342900" lvl="0" marL="3543300" marR="0" rtl="0" algn="l">
              <a:spcBef>
                <a:spcPts val="40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Parshwa Mehta</a:t>
            </a:r>
            <a:r>
              <a:rPr b="0" i="0" lang="en-US" sz="2000" u="none" cap="none" strike="noStrike">
                <a:solidFill>
                  <a:schemeClr val="dk1"/>
                </a:solidFill>
                <a:latin typeface="Times New Roman"/>
                <a:ea typeface="Times New Roman"/>
                <a:cs typeface="Times New Roman"/>
                <a:sym typeface="Times New Roman"/>
              </a:rPr>
              <a:t>– </a:t>
            </a:r>
            <a:r>
              <a:rPr lang="en-US" sz="2000">
                <a:solidFill>
                  <a:schemeClr val="dk1"/>
                </a:solidFill>
                <a:latin typeface="Times New Roman"/>
                <a:ea typeface="Times New Roman"/>
                <a:cs typeface="Times New Roman"/>
                <a:sym typeface="Times New Roman"/>
              </a:rPr>
              <a:t>27</a:t>
            </a:r>
            <a:endParaRPr/>
          </a:p>
          <a:p>
            <a:pPr indent="-342900" lvl="0" marL="3543300" marR="0" rtl="0" algn="l">
              <a:spcBef>
                <a:spcPts val="40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Atharva Mohite</a:t>
            </a:r>
            <a:r>
              <a:rPr b="0" i="0" lang="en-US" sz="2000" u="none" cap="none" strike="noStrike">
                <a:solidFill>
                  <a:schemeClr val="dk1"/>
                </a:solidFill>
                <a:latin typeface="Times New Roman"/>
                <a:ea typeface="Times New Roman"/>
                <a:cs typeface="Times New Roman"/>
                <a:sym typeface="Times New Roman"/>
              </a:rPr>
              <a:t>– </a:t>
            </a:r>
            <a:r>
              <a:rPr lang="en-US" sz="2000">
                <a:solidFill>
                  <a:schemeClr val="dk1"/>
                </a:solidFill>
                <a:latin typeface="Times New Roman"/>
                <a:ea typeface="Times New Roman"/>
                <a:cs typeface="Times New Roman"/>
                <a:sym typeface="Times New Roman"/>
              </a:rPr>
              <a:t>28</a:t>
            </a:r>
            <a:endParaRPr b="0" i="0" sz="2000" u="none" cap="none" strike="noStrike">
              <a:solidFill>
                <a:schemeClr val="dk1"/>
              </a:solidFill>
              <a:latin typeface="Times New Roman"/>
              <a:ea typeface="Times New Roman"/>
              <a:cs typeface="Times New Roman"/>
              <a:sym typeface="Times New Roman"/>
            </a:endParaRPr>
          </a:p>
        </p:txBody>
      </p:sp>
      <p:sp>
        <p:nvSpPr>
          <p:cNvPr id="160" name="Google Shape;160;p32"/>
          <p:cNvSpPr/>
          <p:nvPr/>
        </p:nvSpPr>
        <p:spPr>
          <a:xfrm>
            <a:off x="1803900" y="316468"/>
            <a:ext cx="59094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800" u="none" cap="none" strike="noStrike">
                <a:solidFill>
                  <a:schemeClr val="dk1"/>
                </a:solidFill>
                <a:latin typeface="Times New Roman"/>
                <a:ea typeface="Times New Roman"/>
                <a:cs typeface="Times New Roman"/>
                <a:sym typeface="Times New Roman"/>
              </a:rPr>
              <a:t>BE Sem. VII: Project Proposal Presentation (AY:2025-26) </a:t>
            </a:r>
            <a:endParaRPr b="1" sz="1800">
              <a:solidFill>
                <a:schemeClr val="dk1"/>
              </a:solidFill>
              <a:latin typeface="Arial"/>
              <a:ea typeface="Arial"/>
              <a:cs typeface="Arial"/>
              <a:sym typeface="Arial"/>
            </a:endParaRPr>
          </a:p>
        </p:txBody>
      </p:sp>
      <p:sp>
        <p:nvSpPr>
          <p:cNvPr id="161" name="Google Shape;161;p32"/>
          <p:cNvSpPr txBox="1"/>
          <p:nvPr/>
        </p:nvSpPr>
        <p:spPr>
          <a:xfrm>
            <a:off x="0" y="1006387"/>
            <a:ext cx="9144000" cy="523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a:solidFill>
                  <a:schemeClr val="dk1"/>
                </a:solidFill>
                <a:latin typeface="Times New Roman"/>
                <a:ea typeface="Times New Roman"/>
                <a:cs typeface="Times New Roman"/>
                <a:sym typeface="Times New Roman"/>
              </a:rPr>
              <a:t>Intelligent XSS Analyzer</a:t>
            </a:r>
            <a:endParaRPr b="1" sz="2800">
              <a:solidFill>
                <a:schemeClr val="dk1"/>
              </a:solidFill>
              <a:latin typeface="Times New Roman"/>
              <a:ea typeface="Times New Roman"/>
              <a:cs typeface="Times New Roman"/>
              <a:sym typeface="Times New Roman"/>
            </a:endParaRPr>
          </a:p>
        </p:txBody>
      </p:sp>
      <p:sp>
        <p:nvSpPr>
          <p:cNvPr id="162" name="Google Shape;162;p32"/>
          <p:cNvSpPr txBox="1"/>
          <p:nvPr/>
        </p:nvSpPr>
        <p:spPr>
          <a:xfrm>
            <a:off x="0" y="1913303"/>
            <a:ext cx="9144000" cy="400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Times New Roman"/>
                <a:ea typeface="Times New Roman"/>
                <a:cs typeface="Times New Roman"/>
                <a:sym typeface="Times New Roman"/>
              </a:rPr>
              <a:t>Presented by</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3"/>
          <p:cNvSpPr txBox="1"/>
          <p:nvPr>
            <p:ph type="title"/>
          </p:nvPr>
        </p:nvSpPr>
        <p:spPr>
          <a:xfrm>
            <a:off x="457200" y="122238"/>
            <a:ext cx="8229600" cy="639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b="1" lang="en-US" sz="3000">
                <a:latin typeface="Times New Roman"/>
                <a:ea typeface="Times New Roman"/>
                <a:cs typeface="Times New Roman"/>
                <a:sym typeface="Times New Roman"/>
              </a:rPr>
              <a:t>Fun Facts</a:t>
            </a:r>
            <a:endParaRPr b="1" sz="3800">
              <a:latin typeface="Times New Roman"/>
              <a:ea typeface="Times New Roman"/>
              <a:cs typeface="Times New Roman"/>
              <a:sym typeface="Times New Roman"/>
            </a:endParaRPr>
          </a:p>
        </p:txBody>
      </p:sp>
      <p:sp>
        <p:nvSpPr>
          <p:cNvPr id="169" name="Google Shape;169;p33"/>
          <p:cNvSpPr txBox="1"/>
          <p:nvPr>
            <p:ph idx="12" type="sldNum"/>
          </p:nvPr>
        </p:nvSpPr>
        <p:spPr>
          <a:xfrm>
            <a:off x="6553200" y="6378575"/>
            <a:ext cx="2133600" cy="4764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70" name="Google Shape;170;p33"/>
          <p:cNvSpPr txBox="1"/>
          <p:nvPr/>
        </p:nvSpPr>
        <p:spPr>
          <a:xfrm>
            <a:off x="339275" y="1199925"/>
            <a:ext cx="8493600" cy="36789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US" sz="2000">
                <a:solidFill>
                  <a:schemeClr val="dk1"/>
                </a:solidFill>
                <a:latin typeface="Times New Roman"/>
                <a:ea typeface="Times New Roman"/>
                <a:cs typeface="Times New Roman"/>
                <a:sym typeface="Times New Roman"/>
              </a:rPr>
              <a:t>1. </a:t>
            </a:r>
            <a:r>
              <a:rPr lang="en-US" sz="2000">
                <a:solidFill>
                  <a:schemeClr val="dk1"/>
                </a:solidFill>
                <a:latin typeface="Times New Roman"/>
                <a:ea typeface="Times New Roman"/>
                <a:cs typeface="Times New Roman"/>
                <a:sym typeface="Times New Roman"/>
              </a:rPr>
              <a:t>XSS is one of the top three most commonly detected vulnerabilities, still how many users identify it ?</a:t>
            </a:r>
            <a:endParaRPr sz="20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b="1" lang="en-US" sz="2000">
                <a:solidFill>
                  <a:schemeClr val="dk1"/>
                </a:solidFill>
                <a:latin typeface="Times New Roman"/>
                <a:ea typeface="Times New Roman"/>
                <a:cs typeface="Times New Roman"/>
                <a:sym typeface="Times New Roman"/>
              </a:rPr>
              <a:t>2. </a:t>
            </a:r>
            <a:r>
              <a:rPr lang="en-US" sz="2000">
                <a:solidFill>
                  <a:schemeClr val="dk1"/>
                </a:solidFill>
                <a:latin typeface="Times New Roman"/>
                <a:ea typeface="Times New Roman"/>
                <a:cs typeface="Times New Roman"/>
                <a:sym typeface="Times New Roman"/>
              </a:rPr>
              <a:t>A study by </a:t>
            </a:r>
            <a:r>
              <a:rPr b="1" lang="en-US" sz="2000">
                <a:solidFill>
                  <a:schemeClr val="dk1"/>
                </a:solidFill>
                <a:latin typeface="Times New Roman"/>
                <a:ea typeface="Times New Roman"/>
                <a:cs typeface="Times New Roman"/>
                <a:sym typeface="Times New Roman"/>
              </a:rPr>
              <a:t>Palo Alto Networks </a:t>
            </a:r>
            <a:r>
              <a:rPr lang="en-US" sz="2000">
                <a:solidFill>
                  <a:schemeClr val="dk1"/>
                </a:solidFill>
                <a:latin typeface="Times New Roman"/>
                <a:ea typeface="Times New Roman"/>
                <a:cs typeface="Times New Roman"/>
                <a:sym typeface="Times New Roman"/>
              </a:rPr>
              <a:t>in 2025 saw that on analyzing 750,000 applications 65% had at least one XSS vulnerability, so what do you think how safe is your data on various browsers and applications ?</a:t>
            </a:r>
            <a:endParaRPr sz="20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b="1" lang="en-US" sz="2000">
                <a:solidFill>
                  <a:schemeClr val="dk1"/>
                </a:solidFill>
                <a:latin typeface="Times New Roman"/>
                <a:ea typeface="Times New Roman"/>
                <a:cs typeface="Times New Roman"/>
                <a:sym typeface="Times New Roman"/>
              </a:rPr>
              <a:t>3. </a:t>
            </a:r>
            <a:r>
              <a:rPr lang="en-US" sz="2000">
                <a:solidFill>
                  <a:schemeClr val="dk1"/>
                </a:solidFill>
                <a:latin typeface="Times New Roman"/>
                <a:ea typeface="Times New Roman"/>
                <a:cs typeface="Times New Roman"/>
                <a:sym typeface="Times New Roman"/>
              </a:rPr>
              <a:t>A report by </a:t>
            </a:r>
            <a:r>
              <a:rPr b="1" lang="en-US" sz="2000">
                <a:solidFill>
                  <a:schemeClr val="dk1"/>
                </a:solidFill>
                <a:latin typeface="Times New Roman"/>
                <a:ea typeface="Times New Roman"/>
                <a:cs typeface="Times New Roman"/>
                <a:sym typeface="Times New Roman"/>
              </a:rPr>
              <a:t>XBOW</a:t>
            </a:r>
            <a:r>
              <a:rPr lang="en-US" sz="2000">
                <a:solidFill>
                  <a:schemeClr val="dk1"/>
                </a:solidFill>
                <a:latin typeface="Times New Roman"/>
                <a:ea typeface="Times New Roman"/>
                <a:cs typeface="Times New Roman"/>
                <a:sym typeface="Times New Roman"/>
              </a:rPr>
              <a:t> in 2025 found that only 25% of XSS vulnerability detected is mitigated , the rest are ignored as users don’t have enough resources to mitigate it.</a:t>
            </a:r>
            <a:endParaRPr sz="20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b="1" lang="en-US" sz="2000">
                <a:solidFill>
                  <a:schemeClr val="dk1"/>
                </a:solidFill>
                <a:latin typeface="Times New Roman"/>
                <a:ea typeface="Times New Roman"/>
                <a:cs typeface="Times New Roman"/>
                <a:sym typeface="Times New Roman"/>
              </a:rPr>
              <a:t>4. </a:t>
            </a:r>
            <a:r>
              <a:rPr lang="en-US" sz="2000">
                <a:solidFill>
                  <a:schemeClr val="dk1"/>
                </a:solidFill>
                <a:latin typeface="Times New Roman"/>
                <a:ea typeface="Times New Roman"/>
                <a:cs typeface="Times New Roman"/>
                <a:sym typeface="Times New Roman"/>
              </a:rPr>
              <a:t>According to a report by </a:t>
            </a:r>
            <a:r>
              <a:rPr b="1" lang="en-US" sz="2000">
                <a:solidFill>
                  <a:schemeClr val="dk1"/>
                </a:solidFill>
                <a:latin typeface="Times New Roman"/>
                <a:ea typeface="Times New Roman"/>
                <a:cs typeface="Times New Roman"/>
                <a:sym typeface="Times New Roman"/>
              </a:rPr>
              <a:t>contrast security </a:t>
            </a:r>
            <a:r>
              <a:rPr lang="en-US" sz="2000">
                <a:solidFill>
                  <a:schemeClr val="dk1"/>
                </a:solidFill>
                <a:latin typeface="Times New Roman"/>
                <a:ea typeface="Times New Roman"/>
                <a:cs typeface="Times New Roman"/>
                <a:sym typeface="Times New Roman"/>
              </a:rPr>
              <a:t>in 2020 nearly half i.e (46%) of XSS attacks had a 6% success rate of mitigating XSS.</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4"/>
          <p:cNvSpPr txBox="1"/>
          <p:nvPr>
            <p:ph idx="4294967295" type="body"/>
          </p:nvPr>
        </p:nvSpPr>
        <p:spPr>
          <a:xfrm>
            <a:off x="457200" y="1066800"/>
            <a:ext cx="8229600" cy="5424900"/>
          </a:xfrm>
          <a:prstGeom prst="rect">
            <a:avLst/>
          </a:prstGeom>
          <a:noFill/>
          <a:ln>
            <a:noFill/>
          </a:ln>
        </p:spPr>
        <p:txBody>
          <a:bodyPr anchorCtr="0" anchor="t" bIns="45700" lIns="91425" spcFirstLastPara="1" rIns="91425" wrap="square" tIns="45700">
            <a:noAutofit/>
          </a:bodyPr>
          <a:lstStyle/>
          <a:p>
            <a:pPr indent="-355600" lvl="0" marL="457200" rtl="0" algn="just">
              <a:lnSpc>
                <a:spcPct val="115000"/>
              </a:lnSpc>
              <a:spcBef>
                <a:spcPts val="0"/>
              </a:spcBef>
              <a:spcAft>
                <a:spcPts val="0"/>
              </a:spcAft>
              <a:buSzPts val="2000"/>
              <a:buFont typeface="Times New Roman"/>
              <a:buAutoNum type="arabicPeriod"/>
            </a:pPr>
            <a:r>
              <a:rPr b="1" lang="en-US" sz="2000">
                <a:latin typeface="Times New Roman"/>
                <a:ea typeface="Times New Roman"/>
                <a:cs typeface="Times New Roman"/>
                <a:sym typeface="Times New Roman"/>
              </a:rPr>
              <a:t>Introduction</a:t>
            </a:r>
            <a:endParaRPr b="1" sz="2000">
              <a:latin typeface="Times New Roman"/>
              <a:ea typeface="Times New Roman"/>
              <a:cs typeface="Times New Roman"/>
              <a:sym typeface="Times New Roman"/>
            </a:endParaRPr>
          </a:p>
          <a:p>
            <a:pPr indent="-355600" lvl="0" marL="457200" rtl="0" algn="just">
              <a:lnSpc>
                <a:spcPct val="115000"/>
              </a:lnSpc>
              <a:spcBef>
                <a:spcPts val="0"/>
              </a:spcBef>
              <a:spcAft>
                <a:spcPts val="0"/>
              </a:spcAft>
              <a:buSzPts val="2000"/>
              <a:buFont typeface="Times New Roman"/>
              <a:buAutoNum type="arabicPeriod"/>
            </a:pPr>
            <a:r>
              <a:rPr b="1" lang="en-US" sz="2000">
                <a:latin typeface="Times New Roman"/>
                <a:ea typeface="Times New Roman"/>
                <a:cs typeface="Times New Roman"/>
                <a:sym typeface="Times New Roman"/>
              </a:rPr>
              <a:t>Motivation</a:t>
            </a:r>
            <a:endParaRPr b="1" sz="2000">
              <a:latin typeface="Times New Roman"/>
              <a:ea typeface="Times New Roman"/>
              <a:cs typeface="Times New Roman"/>
              <a:sym typeface="Times New Roman"/>
            </a:endParaRPr>
          </a:p>
          <a:p>
            <a:pPr indent="-355600" lvl="0" marL="457200" rtl="0" algn="just">
              <a:lnSpc>
                <a:spcPct val="115000"/>
              </a:lnSpc>
              <a:spcBef>
                <a:spcPts val="0"/>
              </a:spcBef>
              <a:spcAft>
                <a:spcPts val="0"/>
              </a:spcAft>
              <a:buSzPts val="2000"/>
              <a:buFont typeface="Times New Roman"/>
              <a:buAutoNum type="arabicPeriod"/>
            </a:pPr>
            <a:r>
              <a:rPr b="1" lang="en-US" sz="2000">
                <a:latin typeface="Times New Roman"/>
                <a:ea typeface="Times New Roman"/>
                <a:cs typeface="Times New Roman"/>
                <a:sym typeface="Times New Roman"/>
              </a:rPr>
              <a:t>Problem Statement</a:t>
            </a:r>
            <a:endParaRPr b="1" sz="2000">
              <a:latin typeface="Times New Roman"/>
              <a:ea typeface="Times New Roman"/>
              <a:cs typeface="Times New Roman"/>
              <a:sym typeface="Times New Roman"/>
            </a:endParaRPr>
          </a:p>
          <a:p>
            <a:pPr indent="-355600" lvl="0" marL="457200" rtl="0" algn="just">
              <a:lnSpc>
                <a:spcPct val="115000"/>
              </a:lnSpc>
              <a:spcBef>
                <a:spcPts val="0"/>
              </a:spcBef>
              <a:spcAft>
                <a:spcPts val="0"/>
              </a:spcAft>
              <a:buSzPts val="2000"/>
              <a:buFont typeface="Times New Roman"/>
              <a:buAutoNum type="arabicPeriod"/>
            </a:pPr>
            <a:r>
              <a:rPr b="1" lang="en-US" sz="2000">
                <a:latin typeface="Times New Roman"/>
                <a:ea typeface="Times New Roman"/>
                <a:cs typeface="Times New Roman"/>
                <a:sym typeface="Times New Roman"/>
              </a:rPr>
              <a:t>Reflected XSS : Vulnerability Insights</a:t>
            </a:r>
            <a:endParaRPr b="1" sz="2000">
              <a:latin typeface="Times New Roman"/>
              <a:ea typeface="Times New Roman"/>
              <a:cs typeface="Times New Roman"/>
              <a:sym typeface="Times New Roman"/>
            </a:endParaRPr>
          </a:p>
          <a:p>
            <a:pPr indent="-355600" lvl="0" marL="457200" rtl="0" algn="just">
              <a:lnSpc>
                <a:spcPct val="115000"/>
              </a:lnSpc>
              <a:spcBef>
                <a:spcPts val="0"/>
              </a:spcBef>
              <a:spcAft>
                <a:spcPts val="0"/>
              </a:spcAft>
              <a:buSzPts val="2000"/>
              <a:buFont typeface="Times New Roman"/>
              <a:buAutoNum type="arabicPeriod"/>
            </a:pPr>
            <a:r>
              <a:rPr b="1" lang="en-US" sz="2000">
                <a:latin typeface="Times New Roman"/>
                <a:ea typeface="Times New Roman"/>
                <a:cs typeface="Times New Roman"/>
                <a:sym typeface="Times New Roman"/>
              </a:rPr>
              <a:t>Objectives</a:t>
            </a:r>
            <a:endParaRPr b="1" sz="2000">
              <a:latin typeface="Times New Roman"/>
              <a:ea typeface="Times New Roman"/>
              <a:cs typeface="Times New Roman"/>
              <a:sym typeface="Times New Roman"/>
            </a:endParaRPr>
          </a:p>
          <a:p>
            <a:pPr indent="-355600" lvl="0" marL="457200" rtl="0" algn="just">
              <a:lnSpc>
                <a:spcPct val="115000"/>
              </a:lnSpc>
              <a:spcBef>
                <a:spcPts val="0"/>
              </a:spcBef>
              <a:spcAft>
                <a:spcPts val="0"/>
              </a:spcAft>
              <a:buSzPts val="2000"/>
              <a:buFont typeface="Times New Roman"/>
              <a:buAutoNum type="arabicPeriod"/>
            </a:pPr>
            <a:r>
              <a:rPr b="1" lang="en-US" sz="2000">
                <a:latin typeface="Times New Roman"/>
                <a:ea typeface="Times New Roman"/>
                <a:cs typeface="Times New Roman"/>
                <a:sym typeface="Times New Roman"/>
              </a:rPr>
              <a:t>Architecture Block Diagram</a:t>
            </a:r>
            <a:endParaRPr b="1" sz="2000">
              <a:latin typeface="Times New Roman"/>
              <a:ea typeface="Times New Roman"/>
              <a:cs typeface="Times New Roman"/>
              <a:sym typeface="Times New Roman"/>
            </a:endParaRPr>
          </a:p>
          <a:p>
            <a:pPr indent="-355600" lvl="0" marL="457200" rtl="0" algn="just">
              <a:lnSpc>
                <a:spcPct val="115000"/>
              </a:lnSpc>
              <a:spcBef>
                <a:spcPts val="0"/>
              </a:spcBef>
              <a:spcAft>
                <a:spcPts val="0"/>
              </a:spcAft>
              <a:buSzPts val="2000"/>
              <a:buFont typeface="Times New Roman"/>
              <a:buAutoNum type="arabicPeriod"/>
            </a:pPr>
            <a:r>
              <a:rPr b="1" lang="en-US" sz="2000">
                <a:solidFill>
                  <a:srgbClr val="000000"/>
                </a:solidFill>
                <a:latin typeface="Times New Roman"/>
                <a:ea typeface="Times New Roman"/>
                <a:cs typeface="Times New Roman"/>
                <a:sym typeface="Times New Roman"/>
              </a:rPr>
              <a:t>Working of Vulnerability Scanner</a:t>
            </a:r>
            <a:endParaRPr b="1" sz="2000">
              <a:solidFill>
                <a:srgbClr val="000000"/>
              </a:solidFill>
              <a:latin typeface="Times New Roman"/>
              <a:ea typeface="Times New Roman"/>
              <a:cs typeface="Times New Roman"/>
              <a:sym typeface="Times New Roman"/>
            </a:endParaRPr>
          </a:p>
          <a:p>
            <a:pPr indent="-355600" lvl="0" marL="457200" rtl="0" algn="just">
              <a:lnSpc>
                <a:spcPct val="115000"/>
              </a:lnSpc>
              <a:spcBef>
                <a:spcPts val="0"/>
              </a:spcBef>
              <a:spcAft>
                <a:spcPts val="0"/>
              </a:spcAft>
              <a:buSzPts val="2000"/>
              <a:buFont typeface="Times New Roman"/>
              <a:buAutoNum type="arabicPeriod"/>
            </a:pPr>
            <a:r>
              <a:rPr b="1" lang="en-US" sz="2000">
                <a:latin typeface="Times New Roman"/>
                <a:ea typeface="Times New Roman"/>
                <a:cs typeface="Times New Roman"/>
                <a:sym typeface="Times New Roman"/>
              </a:rPr>
              <a:t>Working of AI Chatbot</a:t>
            </a:r>
            <a:endParaRPr b="1" sz="2000">
              <a:latin typeface="Times New Roman"/>
              <a:ea typeface="Times New Roman"/>
              <a:cs typeface="Times New Roman"/>
              <a:sym typeface="Times New Roman"/>
            </a:endParaRPr>
          </a:p>
          <a:p>
            <a:pPr indent="-355600" lvl="0" marL="457200" rtl="0" algn="just">
              <a:lnSpc>
                <a:spcPct val="115000"/>
              </a:lnSpc>
              <a:spcBef>
                <a:spcPts val="0"/>
              </a:spcBef>
              <a:spcAft>
                <a:spcPts val="0"/>
              </a:spcAft>
              <a:buSzPts val="2000"/>
              <a:buFont typeface="Times New Roman"/>
              <a:buAutoNum type="arabicPeriod"/>
            </a:pPr>
            <a:r>
              <a:rPr b="1" lang="en-US" sz="2000">
                <a:latin typeface="Times New Roman"/>
                <a:ea typeface="Times New Roman"/>
                <a:cs typeface="Times New Roman"/>
                <a:sym typeface="Times New Roman"/>
              </a:rPr>
              <a:t>Software Requirements</a:t>
            </a:r>
            <a:endParaRPr b="1" sz="2000">
              <a:latin typeface="Times New Roman"/>
              <a:ea typeface="Times New Roman"/>
              <a:cs typeface="Times New Roman"/>
              <a:sym typeface="Times New Roman"/>
            </a:endParaRPr>
          </a:p>
          <a:p>
            <a:pPr indent="-355600" lvl="0" marL="457200" rtl="0" algn="just">
              <a:lnSpc>
                <a:spcPct val="115000"/>
              </a:lnSpc>
              <a:spcBef>
                <a:spcPts val="0"/>
              </a:spcBef>
              <a:spcAft>
                <a:spcPts val="0"/>
              </a:spcAft>
              <a:buSzPts val="2000"/>
              <a:buFont typeface="Times New Roman"/>
              <a:buAutoNum type="arabicPeriod"/>
            </a:pPr>
            <a:r>
              <a:rPr b="1" lang="en-US" sz="2000">
                <a:latin typeface="Times New Roman"/>
                <a:ea typeface="Times New Roman"/>
                <a:cs typeface="Times New Roman"/>
                <a:sym typeface="Times New Roman"/>
              </a:rPr>
              <a:t>Requirement of Security in Applications</a:t>
            </a:r>
            <a:endParaRPr b="1" sz="2000">
              <a:latin typeface="Times New Roman"/>
              <a:ea typeface="Times New Roman"/>
              <a:cs typeface="Times New Roman"/>
              <a:sym typeface="Times New Roman"/>
            </a:endParaRPr>
          </a:p>
          <a:p>
            <a:pPr indent="-355600" lvl="0" marL="457200" rtl="0" algn="just">
              <a:lnSpc>
                <a:spcPct val="115000"/>
              </a:lnSpc>
              <a:spcBef>
                <a:spcPts val="0"/>
              </a:spcBef>
              <a:spcAft>
                <a:spcPts val="0"/>
              </a:spcAft>
              <a:buSzPts val="2000"/>
              <a:buFont typeface="Times New Roman"/>
              <a:buAutoNum type="arabicPeriod"/>
            </a:pPr>
            <a:r>
              <a:rPr b="1" lang="en-US" sz="2000">
                <a:latin typeface="Times New Roman"/>
                <a:ea typeface="Times New Roman"/>
                <a:cs typeface="Times New Roman"/>
                <a:sym typeface="Times New Roman"/>
              </a:rPr>
              <a:t>Why 'Intelligent XSS Analyzer'?</a:t>
            </a:r>
            <a:endParaRPr b="1" sz="2000">
              <a:latin typeface="Times New Roman"/>
              <a:ea typeface="Times New Roman"/>
              <a:cs typeface="Times New Roman"/>
              <a:sym typeface="Times New Roman"/>
            </a:endParaRPr>
          </a:p>
          <a:p>
            <a:pPr indent="-355600" lvl="0" marL="457200" rtl="0" algn="just">
              <a:lnSpc>
                <a:spcPct val="115000"/>
              </a:lnSpc>
              <a:spcBef>
                <a:spcPts val="0"/>
              </a:spcBef>
              <a:spcAft>
                <a:spcPts val="0"/>
              </a:spcAft>
              <a:buSzPts val="2000"/>
              <a:buFont typeface="Times New Roman"/>
              <a:buAutoNum type="arabicPeriod"/>
            </a:pPr>
            <a:r>
              <a:rPr b="1" lang="en-US" sz="2000">
                <a:latin typeface="Times New Roman"/>
                <a:ea typeface="Times New Roman"/>
                <a:cs typeface="Times New Roman"/>
                <a:sym typeface="Times New Roman"/>
              </a:rPr>
              <a:t>Literature Review</a:t>
            </a:r>
            <a:endParaRPr b="1" sz="2000">
              <a:latin typeface="Times New Roman"/>
              <a:ea typeface="Times New Roman"/>
              <a:cs typeface="Times New Roman"/>
              <a:sym typeface="Times New Roman"/>
            </a:endParaRPr>
          </a:p>
          <a:p>
            <a:pPr indent="-355600" lvl="0" marL="457200" rtl="0" algn="just">
              <a:lnSpc>
                <a:spcPct val="115000"/>
              </a:lnSpc>
              <a:spcBef>
                <a:spcPts val="0"/>
              </a:spcBef>
              <a:spcAft>
                <a:spcPts val="0"/>
              </a:spcAft>
              <a:buSzPts val="2000"/>
              <a:buFont typeface="Times New Roman"/>
              <a:buAutoNum type="arabicPeriod"/>
            </a:pPr>
            <a:r>
              <a:rPr b="1" lang="en-US" sz="2000">
                <a:latin typeface="Times New Roman"/>
                <a:ea typeface="Times New Roman"/>
                <a:cs typeface="Times New Roman"/>
                <a:sym typeface="Times New Roman"/>
              </a:rPr>
              <a:t>References</a:t>
            </a:r>
            <a:endParaRPr sz="2000">
              <a:latin typeface="Times New Roman"/>
              <a:ea typeface="Times New Roman"/>
              <a:cs typeface="Times New Roman"/>
              <a:sym typeface="Times New Roman"/>
            </a:endParaRPr>
          </a:p>
        </p:txBody>
      </p:sp>
      <p:sp>
        <p:nvSpPr>
          <p:cNvPr id="176" name="Google Shape;176;p34"/>
          <p:cNvSpPr txBox="1"/>
          <p:nvPr>
            <p:ph type="title"/>
          </p:nvPr>
        </p:nvSpPr>
        <p:spPr>
          <a:xfrm>
            <a:off x="457200" y="0"/>
            <a:ext cx="8229600" cy="914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latin typeface="Times New Roman"/>
                <a:ea typeface="Times New Roman"/>
                <a:cs typeface="Times New Roman"/>
                <a:sym typeface="Times New Roman"/>
              </a:rPr>
              <a:t>Contents</a:t>
            </a:r>
            <a:endParaRPr/>
          </a:p>
        </p:txBody>
      </p:sp>
      <p:sp>
        <p:nvSpPr>
          <p:cNvPr id="177" name="Google Shape;177;p34"/>
          <p:cNvSpPr txBox="1"/>
          <p:nvPr>
            <p:ph idx="12" type="sldNum"/>
          </p:nvPr>
        </p:nvSpPr>
        <p:spPr>
          <a:xfrm>
            <a:off x="6553200" y="6378575"/>
            <a:ext cx="2133600" cy="4764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r>
              <a:rPr lang="en-US"/>
              <a:t>1</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5"/>
          <p:cNvSpPr txBox="1"/>
          <p:nvPr>
            <p:ph type="title"/>
          </p:nvPr>
        </p:nvSpPr>
        <p:spPr>
          <a:xfrm>
            <a:off x="457200" y="0"/>
            <a:ext cx="8229600" cy="9348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b="1" lang="en-US">
                <a:latin typeface="Times New Roman"/>
                <a:ea typeface="Times New Roman"/>
                <a:cs typeface="Times New Roman"/>
                <a:sym typeface="Times New Roman"/>
              </a:rPr>
              <a:t>Introduction </a:t>
            </a:r>
            <a:endParaRPr b="1">
              <a:latin typeface="Times New Roman"/>
              <a:ea typeface="Times New Roman"/>
              <a:cs typeface="Times New Roman"/>
              <a:sym typeface="Times New Roman"/>
            </a:endParaRPr>
          </a:p>
        </p:txBody>
      </p:sp>
      <p:sp>
        <p:nvSpPr>
          <p:cNvPr id="184" name="Google Shape;184;p35"/>
          <p:cNvSpPr txBox="1"/>
          <p:nvPr>
            <p:ph idx="12" type="sldNum"/>
          </p:nvPr>
        </p:nvSpPr>
        <p:spPr>
          <a:xfrm>
            <a:off x="6553200" y="6378575"/>
            <a:ext cx="2133600" cy="4764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2</a:t>
            </a:r>
            <a:endParaRPr/>
          </a:p>
        </p:txBody>
      </p:sp>
      <p:sp>
        <p:nvSpPr>
          <p:cNvPr id="185" name="Google Shape;185;p35"/>
          <p:cNvSpPr txBox="1"/>
          <p:nvPr/>
        </p:nvSpPr>
        <p:spPr>
          <a:xfrm>
            <a:off x="457200" y="1168100"/>
            <a:ext cx="8229600" cy="20550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US" sz="1800">
                <a:solidFill>
                  <a:schemeClr val="dk1"/>
                </a:solidFill>
                <a:latin typeface="Times New Roman"/>
                <a:ea typeface="Times New Roman"/>
                <a:cs typeface="Times New Roman"/>
                <a:sym typeface="Times New Roman"/>
              </a:rPr>
              <a:t>This project is about building a simple tool to help developers and </a:t>
            </a:r>
            <a:r>
              <a:rPr lang="en-US" sz="1800">
                <a:solidFill>
                  <a:schemeClr val="dk1"/>
                </a:solidFill>
                <a:latin typeface="Times New Roman"/>
                <a:ea typeface="Times New Roman"/>
                <a:cs typeface="Times New Roman"/>
                <a:sym typeface="Times New Roman"/>
              </a:rPr>
              <a:t>technical</a:t>
            </a:r>
            <a:r>
              <a:rPr lang="en-US" sz="1800">
                <a:solidFill>
                  <a:schemeClr val="dk1"/>
                </a:solidFill>
                <a:latin typeface="Times New Roman"/>
                <a:ea typeface="Times New Roman"/>
                <a:cs typeface="Times New Roman"/>
                <a:sym typeface="Times New Roman"/>
              </a:rPr>
              <a:t> users find and fix </a:t>
            </a:r>
            <a:r>
              <a:rPr b="1" lang="en-US" sz="1800">
                <a:solidFill>
                  <a:schemeClr val="dk1"/>
                </a:solidFill>
                <a:latin typeface="Times New Roman"/>
                <a:ea typeface="Times New Roman"/>
                <a:cs typeface="Times New Roman"/>
                <a:sym typeface="Times New Roman"/>
              </a:rPr>
              <a:t>Reflected XSS i.e ( Reflected Cross Site Scripting) </a:t>
            </a:r>
            <a:r>
              <a:rPr lang="en-US" sz="1800">
                <a:solidFill>
                  <a:schemeClr val="dk1"/>
                </a:solidFill>
                <a:latin typeface="Times New Roman"/>
                <a:ea typeface="Times New Roman"/>
                <a:cs typeface="Times New Roman"/>
                <a:sym typeface="Times New Roman"/>
              </a:rPr>
              <a:t>in web applications. The application runs a scan of the URL of any website and finds out if the vulnerability is present or not. If yes then it provides the necessary steps to mitigate the vulnerability.</a:t>
            </a:r>
            <a:endParaRPr sz="1800" u="sng">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6"/>
          <p:cNvSpPr txBox="1"/>
          <p:nvPr>
            <p:ph type="title"/>
          </p:nvPr>
        </p:nvSpPr>
        <p:spPr>
          <a:xfrm>
            <a:off x="360425" y="122238"/>
            <a:ext cx="8229600" cy="639900"/>
          </a:xfrm>
          <a:prstGeom prst="rect">
            <a:avLst/>
          </a:prstGeom>
        </p:spPr>
        <p:txBody>
          <a:bodyPr anchorCtr="0" anchor="ctr" bIns="45700" lIns="91425" spcFirstLastPara="1" rIns="91425" wrap="square" tIns="45700">
            <a:noAutofit/>
          </a:bodyPr>
          <a:lstStyle/>
          <a:p>
            <a:pPr indent="0" lvl="0" marL="342900" rtl="0" algn="ctr">
              <a:lnSpc>
                <a:spcPct val="115000"/>
              </a:lnSpc>
              <a:spcBef>
                <a:spcPts val="0"/>
              </a:spcBef>
              <a:spcAft>
                <a:spcPts val="0"/>
              </a:spcAft>
              <a:buNone/>
            </a:pPr>
            <a:r>
              <a:rPr b="1" lang="en-US">
                <a:solidFill>
                  <a:schemeClr val="dk1"/>
                </a:solidFill>
                <a:latin typeface="Times New Roman"/>
                <a:ea typeface="Times New Roman"/>
                <a:cs typeface="Times New Roman"/>
                <a:sym typeface="Times New Roman"/>
              </a:rPr>
              <a:t>Motivation</a:t>
            </a:r>
            <a:endParaRPr/>
          </a:p>
        </p:txBody>
      </p:sp>
      <p:sp>
        <p:nvSpPr>
          <p:cNvPr id="192" name="Google Shape;192;p36"/>
          <p:cNvSpPr txBox="1"/>
          <p:nvPr>
            <p:ph idx="12" type="sldNum"/>
          </p:nvPr>
        </p:nvSpPr>
        <p:spPr>
          <a:xfrm>
            <a:off x="6553200" y="6378575"/>
            <a:ext cx="2133600" cy="4764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3</a:t>
            </a:r>
            <a:endParaRPr/>
          </a:p>
        </p:txBody>
      </p:sp>
      <p:sp>
        <p:nvSpPr>
          <p:cNvPr id="193" name="Google Shape;193;p36"/>
          <p:cNvSpPr txBox="1"/>
          <p:nvPr/>
        </p:nvSpPr>
        <p:spPr>
          <a:xfrm>
            <a:off x="596100" y="1176450"/>
            <a:ext cx="7951800" cy="26922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t/>
            </a:r>
            <a:endParaRPr sz="1800">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US" sz="1800">
                <a:latin typeface="Times New Roman"/>
                <a:ea typeface="Times New Roman"/>
                <a:cs typeface="Times New Roman"/>
                <a:sym typeface="Times New Roman"/>
              </a:rPr>
              <a:t>The main reason we are making this is because most security reports are very technical and hard to understand. This makes it difficult for users to fix security issues quickly and correctly, leaving their websites at risk. We want to make security easier for the users (Developers, DevOps and people who work for </a:t>
            </a:r>
            <a:r>
              <a:rPr lang="en-US" sz="1800">
                <a:latin typeface="Times New Roman"/>
                <a:ea typeface="Times New Roman"/>
                <a:cs typeface="Times New Roman"/>
                <a:sym typeface="Times New Roman"/>
              </a:rPr>
              <a:t>SMEs</a:t>
            </a:r>
            <a:r>
              <a:rPr lang="en-US" sz="1800">
                <a:latin typeface="Times New Roman"/>
                <a:ea typeface="Times New Roman"/>
                <a:cs typeface="Times New Roman"/>
                <a:sym typeface="Times New Roman"/>
              </a:rPr>
              <a:t>)         </a:t>
            </a:r>
            <a:r>
              <a:rPr lang="en-US" sz="1800">
                <a:latin typeface="Times New Roman"/>
                <a:ea typeface="Times New Roman"/>
                <a:cs typeface="Times New Roman"/>
                <a:sym typeface="Times New Roman"/>
              </a:rPr>
              <a:t>whose</a:t>
            </a:r>
            <a:r>
              <a:rPr lang="en-US" sz="1800">
                <a:latin typeface="Times New Roman"/>
                <a:ea typeface="Times New Roman"/>
                <a:cs typeface="Times New Roman"/>
                <a:sym typeface="Times New Roman"/>
              </a:rPr>
              <a:t> data is very important and confidential.</a:t>
            </a:r>
            <a:br>
              <a:rPr lang="en-US" sz="1800">
                <a:latin typeface="Times New Roman"/>
                <a:ea typeface="Times New Roman"/>
                <a:cs typeface="Times New Roman"/>
                <a:sym typeface="Times New Roman"/>
              </a:rPr>
            </a:b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7"/>
          <p:cNvSpPr txBox="1"/>
          <p:nvPr>
            <p:ph idx="4294967295" type="body"/>
          </p:nvPr>
        </p:nvSpPr>
        <p:spPr>
          <a:xfrm>
            <a:off x="541875" y="1321449"/>
            <a:ext cx="7949100" cy="4432800"/>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600"/>
              </a:spcBef>
              <a:spcAft>
                <a:spcPts val="600"/>
              </a:spcAft>
              <a:buClr>
                <a:schemeClr val="dk1"/>
              </a:buClr>
              <a:buSzPts val="1100"/>
              <a:buFont typeface="Arial"/>
              <a:buNone/>
            </a:pPr>
            <a:r>
              <a:rPr lang="en-US" sz="1800">
                <a:latin typeface="Times New Roman"/>
                <a:ea typeface="Times New Roman"/>
                <a:cs typeface="Times New Roman"/>
                <a:sym typeface="Times New Roman"/>
              </a:rPr>
              <a:t>Existing XSS scanners detect flaws but fail at remediation, offering cryptic reports that create a time-consuming "mitigation gap" and leave applications exposed.</a:t>
            </a:r>
            <a:endParaRPr sz="1800">
              <a:latin typeface="Times New Roman"/>
              <a:ea typeface="Times New Roman"/>
              <a:cs typeface="Times New Roman"/>
              <a:sym typeface="Times New Roman"/>
            </a:endParaRPr>
          </a:p>
        </p:txBody>
      </p:sp>
      <p:sp>
        <p:nvSpPr>
          <p:cNvPr id="199" name="Google Shape;199;p37"/>
          <p:cNvSpPr txBox="1"/>
          <p:nvPr>
            <p:ph type="title"/>
          </p:nvPr>
        </p:nvSpPr>
        <p:spPr>
          <a:xfrm>
            <a:off x="457200" y="0"/>
            <a:ext cx="8229600" cy="8847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latin typeface="Times New Roman"/>
                <a:ea typeface="Times New Roman"/>
                <a:cs typeface="Times New Roman"/>
                <a:sym typeface="Times New Roman"/>
              </a:rPr>
              <a:t>Problem Statement</a:t>
            </a:r>
            <a:endParaRPr/>
          </a:p>
        </p:txBody>
      </p:sp>
      <p:sp>
        <p:nvSpPr>
          <p:cNvPr id="200" name="Google Shape;200;p37"/>
          <p:cNvSpPr txBox="1"/>
          <p:nvPr>
            <p:ph idx="12" type="sldNum"/>
          </p:nvPr>
        </p:nvSpPr>
        <p:spPr>
          <a:xfrm>
            <a:off x="6553200" y="6378575"/>
            <a:ext cx="2133600" cy="4764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r>
              <a:rPr lang="en-US"/>
              <a:t>4</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8"/>
          <p:cNvSpPr txBox="1"/>
          <p:nvPr>
            <p:ph idx="12" type="sldNum"/>
          </p:nvPr>
        </p:nvSpPr>
        <p:spPr>
          <a:xfrm>
            <a:off x="6553200" y="6378575"/>
            <a:ext cx="2133600" cy="4764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12</a:t>
            </a:r>
            <a:endParaRPr/>
          </a:p>
        </p:txBody>
      </p:sp>
      <p:sp>
        <p:nvSpPr>
          <p:cNvPr id="207" name="Google Shape;207;p38"/>
          <p:cNvSpPr txBox="1"/>
          <p:nvPr>
            <p:ph type="title"/>
          </p:nvPr>
        </p:nvSpPr>
        <p:spPr>
          <a:xfrm>
            <a:off x="457200" y="0"/>
            <a:ext cx="8229600" cy="8847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latin typeface="Times New Roman"/>
                <a:ea typeface="Times New Roman"/>
                <a:cs typeface="Times New Roman"/>
                <a:sym typeface="Times New Roman"/>
              </a:rPr>
              <a:t>Reflected XSS : Vulnerability Insights</a:t>
            </a:r>
            <a:endParaRPr b="1">
              <a:latin typeface="Times New Roman"/>
              <a:ea typeface="Times New Roman"/>
              <a:cs typeface="Times New Roman"/>
              <a:sym typeface="Times New Roman"/>
            </a:endParaRPr>
          </a:p>
        </p:txBody>
      </p:sp>
      <p:sp>
        <p:nvSpPr>
          <p:cNvPr id="208" name="Google Shape;208;p38"/>
          <p:cNvSpPr txBox="1"/>
          <p:nvPr/>
        </p:nvSpPr>
        <p:spPr>
          <a:xfrm>
            <a:off x="457200" y="989635"/>
            <a:ext cx="8229600" cy="2401200"/>
          </a:xfrm>
          <a:prstGeom prst="rect">
            <a:avLst/>
          </a:prstGeom>
          <a:noFill/>
          <a:ln>
            <a:noFill/>
          </a:ln>
        </p:spPr>
        <p:txBody>
          <a:bodyPr anchorCtr="0" anchor="t" bIns="91425" lIns="91425" spcFirstLastPara="1" rIns="91425" wrap="square" tIns="91425">
            <a:spAutoFit/>
          </a:bodyPr>
          <a:lstStyle/>
          <a:p>
            <a:pPr indent="-342900" lvl="0" marL="457200" rtl="0" algn="just">
              <a:spcBef>
                <a:spcPts val="0"/>
              </a:spcBef>
              <a:spcAft>
                <a:spcPts val="0"/>
              </a:spcAft>
              <a:buClr>
                <a:schemeClr val="dk1"/>
              </a:buClr>
              <a:buSzPts val="1800"/>
              <a:buFont typeface="Times New Roman"/>
              <a:buChar char="●"/>
            </a:pPr>
            <a:r>
              <a:rPr lang="en-US" sz="1800">
                <a:solidFill>
                  <a:schemeClr val="dk1"/>
                </a:solidFill>
                <a:highlight>
                  <a:srgbClr val="FFFFFF"/>
                </a:highlight>
                <a:latin typeface="Times New Roman"/>
                <a:ea typeface="Times New Roman"/>
                <a:cs typeface="Times New Roman"/>
                <a:sym typeface="Times New Roman"/>
              </a:rPr>
              <a:t>Reflected XSS is the simplest variety of cross-site scripting. It arises when an application receives data in an HTTP request and includes that data within the immediate response in an unsafe way.</a:t>
            </a:r>
            <a:endParaRPr sz="1800">
              <a:solidFill>
                <a:schemeClr val="dk1"/>
              </a:solidFill>
              <a:highlight>
                <a:srgbClr val="FFFFFF"/>
              </a:highlight>
              <a:latin typeface="Times New Roman"/>
              <a:ea typeface="Times New Roman"/>
              <a:cs typeface="Times New Roman"/>
              <a:sym typeface="Times New Roman"/>
            </a:endParaRPr>
          </a:p>
          <a:p>
            <a:pPr indent="-342900" lvl="0" marL="457200" rtl="0" algn="just">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A web vulnerability where malicious scripts are </a:t>
            </a:r>
            <a:r>
              <a:rPr b="1" lang="en-US" sz="1800">
                <a:solidFill>
                  <a:schemeClr val="dk1"/>
                </a:solidFill>
                <a:latin typeface="Times New Roman"/>
                <a:ea typeface="Times New Roman"/>
                <a:cs typeface="Times New Roman"/>
                <a:sym typeface="Times New Roman"/>
              </a:rPr>
              <a:t>reflected</a:t>
            </a:r>
            <a:r>
              <a:rPr lang="en-US" sz="1800">
                <a:solidFill>
                  <a:schemeClr val="dk1"/>
                </a:solidFill>
                <a:latin typeface="Times New Roman"/>
                <a:ea typeface="Times New Roman"/>
                <a:cs typeface="Times New Roman"/>
                <a:sym typeface="Times New Roman"/>
              </a:rPr>
              <a:t> off a web application to a victim's browser.</a:t>
            </a:r>
            <a:endParaRPr sz="1800">
              <a:solidFill>
                <a:schemeClr val="dk1"/>
              </a:solidFill>
              <a:latin typeface="Times New Roman"/>
              <a:ea typeface="Times New Roman"/>
              <a:cs typeface="Times New Roman"/>
              <a:sym typeface="Times New Roman"/>
            </a:endParaRPr>
          </a:p>
          <a:p>
            <a:pPr indent="-342900" lvl="0" marL="457200" rtl="0" algn="just">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The attack is delivered through a link (e.g., in a phishing email or message).</a:t>
            </a:r>
            <a:endParaRPr sz="1800">
              <a:solidFill>
                <a:schemeClr val="dk1"/>
              </a:solidFill>
              <a:latin typeface="Times New Roman"/>
              <a:ea typeface="Times New Roman"/>
              <a:cs typeface="Times New Roman"/>
              <a:sym typeface="Times New Roman"/>
            </a:endParaRPr>
          </a:p>
          <a:p>
            <a:pPr indent="-342900" lvl="0" marL="457200" rtl="0" algn="just">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It is </a:t>
            </a:r>
            <a:r>
              <a:rPr b="1" lang="en-US" sz="1800">
                <a:solidFill>
                  <a:schemeClr val="dk1"/>
                </a:solidFill>
                <a:latin typeface="Times New Roman"/>
                <a:ea typeface="Times New Roman"/>
                <a:cs typeface="Times New Roman"/>
                <a:sym typeface="Times New Roman"/>
              </a:rPr>
              <a:t>non-persistent</a:t>
            </a:r>
            <a:r>
              <a:rPr lang="en-US" sz="1800">
                <a:solidFill>
                  <a:schemeClr val="dk1"/>
                </a:solidFill>
                <a:latin typeface="Times New Roman"/>
                <a:ea typeface="Times New Roman"/>
                <a:cs typeface="Times New Roman"/>
                <a:sym typeface="Times New Roman"/>
              </a:rPr>
              <a:t>, meaning the malicious script is </a:t>
            </a:r>
            <a:r>
              <a:rPr b="1" lang="en-US" sz="1800">
                <a:solidFill>
                  <a:schemeClr val="dk1"/>
                </a:solidFill>
                <a:latin typeface="Times New Roman"/>
                <a:ea typeface="Times New Roman"/>
                <a:cs typeface="Times New Roman"/>
                <a:sym typeface="Times New Roman"/>
              </a:rPr>
              <a:t>not</a:t>
            </a:r>
            <a:r>
              <a:rPr lang="en-US" sz="1800">
                <a:solidFill>
                  <a:schemeClr val="dk1"/>
                </a:solidFill>
                <a:latin typeface="Times New Roman"/>
                <a:ea typeface="Times New Roman"/>
                <a:cs typeface="Times New Roman"/>
                <a:sym typeface="Times New Roman"/>
              </a:rPr>
              <a:t> permanently stored on the server.</a:t>
            </a:r>
            <a:endParaRPr sz="1800">
              <a:solidFill>
                <a:schemeClr val="dk1"/>
              </a:solidFill>
              <a:highlight>
                <a:srgbClr val="FFFFFF"/>
              </a:highlight>
              <a:latin typeface="Times New Roman"/>
              <a:ea typeface="Times New Roman"/>
              <a:cs typeface="Times New Roman"/>
              <a:sym typeface="Times New Roman"/>
            </a:endParaRPr>
          </a:p>
        </p:txBody>
      </p:sp>
      <p:pic>
        <p:nvPicPr>
          <p:cNvPr id="209" name="Google Shape;209;p38"/>
          <p:cNvPicPr preferRelativeResize="0"/>
          <p:nvPr/>
        </p:nvPicPr>
        <p:blipFill>
          <a:blip r:embed="rId3">
            <a:alphaModFix/>
          </a:blip>
          <a:stretch>
            <a:fillRect/>
          </a:stretch>
        </p:blipFill>
        <p:spPr>
          <a:xfrm>
            <a:off x="823276" y="3284400"/>
            <a:ext cx="7497447" cy="29553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9"/>
          <p:cNvSpPr txBox="1"/>
          <p:nvPr>
            <p:ph type="title"/>
          </p:nvPr>
        </p:nvSpPr>
        <p:spPr>
          <a:xfrm>
            <a:off x="457200" y="194788"/>
            <a:ext cx="8229600" cy="639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Font typeface="Arial"/>
              <a:buNone/>
            </a:pPr>
            <a:r>
              <a:rPr b="1" lang="en-US">
                <a:solidFill>
                  <a:schemeClr val="dk1"/>
                </a:solidFill>
                <a:latin typeface="Times New Roman"/>
                <a:ea typeface="Times New Roman"/>
                <a:cs typeface="Times New Roman"/>
                <a:sym typeface="Times New Roman"/>
              </a:rPr>
              <a:t>Objectives</a:t>
            </a:r>
            <a:endParaRPr>
              <a:solidFill>
                <a:schemeClr val="dk1"/>
              </a:solidFill>
            </a:endParaRPr>
          </a:p>
        </p:txBody>
      </p:sp>
      <p:sp>
        <p:nvSpPr>
          <p:cNvPr id="216" name="Google Shape;216;p39"/>
          <p:cNvSpPr txBox="1"/>
          <p:nvPr>
            <p:ph idx="12" type="sldNum"/>
          </p:nvPr>
        </p:nvSpPr>
        <p:spPr>
          <a:xfrm>
            <a:off x="6553200" y="6378575"/>
            <a:ext cx="2133600" cy="4764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5</a:t>
            </a:r>
            <a:endParaRPr/>
          </a:p>
        </p:txBody>
      </p:sp>
      <p:sp>
        <p:nvSpPr>
          <p:cNvPr id="217" name="Google Shape;217;p39"/>
          <p:cNvSpPr txBox="1"/>
          <p:nvPr/>
        </p:nvSpPr>
        <p:spPr>
          <a:xfrm>
            <a:off x="457200" y="1024000"/>
            <a:ext cx="8229600" cy="5652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t/>
            </a:r>
            <a:endParaRPr b="1" sz="16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b="1" lang="en-US" sz="1800">
                <a:solidFill>
                  <a:schemeClr val="dk1"/>
                </a:solidFill>
                <a:latin typeface="Times New Roman"/>
                <a:ea typeface="Times New Roman"/>
                <a:cs typeface="Times New Roman"/>
                <a:sym typeface="Times New Roman"/>
              </a:rPr>
              <a:t>1.To Develop Custom Scanners</a:t>
            </a:r>
            <a:r>
              <a:rPr b="1" lang="en-US" sz="1300">
                <a:solidFill>
                  <a:schemeClr val="dk1"/>
                </a:solidFill>
                <a:latin typeface="Times New Roman"/>
                <a:ea typeface="Times New Roman"/>
                <a:cs typeface="Times New Roman"/>
                <a:sym typeface="Times New Roman"/>
              </a:rPr>
              <a:t>:</a:t>
            </a:r>
            <a:r>
              <a:rPr lang="en-US" sz="1300">
                <a:solidFill>
                  <a:schemeClr val="dk1"/>
                </a:solidFill>
                <a:latin typeface="Times New Roman"/>
                <a:ea typeface="Times New Roman"/>
                <a:cs typeface="Times New Roman"/>
                <a:sym typeface="Times New Roman"/>
              </a:rPr>
              <a:t> </a:t>
            </a:r>
            <a:r>
              <a:rPr lang="en-US" sz="1800">
                <a:solidFill>
                  <a:schemeClr val="dk1"/>
                </a:solidFill>
                <a:latin typeface="Times New Roman"/>
                <a:ea typeface="Times New Roman"/>
                <a:cs typeface="Times New Roman"/>
                <a:sym typeface="Times New Roman"/>
              </a:rPr>
              <a:t>To build a custom Python-based scanning engine from scratch, capable of Identifying </a:t>
            </a:r>
            <a:r>
              <a:rPr b="1" lang="en-US" sz="1800">
                <a:solidFill>
                  <a:schemeClr val="dk1"/>
                </a:solidFill>
                <a:latin typeface="Times New Roman"/>
                <a:ea typeface="Times New Roman"/>
                <a:cs typeface="Times New Roman"/>
                <a:sym typeface="Times New Roman"/>
              </a:rPr>
              <a:t>Reflected XSS</a:t>
            </a:r>
            <a:r>
              <a:rPr lang="en-US" sz="1800">
                <a:solidFill>
                  <a:schemeClr val="dk1"/>
                </a:solidFill>
                <a:latin typeface="Times New Roman"/>
                <a:ea typeface="Times New Roman"/>
                <a:cs typeface="Times New Roman"/>
                <a:sym typeface="Times New Roman"/>
              </a:rPr>
              <a:t> vulnerabilities by crawling web pages, injecting safe payloads into forms, and checking for reflection.</a:t>
            </a:r>
            <a:endParaRPr sz="18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b="1" lang="en-US" sz="1800">
                <a:solidFill>
                  <a:schemeClr val="dk1"/>
                </a:solidFill>
                <a:latin typeface="Times New Roman"/>
                <a:ea typeface="Times New Roman"/>
                <a:cs typeface="Times New Roman"/>
                <a:sym typeface="Times New Roman"/>
              </a:rPr>
              <a:t>2.To Build a Robust Backend System:</a:t>
            </a:r>
            <a:r>
              <a:rPr lang="en-US" sz="1800">
                <a:solidFill>
                  <a:schemeClr val="dk1"/>
                </a:solidFill>
                <a:latin typeface="Times New Roman"/>
                <a:ea typeface="Times New Roman"/>
                <a:cs typeface="Times New Roman"/>
                <a:sym typeface="Times New Roman"/>
              </a:rPr>
              <a:t> To create a complete backend application using Python (Flask) that handles user registration/login, orchestrates the different scan modules, and saves scan results and user data to a PostgreSQL database.</a:t>
            </a:r>
            <a:endParaRPr sz="18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b="1" lang="en-US" sz="1800">
                <a:solidFill>
                  <a:schemeClr val="dk1"/>
                </a:solidFill>
                <a:latin typeface="Times New Roman"/>
                <a:ea typeface="Times New Roman"/>
                <a:cs typeface="Times New Roman"/>
                <a:sym typeface="Times New Roman"/>
              </a:rPr>
              <a:t>3.To Integrate an Intelligent AI Advisor:</a:t>
            </a:r>
            <a:r>
              <a:rPr lang="en-US" sz="1800">
                <a:solidFill>
                  <a:schemeClr val="dk1"/>
                </a:solidFill>
                <a:latin typeface="Times New Roman"/>
                <a:ea typeface="Times New Roman"/>
                <a:cs typeface="Times New Roman"/>
                <a:sym typeface="Times New Roman"/>
              </a:rPr>
              <a:t> To implement an AI chatbot using Phi-3 LLM combined with a Retrieval-Augmented Generation (RAG) system. This AI will use your custom knowledge base to provide users with clear, expert, step-by-step mitigation advice tailored to the vulnerabilities found.</a:t>
            </a:r>
            <a:endParaRPr sz="1800">
              <a:solidFill>
                <a:schemeClr val="dk1"/>
              </a:solidFill>
              <a:latin typeface="Times New Roman"/>
              <a:ea typeface="Times New Roman"/>
              <a:cs typeface="Times New Roman"/>
              <a:sym typeface="Times New Roman"/>
            </a:endParaRPr>
          </a:p>
          <a:p>
            <a:pPr indent="-228600" lvl="0" marL="457200" rtl="0" algn="just">
              <a:lnSpc>
                <a:spcPct val="115000"/>
              </a:lnSpc>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t/>
            </a:r>
            <a:endParaRPr b="1" sz="1600" u="sng">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40"/>
          <p:cNvSpPr txBox="1"/>
          <p:nvPr>
            <p:ph idx="12" type="sldNum"/>
          </p:nvPr>
        </p:nvSpPr>
        <p:spPr>
          <a:xfrm>
            <a:off x="6553200" y="6378575"/>
            <a:ext cx="2133600" cy="4764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6</a:t>
            </a:r>
            <a:endParaRPr/>
          </a:p>
        </p:txBody>
      </p:sp>
      <p:sp>
        <p:nvSpPr>
          <p:cNvPr id="224" name="Google Shape;224;p40"/>
          <p:cNvSpPr txBox="1"/>
          <p:nvPr>
            <p:ph type="title"/>
          </p:nvPr>
        </p:nvSpPr>
        <p:spPr>
          <a:xfrm>
            <a:off x="457200" y="0"/>
            <a:ext cx="8229600" cy="8847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latin typeface="Times New Roman"/>
                <a:ea typeface="Times New Roman"/>
                <a:cs typeface="Times New Roman"/>
                <a:sym typeface="Times New Roman"/>
              </a:rPr>
              <a:t>Objectives</a:t>
            </a:r>
            <a:endParaRPr/>
          </a:p>
        </p:txBody>
      </p:sp>
      <p:sp>
        <p:nvSpPr>
          <p:cNvPr id="225" name="Google Shape;225;p40"/>
          <p:cNvSpPr txBox="1"/>
          <p:nvPr/>
        </p:nvSpPr>
        <p:spPr>
          <a:xfrm>
            <a:off x="0" y="0"/>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200">
              <a:solidFill>
                <a:schemeClr val="dk1"/>
              </a:solidFill>
              <a:latin typeface="Roboto"/>
              <a:ea typeface="Roboto"/>
              <a:cs typeface="Roboto"/>
              <a:sym typeface="Roboto"/>
            </a:endParaRPr>
          </a:p>
        </p:txBody>
      </p:sp>
      <p:sp>
        <p:nvSpPr>
          <p:cNvPr id="226" name="Google Shape;226;p40"/>
          <p:cNvSpPr txBox="1"/>
          <p:nvPr>
            <p:ph idx="4294967295" type="body"/>
          </p:nvPr>
        </p:nvSpPr>
        <p:spPr>
          <a:xfrm>
            <a:off x="457225" y="979704"/>
            <a:ext cx="8229600" cy="5258400"/>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0"/>
              </a:spcBef>
              <a:spcAft>
                <a:spcPts val="0"/>
              </a:spcAft>
              <a:buNone/>
            </a:pPr>
            <a:r>
              <a:t/>
            </a:r>
            <a:endParaRPr b="1" sz="1600">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b="1" lang="en-US" sz="1800">
                <a:latin typeface="Times New Roman"/>
                <a:ea typeface="Times New Roman"/>
                <a:cs typeface="Times New Roman"/>
                <a:sym typeface="Times New Roman"/>
              </a:rPr>
              <a:t>4.</a:t>
            </a:r>
            <a:r>
              <a:rPr b="1" lang="en-US" sz="1800">
                <a:latin typeface="Times New Roman"/>
                <a:ea typeface="Times New Roman"/>
                <a:cs typeface="Times New Roman"/>
                <a:sym typeface="Times New Roman"/>
              </a:rPr>
              <a:t>To Create a User-Friendly Interface:</a:t>
            </a:r>
            <a:r>
              <a:rPr lang="en-US" sz="1800">
                <a:latin typeface="Times New Roman"/>
                <a:ea typeface="Times New Roman"/>
                <a:cs typeface="Times New Roman"/>
                <a:sym typeface="Times New Roman"/>
              </a:rPr>
              <a:t> To design and build an intuitive frontend with React.js that allows users to easily submit their website URLs or dependency files, view their scan reports on a clear dashboard, and interact with the AI advisor in a conversational chat window.</a:t>
            </a:r>
            <a:endParaRPr sz="1800">
              <a:latin typeface="Times New Roman"/>
              <a:ea typeface="Times New Roman"/>
              <a:cs typeface="Times New Roman"/>
              <a:sym typeface="Times New Roman"/>
            </a:endParaRPr>
          </a:p>
          <a:p>
            <a:pPr indent="0" lvl="0" marL="0" rtl="0" algn="just">
              <a:lnSpc>
                <a:spcPct val="115000"/>
              </a:lnSpc>
              <a:spcBef>
                <a:spcPts val="0"/>
              </a:spcBef>
              <a:spcAft>
                <a:spcPts val="0"/>
              </a:spcAft>
              <a:buClr>
                <a:schemeClr val="dk1"/>
              </a:buClr>
              <a:buSzPts val="1100"/>
              <a:buFont typeface="Arial"/>
              <a:buNone/>
            </a:pPr>
            <a:r>
              <a:t/>
            </a:r>
            <a:endParaRPr sz="1800">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b="1" lang="en-US" sz="1800">
                <a:latin typeface="Times New Roman"/>
                <a:ea typeface="Times New Roman"/>
                <a:cs typeface="Times New Roman"/>
                <a:sym typeface="Times New Roman"/>
              </a:rPr>
              <a:t>5.To Bridge the "Usability Gap":</a:t>
            </a:r>
            <a:r>
              <a:rPr lang="en-US" sz="1800">
                <a:latin typeface="Times New Roman"/>
                <a:ea typeface="Times New Roman"/>
                <a:cs typeface="Times New Roman"/>
                <a:sym typeface="Times New Roman"/>
              </a:rPr>
              <a:t> To effectively translate complex, technical vulnerability data into simple, actionable, and educational advice, empowering both non-technical users and developers to understand and fix security flaws.</a:t>
            </a:r>
            <a:endParaRPr sz="1800">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t/>
            </a:r>
            <a:endParaRPr sz="1600">
              <a:latin typeface="Times New Roman"/>
              <a:ea typeface="Times New Roman"/>
              <a:cs typeface="Times New Roman"/>
              <a:sym typeface="Times New Roman"/>
            </a:endParaRPr>
          </a:p>
          <a:p>
            <a:pPr indent="0" lvl="0" marL="0" rtl="0" algn="just">
              <a:lnSpc>
                <a:spcPct val="115000"/>
              </a:lnSpc>
              <a:spcBef>
                <a:spcPts val="0"/>
              </a:spcBef>
              <a:spcAft>
                <a:spcPts val="0"/>
              </a:spcAft>
              <a:buClr>
                <a:schemeClr val="dk1"/>
              </a:buClr>
              <a:buSzPts val="1100"/>
              <a:buFont typeface="Arial"/>
              <a:buNone/>
            </a:pPr>
            <a:r>
              <a:t/>
            </a:r>
            <a:endParaRPr sz="1600">
              <a:latin typeface="Times New Roman"/>
              <a:ea typeface="Times New Roman"/>
              <a:cs typeface="Times New Roman"/>
              <a:sym typeface="Times New Roman"/>
            </a:endParaRPr>
          </a:p>
          <a:p>
            <a:pPr indent="0" lvl="0" marL="457200" rtl="0" algn="just">
              <a:lnSpc>
                <a:spcPct val="115000"/>
              </a:lnSpc>
              <a:spcBef>
                <a:spcPts val="0"/>
              </a:spcBef>
              <a:spcAft>
                <a:spcPts val="0"/>
              </a:spcAft>
              <a:buNone/>
            </a:pPr>
            <a:r>
              <a:t/>
            </a:r>
            <a:endParaRPr sz="16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41"/>
          <p:cNvSpPr txBox="1"/>
          <p:nvPr>
            <p:ph idx="12" type="sldNum"/>
          </p:nvPr>
        </p:nvSpPr>
        <p:spPr>
          <a:xfrm>
            <a:off x="6553200" y="6378575"/>
            <a:ext cx="2133600" cy="4764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7</a:t>
            </a:r>
            <a:endParaRPr/>
          </a:p>
        </p:txBody>
      </p:sp>
      <p:sp>
        <p:nvSpPr>
          <p:cNvPr id="232" name="Google Shape;232;p41"/>
          <p:cNvSpPr txBox="1"/>
          <p:nvPr>
            <p:ph type="title"/>
          </p:nvPr>
        </p:nvSpPr>
        <p:spPr>
          <a:xfrm>
            <a:off x="457200" y="0"/>
            <a:ext cx="8229600" cy="8847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latin typeface="Times New Roman"/>
                <a:ea typeface="Times New Roman"/>
                <a:cs typeface="Times New Roman"/>
                <a:sym typeface="Times New Roman"/>
              </a:rPr>
              <a:t>Architecture Block Diagram</a:t>
            </a:r>
            <a:endParaRPr b="1">
              <a:latin typeface="Times New Roman"/>
              <a:ea typeface="Times New Roman"/>
              <a:cs typeface="Times New Roman"/>
              <a:sym typeface="Times New Roman"/>
            </a:endParaRPr>
          </a:p>
        </p:txBody>
      </p:sp>
      <p:pic>
        <p:nvPicPr>
          <p:cNvPr id="233" name="Google Shape;233;p41"/>
          <p:cNvPicPr preferRelativeResize="0"/>
          <p:nvPr/>
        </p:nvPicPr>
        <p:blipFill>
          <a:blip r:embed="rId3">
            <a:alphaModFix/>
          </a:blip>
          <a:stretch>
            <a:fillRect/>
          </a:stretch>
        </p:blipFill>
        <p:spPr>
          <a:xfrm>
            <a:off x="1246650" y="1037100"/>
            <a:ext cx="6516824" cy="52276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42"/>
          <p:cNvSpPr txBox="1"/>
          <p:nvPr/>
        </p:nvSpPr>
        <p:spPr>
          <a:xfrm>
            <a:off x="457200" y="1130225"/>
            <a:ext cx="8229600" cy="461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400"/>
              </a:spcBef>
              <a:spcAft>
                <a:spcPts val="400"/>
              </a:spcAft>
              <a:buNone/>
            </a:pPr>
            <a:r>
              <a:t/>
            </a:r>
            <a:endParaRPr b="1" sz="1800">
              <a:solidFill>
                <a:schemeClr val="dk1"/>
              </a:solidFill>
              <a:latin typeface="Times New Roman"/>
              <a:ea typeface="Times New Roman"/>
              <a:cs typeface="Times New Roman"/>
              <a:sym typeface="Times New Roman"/>
            </a:endParaRPr>
          </a:p>
        </p:txBody>
      </p:sp>
      <p:sp>
        <p:nvSpPr>
          <p:cNvPr id="240" name="Google Shape;240;p42"/>
          <p:cNvSpPr txBox="1"/>
          <p:nvPr>
            <p:ph idx="12" type="sldNum"/>
          </p:nvPr>
        </p:nvSpPr>
        <p:spPr>
          <a:xfrm>
            <a:off x="6553200" y="6378575"/>
            <a:ext cx="2133600" cy="4764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241" name="Google Shape;241;p42"/>
          <p:cNvSpPr txBox="1"/>
          <p:nvPr>
            <p:ph type="title"/>
          </p:nvPr>
        </p:nvSpPr>
        <p:spPr>
          <a:xfrm>
            <a:off x="457200" y="0"/>
            <a:ext cx="8229600" cy="8847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latin typeface="Times New Roman"/>
                <a:ea typeface="Times New Roman"/>
                <a:cs typeface="Times New Roman"/>
                <a:sym typeface="Times New Roman"/>
              </a:rPr>
              <a:t>Working of Vulnerability Scanner</a:t>
            </a:r>
            <a:endParaRPr b="1">
              <a:latin typeface="Times New Roman"/>
              <a:ea typeface="Times New Roman"/>
              <a:cs typeface="Times New Roman"/>
              <a:sym typeface="Times New Roman"/>
            </a:endParaRPr>
          </a:p>
        </p:txBody>
      </p:sp>
      <p:pic>
        <p:nvPicPr>
          <p:cNvPr id="242" name="Google Shape;242;p42" title="Scanner Workflow.png"/>
          <p:cNvPicPr preferRelativeResize="0"/>
          <p:nvPr/>
        </p:nvPicPr>
        <p:blipFill>
          <a:blip r:embed="rId3">
            <a:alphaModFix/>
          </a:blip>
          <a:stretch>
            <a:fillRect/>
          </a:stretch>
        </p:blipFill>
        <p:spPr>
          <a:xfrm>
            <a:off x="76195" y="1001212"/>
            <a:ext cx="8991600" cy="526086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43"/>
          <p:cNvSpPr txBox="1"/>
          <p:nvPr>
            <p:ph idx="12" type="sldNum"/>
          </p:nvPr>
        </p:nvSpPr>
        <p:spPr>
          <a:xfrm>
            <a:off x="6553200" y="6378575"/>
            <a:ext cx="2133600" cy="4764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249" name="Google Shape;249;p43"/>
          <p:cNvSpPr txBox="1"/>
          <p:nvPr>
            <p:ph type="title"/>
          </p:nvPr>
        </p:nvSpPr>
        <p:spPr>
          <a:xfrm>
            <a:off x="457200" y="0"/>
            <a:ext cx="8229600" cy="8847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latin typeface="Times New Roman"/>
                <a:ea typeface="Times New Roman"/>
                <a:cs typeface="Times New Roman"/>
                <a:sym typeface="Times New Roman"/>
              </a:rPr>
              <a:t>Working of AI Chatbot</a:t>
            </a:r>
            <a:endParaRPr b="1">
              <a:latin typeface="Times New Roman"/>
              <a:ea typeface="Times New Roman"/>
              <a:cs typeface="Times New Roman"/>
              <a:sym typeface="Times New Roman"/>
            </a:endParaRPr>
          </a:p>
        </p:txBody>
      </p:sp>
      <p:pic>
        <p:nvPicPr>
          <p:cNvPr id="250" name="Google Shape;250;p43" title="AI Chatbot Workflow.png"/>
          <p:cNvPicPr preferRelativeResize="0"/>
          <p:nvPr/>
        </p:nvPicPr>
        <p:blipFill>
          <a:blip r:embed="rId3">
            <a:alphaModFix/>
          </a:blip>
          <a:stretch>
            <a:fillRect/>
          </a:stretch>
        </p:blipFill>
        <p:spPr>
          <a:xfrm>
            <a:off x="-9613" y="948825"/>
            <a:ext cx="9153614" cy="530173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4"/>
          <p:cNvSpPr txBox="1"/>
          <p:nvPr>
            <p:ph idx="4294967295" type="body"/>
          </p:nvPr>
        </p:nvSpPr>
        <p:spPr>
          <a:xfrm>
            <a:off x="0" y="894000"/>
            <a:ext cx="9144000" cy="5460900"/>
          </a:xfrm>
          <a:prstGeom prst="rect">
            <a:avLst/>
          </a:prstGeom>
          <a:noFill/>
          <a:ln>
            <a:noFill/>
          </a:ln>
        </p:spPr>
        <p:txBody>
          <a:bodyPr anchorCtr="0" anchor="t" bIns="45700" lIns="91425" spcFirstLastPara="1" rIns="91425" wrap="square" tIns="45700">
            <a:noAutofit/>
          </a:bodyPr>
          <a:lstStyle/>
          <a:p>
            <a:pPr indent="-342900" lvl="0" marL="457200" rtl="0" algn="just">
              <a:lnSpc>
                <a:spcPct val="115000"/>
              </a:lnSpc>
              <a:spcBef>
                <a:spcPts val="600"/>
              </a:spcBef>
              <a:spcAft>
                <a:spcPts val="0"/>
              </a:spcAft>
              <a:buSzPts val="1800"/>
              <a:buFont typeface="Times New Roman"/>
              <a:buChar char="●"/>
            </a:pPr>
            <a:r>
              <a:rPr b="1" lang="en-US" sz="1800">
                <a:latin typeface="Times New Roman"/>
                <a:ea typeface="Times New Roman"/>
                <a:cs typeface="Times New Roman"/>
                <a:sym typeface="Times New Roman"/>
              </a:rPr>
              <a:t>Backend Framework</a:t>
            </a:r>
            <a:r>
              <a:rPr lang="en-US" sz="1800">
                <a:latin typeface="Times New Roman"/>
                <a:ea typeface="Times New Roman"/>
                <a:cs typeface="Times New Roman"/>
                <a:sym typeface="Times New Roman"/>
              </a:rPr>
              <a:t>: Python with FastAPI for high-performance API development and LLM integration.</a:t>
            </a:r>
            <a:endParaRPr sz="1800">
              <a:latin typeface="Times New Roman"/>
              <a:ea typeface="Times New Roman"/>
              <a:cs typeface="Times New Roman"/>
              <a:sym typeface="Times New Roman"/>
            </a:endParaRPr>
          </a:p>
          <a:p>
            <a:pPr indent="-342900" lvl="0" marL="457200" rtl="0" algn="just">
              <a:lnSpc>
                <a:spcPct val="115000"/>
              </a:lnSpc>
              <a:spcBef>
                <a:spcPts val="0"/>
              </a:spcBef>
              <a:spcAft>
                <a:spcPts val="0"/>
              </a:spcAft>
              <a:buSzPts val="1800"/>
              <a:buFont typeface="Times New Roman"/>
              <a:buChar char="●"/>
            </a:pPr>
            <a:r>
              <a:rPr b="1" lang="en-US" sz="1800">
                <a:latin typeface="Times New Roman"/>
                <a:ea typeface="Times New Roman"/>
                <a:cs typeface="Times New Roman"/>
                <a:sym typeface="Times New Roman"/>
              </a:rPr>
              <a:t>Machine Learning Libraries</a:t>
            </a:r>
            <a:r>
              <a:rPr lang="en-US" sz="1800">
                <a:latin typeface="Times New Roman"/>
                <a:ea typeface="Times New Roman"/>
                <a:cs typeface="Times New Roman"/>
                <a:sym typeface="Times New Roman"/>
              </a:rPr>
              <a:t>: Transformers (Hugging Face) for loading and managing the pre-trained LLM.</a:t>
            </a:r>
            <a:endParaRPr sz="1800">
              <a:latin typeface="Times New Roman"/>
              <a:ea typeface="Times New Roman"/>
              <a:cs typeface="Times New Roman"/>
              <a:sym typeface="Times New Roman"/>
            </a:endParaRPr>
          </a:p>
          <a:p>
            <a:pPr indent="-342900" lvl="0" marL="457200" rtl="0" algn="just">
              <a:lnSpc>
                <a:spcPct val="115000"/>
              </a:lnSpc>
              <a:spcBef>
                <a:spcPts val="0"/>
              </a:spcBef>
              <a:spcAft>
                <a:spcPts val="0"/>
              </a:spcAft>
              <a:buSzPts val="1800"/>
              <a:buFont typeface="Times New Roman"/>
              <a:buChar char="●"/>
            </a:pPr>
            <a:r>
              <a:rPr b="1" lang="en-US" sz="1800">
                <a:latin typeface="Times New Roman"/>
                <a:ea typeface="Times New Roman"/>
                <a:cs typeface="Times New Roman"/>
                <a:sym typeface="Times New Roman"/>
              </a:rPr>
              <a:t>Natural Language Processing</a:t>
            </a:r>
            <a:r>
              <a:rPr lang="en-US" sz="1800">
                <a:latin typeface="Times New Roman"/>
                <a:ea typeface="Times New Roman"/>
                <a:cs typeface="Times New Roman"/>
                <a:sym typeface="Times New Roman"/>
              </a:rPr>
              <a:t>: ChromaDB for vector storage and retrieval, and </a:t>
            </a:r>
            <a:r>
              <a:rPr lang="en-US" sz="1800">
                <a:solidFill>
                  <a:srgbClr val="188038"/>
                </a:solidFill>
                <a:latin typeface="Times New Roman"/>
                <a:ea typeface="Times New Roman"/>
                <a:cs typeface="Times New Roman"/>
                <a:sym typeface="Times New Roman"/>
              </a:rPr>
              <a:t>generating response .</a:t>
            </a:r>
            <a:r>
              <a:rPr lang="en-US" sz="1800">
                <a:latin typeface="Times New Roman"/>
                <a:ea typeface="Times New Roman"/>
                <a:cs typeface="Times New Roman"/>
                <a:sym typeface="Times New Roman"/>
              </a:rPr>
              <a:t>This stack will be used to build a custom RAG pipeline.</a:t>
            </a:r>
            <a:endParaRPr sz="1800">
              <a:latin typeface="Times New Roman"/>
              <a:ea typeface="Times New Roman"/>
              <a:cs typeface="Times New Roman"/>
              <a:sym typeface="Times New Roman"/>
            </a:endParaRPr>
          </a:p>
          <a:p>
            <a:pPr indent="-342900" lvl="0" marL="457200" rtl="0" algn="just">
              <a:lnSpc>
                <a:spcPct val="115000"/>
              </a:lnSpc>
              <a:spcBef>
                <a:spcPts val="0"/>
              </a:spcBef>
              <a:spcAft>
                <a:spcPts val="0"/>
              </a:spcAft>
              <a:buSzPts val="1800"/>
              <a:buFont typeface="Times New Roman"/>
              <a:buChar char="●"/>
            </a:pPr>
            <a:r>
              <a:rPr b="1" lang="en-US" sz="1800">
                <a:latin typeface="Times New Roman"/>
                <a:ea typeface="Times New Roman"/>
                <a:cs typeface="Times New Roman"/>
                <a:sym typeface="Times New Roman"/>
              </a:rPr>
              <a:t>Self-Hosted LLM</a:t>
            </a:r>
            <a:r>
              <a:rPr lang="en-US" sz="1800">
                <a:latin typeface="Times New Roman"/>
                <a:ea typeface="Times New Roman"/>
                <a:cs typeface="Times New Roman"/>
                <a:sym typeface="Times New Roman"/>
              </a:rPr>
              <a:t>: Phi-3-mini as the locally-run generative model for providing mitigation advice.</a:t>
            </a:r>
            <a:endParaRPr sz="1800">
              <a:latin typeface="Times New Roman"/>
              <a:ea typeface="Times New Roman"/>
              <a:cs typeface="Times New Roman"/>
              <a:sym typeface="Times New Roman"/>
            </a:endParaRPr>
          </a:p>
          <a:p>
            <a:pPr indent="-342900" lvl="0" marL="457200" rtl="0" algn="just">
              <a:lnSpc>
                <a:spcPct val="115000"/>
              </a:lnSpc>
              <a:spcBef>
                <a:spcPts val="0"/>
              </a:spcBef>
              <a:spcAft>
                <a:spcPts val="0"/>
              </a:spcAft>
              <a:buSzPts val="1800"/>
              <a:buFont typeface="Times New Roman"/>
              <a:buChar char="●"/>
            </a:pPr>
            <a:r>
              <a:rPr b="1" lang="en-US" sz="1800">
                <a:latin typeface="Times New Roman"/>
                <a:ea typeface="Times New Roman"/>
                <a:cs typeface="Times New Roman"/>
                <a:sym typeface="Times New Roman"/>
              </a:rPr>
              <a:t>Frontend Development</a:t>
            </a:r>
            <a:r>
              <a:rPr lang="en-US" sz="1800">
                <a:latin typeface="Times New Roman"/>
                <a:ea typeface="Times New Roman"/>
                <a:cs typeface="Times New Roman"/>
                <a:sym typeface="Times New Roman"/>
              </a:rPr>
              <a:t>: React.js (using Vite) for the client-side user interface, managing state, and handling API calls.</a:t>
            </a:r>
            <a:endParaRPr sz="1800">
              <a:latin typeface="Times New Roman"/>
              <a:ea typeface="Times New Roman"/>
              <a:cs typeface="Times New Roman"/>
              <a:sym typeface="Times New Roman"/>
            </a:endParaRPr>
          </a:p>
          <a:p>
            <a:pPr indent="-342900" lvl="0" marL="457200" rtl="0" algn="just">
              <a:lnSpc>
                <a:spcPct val="115000"/>
              </a:lnSpc>
              <a:spcBef>
                <a:spcPts val="0"/>
              </a:spcBef>
              <a:spcAft>
                <a:spcPts val="0"/>
              </a:spcAft>
              <a:buSzPts val="1800"/>
              <a:buFont typeface="Times New Roman"/>
              <a:buChar char="●"/>
            </a:pPr>
            <a:r>
              <a:rPr b="1" lang="en-US" sz="1800">
                <a:latin typeface="Times New Roman"/>
                <a:ea typeface="Times New Roman"/>
                <a:cs typeface="Times New Roman"/>
                <a:sym typeface="Times New Roman"/>
              </a:rPr>
              <a:t>Database Systems</a:t>
            </a:r>
            <a:r>
              <a:rPr lang="en-US" sz="1800">
                <a:latin typeface="Times New Roman"/>
                <a:ea typeface="Times New Roman"/>
                <a:cs typeface="Times New Roman"/>
                <a:sym typeface="Times New Roman"/>
              </a:rPr>
              <a:t>: PostgreSQL for user accounts, scan history logs and ChromaDB as the dedicated vector database for the AI's knowledge base.</a:t>
            </a:r>
            <a:endParaRPr sz="1800">
              <a:latin typeface="Times New Roman"/>
              <a:ea typeface="Times New Roman"/>
              <a:cs typeface="Times New Roman"/>
              <a:sym typeface="Times New Roman"/>
            </a:endParaRPr>
          </a:p>
          <a:p>
            <a:pPr indent="-342900" lvl="0" marL="457200" rtl="0" algn="just">
              <a:lnSpc>
                <a:spcPct val="115000"/>
              </a:lnSpc>
              <a:spcBef>
                <a:spcPts val="0"/>
              </a:spcBef>
              <a:spcAft>
                <a:spcPts val="0"/>
              </a:spcAft>
              <a:buSzPts val="1800"/>
              <a:buFont typeface="Times New Roman"/>
              <a:buChar char="●"/>
            </a:pPr>
            <a:r>
              <a:rPr b="1" lang="en-US" sz="1800">
                <a:latin typeface="Times New Roman"/>
                <a:ea typeface="Times New Roman"/>
                <a:cs typeface="Times New Roman"/>
                <a:sym typeface="Times New Roman"/>
              </a:rPr>
              <a:t>Scanning Engine</a:t>
            </a:r>
            <a:r>
              <a:rPr lang="en-US" sz="1800">
                <a:latin typeface="Times New Roman"/>
                <a:ea typeface="Times New Roman"/>
                <a:cs typeface="Times New Roman"/>
                <a:sym typeface="Times New Roman"/>
              </a:rPr>
              <a:t>: Custom-built scanner using Python libraries </a:t>
            </a:r>
            <a:r>
              <a:rPr lang="en-US" sz="1800">
                <a:solidFill>
                  <a:srgbClr val="188038"/>
                </a:solidFill>
                <a:latin typeface="Times New Roman"/>
                <a:ea typeface="Times New Roman"/>
                <a:cs typeface="Times New Roman"/>
                <a:sym typeface="Times New Roman"/>
              </a:rPr>
              <a:t>requests</a:t>
            </a:r>
            <a:r>
              <a:rPr lang="en-US" sz="1800">
                <a:latin typeface="Times New Roman"/>
                <a:ea typeface="Times New Roman"/>
                <a:cs typeface="Times New Roman"/>
                <a:sym typeface="Times New Roman"/>
              </a:rPr>
              <a:t> (for HTTP communication) and </a:t>
            </a:r>
            <a:r>
              <a:rPr lang="en-US" sz="1800">
                <a:solidFill>
                  <a:srgbClr val="188038"/>
                </a:solidFill>
                <a:latin typeface="Times New Roman"/>
                <a:ea typeface="Times New Roman"/>
                <a:cs typeface="Times New Roman"/>
                <a:sym typeface="Times New Roman"/>
              </a:rPr>
              <a:t>BeautifulSoup</a:t>
            </a:r>
            <a:r>
              <a:rPr lang="en-US" sz="1800">
                <a:latin typeface="Times New Roman"/>
                <a:ea typeface="Times New Roman"/>
                <a:cs typeface="Times New Roman"/>
                <a:sym typeface="Times New Roman"/>
              </a:rPr>
              <a:t> (for parsing HTML and XML ).</a:t>
            </a:r>
            <a:endParaRPr sz="1800">
              <a:latin typeface="Times New Roman"/>
              <a:ea typeface="Times New Roman"/>
              <a:cs typeface="Times New Roman"/>
              <a:sym typeface="Times New Roman"/>
            </a:endParaRPr>
          </a:p>
          <a:p>
            <a:pPr indent="-342900" lvl="0" marL="457200" rtl="0" algn="just">
              <a:lnSpc>
                <a:spcPct val="115000"/>
              </a:lnSpc>
              <a:spcBef>
                <a:spcPts val="0"/>
              </a:spcBef>
              <a:spcAft>
                <a:spcPts val="0"/>
              </a:spcAft>
              <a:buSzPts val="1800"/>
              <a:buFont typeface="Times New Roman"/>
              <a:buChar char="●"/>
            </a:pPr>
            <a:r>
              <a:rPr b="1" lang="en-US" sz="1800">
                <a:latin typeface="Times New Roman"/>
                <a:ea typeface="Times New Roman"/>
                <a:cs typeface="Times New Roman"/>
                <a:sym typeface="Times New Roman"/>
              </a:rPr>
              <a:t>Development Environment</a:t>
            </a:r>
            <a:r>
              <a:rPr lang="en-US" sz="1800">
                <a:latin typeface="Times New Roman"/>
                <a:ea typeface="Times New Roman"/>
                <a:cs typeface="Times New Roman"/>
                <a:sym typeface="Times New Roman"/>
              </a:rPr>
              <a:t>: VS Code for coding and Github for version control and repository management.</a:t>
            </a:r>
            <a:endParaRPr sz="1800">
              <a:latin typeface="Times New Roman"/>
              <a:ea typeface="Times New Roman"/>
              <a:cs typeface="Times New Roman"/>
              <a:sym typeface="Times New Roman"/>
            </a:endParaRPr>
          </a:p>
          <a:p>
            <a:pPr indent="-330200" lvl="0" marL="457200" rtl="0" algn="just">
              <a:lnSpc>
                <a:spcPct val="115000"/>
              </a:lnSpc>
              <a:spcBef>
                <a:spcPts val="0"/>
              </a:spcBef>
              <a:spcAft>
                <a:spcPts val="0"/>
              </a:spcAft>
              <a:buSzPts val="1600"/>
              <a:buFont typeface="Times New Roman"/>
              <a:buChar char="●"/>
            </a:pPr>
            <a:r>
              <a:t/>
            </a:r>
            <a:endParaRPr sz="1600" u="sng">
              <a:latin typeface="Times New Roman"/>
              <a:ea typeface="Times New Roman"/>
              <a:cs typeface="Times New Roman"/>
              <a:sym typeface="Times New Roman"/>
            </a:endParaRPr>
          </a:p>
        </p:txBody>
      </p:sp>
      <p:sp>
        <p:nvSpPr>
          <p:cNvPr id="256" name="Google Shape;256;p44"/>
          <p:cNvSpPr txBox="1"/>
          <p:nvPr>
            <p:ph type="title"/>
          </p:nvPr>
        </p:nvSpPr>
        <p:spPr>
          <a:xfrm>
            <a:off x="0" y="0"/>
            <a:ext cx="9144000" cy="894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latin typeface="Times New Roman"/>
                <a:ea typeface="Times New Roman"/>
                <a:cs typeface="Times New Roman"/>
                <a:sym typeface="Times New Roman"/>
              </a:rPr>
              <a:t>Software Requirements</a:t>
            </a:r>
            <a:endParaRPr/>
          </a:p>
        </p:txBody>
      </p:sp>
      <p:sp>
        <p:nvSpPr>
          <p:cNvPr id="257" name="Google Shape;257;p44"/>
          <p:cNvSpPr txBox="1"/>
          <p:nvPr>
            <p:ph idx="12" type="sldNum"/>
          </p:nvPr>
        </p:nvSpPr>
        <p:spPr>
          <a:xfrm>
            <a:off x="6553200" y="6378575"/>
            <a:ext cx="2133600" cy="4764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10</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5"/>
          <p:cNvSpPr txBox="1"/>
          <p:nvPr>
            <p:ph type="title"/>
          </p:nvPr>
        </p:nvSpPr>
        <p:spPr>
          <a:xfrm>
            <a:off x="457200" y="0"/>
            <a:ext cx="8229600" cy="9696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b="1" lang="en-US">
                <a:latin typeface="Times New Roman"/>
                <a:ea typeface="Times New Roman"/>
                <a:cs typeface="Times New Roman"/>
                <a:sym typeface="Times New Roman"/>
              </a:rPr>
              <a:t>Requirement of Security in Applications</a:t>
            </a:r>
            <a:endParaRPr b="1">
              <a:latin typeface="Times New Roman"/>
              <a:ea typeface="Times New Roman"/>
              <a:cs typeface="Times New Roman"/>
              <a:sym typeface="Times New Roman"/>
            </a:endParaRPr>
          </a:p>
        </p:txBody>
      </p:sp>
      <p:sp>
        <p:nvSpPr>
          <p:cNvPr id="264" name="Google Shape;264;p45"/>
          <p:cNvSpPr txBox="1"/>
          <p:nvPr>
            <p:ph idx="12" type="sldNum"/>
          </p:nvPr>
        </p:nvSpPr>
        <p:spPr>
          <a:xfrm>
            <a:off x="6553200" y="6378575"/>
            <a:ext cx="2133600" cy="4764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13</a:t>
            </a:r>
            <a:endParaRPr/>
          </a:p>
        </p:txBody>
      </p:sp>
      <p:sp>
        <p:nvSpPr>
          <p:cNvPr id="265" name="Google Shape;265;p45"/>
          <p:cNvSpPr txBox="1"/>
          <p:nvPr/>
        </p:nvSpPr>
        <p:spPr>
          <a:xfrm>
            <a:off x="457200" y="1426068"/>
            <a:ext cx="8229600" cy="3452400"/>
          </a:xfrm>
          <a:prstGeom prst="rect">
            <a:avLst/>
          </a:prstGeom>
          <a:noFill/>
          <a:ln>
            <a:noFill/>
          </a:ln>
        </p:spPr>
        <p:txBody>
          <a:bodyPr anchorCtr="0" anchor="t" bIns="91425" lIns="91425" spcFirstLastPara="1" rIns="91425" wrap="square" tIns="91425">
            <a:spAutoFit/>
          </a:bodyPr>
          <a:lstStyle/>
          <a:p>
            <a:pPr indent="-342900" lvl="0" marL="457200" rtl="0" algn="just">
              <a:lnSpc>
                <a:spcPct val="115000"/>
              </a:lnSpc>
              <a:spcBef>
                <a:spcPts val="1200"/>
              </a:spcBef>
              <a:spcAft>
                <a:spcPts val="0"/>
              </a:spcAft>
              <a:buClr>
                <a:schemeClr val="dk1"/>
              </a:buClr>
              <a:buSzPts val="1800"/>
              <a:buFont typeface="Times New Roman"/>
              <a:buChar char="●"/>
            </a:pPr>
            <a:r>
              <a:rPr b="1" lang="en-US" sz="1800">
                <a:solidFill>
                  <a:schemeClr val="dk1"/>
                </a:solidFill>
                <a:latin typeface="Times New Roman"/>
                <a:ea typeface="Times New Roman"/>
                <a:cs typeface="Times New Roman"/>
                <a:sym typeface="Times New Roman"/>
              </a:rPr>
              <a:t>To protect your users private data</a:t>
            </a:r>
            <a:r>
              <a:rPr lang="en-US" sz="1800">
                <a:solidFill>
                  <a:schemeClr val="dk1"/>
                </a:solidFill>
                <a:latin typeface="Times New Roman"/>
                <a:ea typeface="Times New Roman"/>
                <a:cs typeface="Times New Roman"/>
                <a:sym typeface="Times New Roman"/>
              </a:rPr>
              <a:t>, like personal info and financial details, that can be exploited.</a:t>
            </a:r>
            <a:endParaRPr sz="1800">
              <a:solidFill>
                <a:schemeClr val="dk1"/>
              </a:solidFill>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chemeClr val="dk1"/>
              </a:buClr>
              <a:buSzPts val="1800"/>
              <a:buFont typeface="Times New Roman"/>
              <a:buChar char="●"/>
            </a:pPr>
            <a:r>
              <a:rPr b="1" lang="en-US" sz="1800">
                <a:solidFill>
                  <a:schemeClr val="dk1"/>
                </a:solidFill>
                <a:latin typeface="Times New Roman"/>
                <a:ea typeface="Times New Roman"/>
                <a:cs typeface="Times New Roman"/>
                <a:sym typeface="Times New Roman"/>
              </a:rPr>
              <a:t>To build and keep customer trust</a:t>
            </a:r>
            <a:r>
              <a:rPr lang="en-US" sz="1800">
                <a:solidFill>
                  <a:schemeClr val="dk1"/>
                </a:solidFill>
                <a:latin typeface="Times New Roman"/>
                <a:ea typeface="Times New Roman"/>
                <a:cs typeface="Times New Roman"/>
                <a:sym typeface="Times New Roman"/>
              </a:rPr>
              <a:t>, because people won't use a service they think is unsafe or unprotected.</a:t>
            </a:r>
            <a:endParaRPr sz="1800">
              <a:solidFill>
                <a:schemeClr val="dk1"/>
              </a:solidFill>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chemeClr val="dk1"/>
              </a:buClr>
              <a:buSzPts val="1800"/>
              <a:buFont typeface="Times New Roman"/>
              <a:buChar char="●"/>
            </a:pPr>
            <a:r>
              <a:rPr b="1" lang="en-US" sz="1800">
                <a:solidFill>
                  <a:schemeClr val="dk1"/>
                </a:solidFill>
                <a:latin typeface="Times New Roman"/>
                <a:ea typeface="Times New Roman"/>
                <a:cs typeface="Times New Roman"/>
                <a:sym typeface="Times New Roman"/>
              </a:rPr>
              <a:t>To follow laws and regulations</a:t>
            </a:r>
            <a:r>
              <a:rPr lang="en-US" sz="1800">
                <a:solidFill>
                  <a:schemeClr val="dk1"/>
                </a:solidFill>
                <a:latin typeface="Times New Roman"/>
                <a:ea typeface="Times New Roman"/>
                <a:cs typeface="Times New Roman"/>
                <a:sym typeface="Times New Roman"/>
              </a:rPr>
              <a:t> (like GDPR ) and avoid getting large fines.</a:t>
            </a:r>
            <a:endParaRPr sz="1800">
              <a:solidFill>
                <a:schemeClr val="dk1"/>
              </a:solidFill>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chemeClr val="dk1"/>
              </a:buClr>
              <a:buSzPts val="1800"/>
              <a:buFont typeface="Times New Roman"/>
              <a:buChar char="●"/>
            </a:pPr>
            <a:r>
              <a:rPr b="1" lang="en-US" sz="1800">
                <a:solidFill>
                  <a:schemeClr val="dk1"/>
                </a:solidFill>
                <a:latin typeface="Times New Roman"/>
                <a:ea typeface="Times New Roman"/>
                <a:cs typeface="Times New Roman"/>
                <a:sym typeface="Times New Roman"/>
              </a:rPr>
              <a:t>To keep your business running</a:t>
            </a:r>
            <a:r>
              <a:rPr lang="en-US" sz="1800">
                <a:solidFill>
                  <a:schemeClr val="dk1"/>
                </a:solidFill>
                <a:latin typeface="Times New Roman"/>
                <a:ea typeface="Times New Roman"/>
                <a:cs typeface="Times New Roman"/>
                <a:sym typeface="Times New Roman"/>
              </a:rPr>
              <a:t>, as an attack can shut down your website and stop operations leading to big losses.</a:t>
            </a:r>
            <a:endParaRPr sz="1800">
              <a:solidFill>
                <a:schemeClr val="dk1"/>
              </a:solidFill>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chemeClr val="dk1"/>
              </a:buClr>
              <a:buSzPts val="1800"/>
              <a:buFont typeface="Times New Roman"/>
              <a:buChar char="●"/>
            </a:pPr>
            <a:r>
              <a:rPr b="1" lang="en-US" sz="1800">
                <a:solidFill>
                  <a:schemeClr val="dk1"/>
                </a:solidFill>
                <a:latin typeface="Times New Roman"/>
                <a:ea typeface="Times New Roman"/>
                <a:cs typeface="Times New Roman"/>
                <a:sym typeface="Times New Roman"/>
              </a:rPr>
              <a:t>To defend against new and smarter attacks</a:t>
            </a:r>
            <a:r>
              <a:rPr lang="en-US" sz="1800">
                <a:solidFill>
                  <a:schemeClr val="dk1"/>
                </a:solidFill>
                <a:latin typeface="Times New Roman"/>
                <a:ea typeface="Times New Roman"/>
                <a:cs typeface="Times New Roman"/>
                <a:sym typeface="Times New Roman"/>
              </a:rPr>
              <a:t> that are created by cybercriminals every day and protect our data.</a:t>
            </a:r>
            <a:endParaRPr sz="1800">
              <a:solidFill>
                <a:schemeClr val="dk1"/>
              </a:solidFill>
              <a:latin typeface="Times New Roman"/>
              <a:ea typeface="Times New Roman"/>
              <a:cs typeface="Times New Roman"/>
              <a:sym typeface="Times New Roman"/>
            </a:endParaRPr>
          </a:p>
          <a:p>
            <a:pPr indent="0" lvl="0" marL="457200" rtl="0" algn="just">
              <a:lnSpc>
                <a:spcPct val="115000"/>
              </a:lnSpc>
              <a:spcBef>
                <a:spcPts val="1200"/>
              </a:spcBef>
              <a:spcAft>
                <a:spcPts val="600"/>
              </a:spcAft>
              <a:buNone/>
            </a:pPr>
            <a:r>
              <a:t/>
            </a:r>
            <a:endParaRPr b="1" sz="1600" u="sng">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6"/>
          <p:cNvSpPr txBox="1"/>
          <p:nvPr>
            <p:ph type="title"/>
          </p:nvPr>
        </p:nvSpPr>
        <p:spPr>
          <a:xfrm>
            <a:off x="457200" y="122238"/>
            <a:ext cx="8229600" cy="639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b="1" lang="en-US" sz="3000">
                <a:latin typeface="Times New Roman"/>
                <a:ea typeface="Times New Roman"/>
                <a:cs typeface="Times New Roman"/>
                <a:sym typeface="Times New Roman"/>
              </a:rPr>
              <a:t>Why 'Intelligent XSS Analyzer'?</a:t>
            </a:r>
            <a:endParaRPr b="1" sz="3000">
              <a:latin typeface="Times New Roman"/>
              <a:ea typeface="Times New Roman"/>
              <a:cs typeface="Times New Roman"/>
              <a:sym typeface="Times New Roman"/>
            </a:endParaRPr>
          </a:p>
        </p:txBody>
      </p:sp>
      <p:sp>
        <p:nvSpPr>
          <p:cNvPr id="272" name="Google Shape;272;p46"/>
          <p:cNvSpPr txBox="1"/>
          <p:nvPr>
            <p:ph idx="12" type="sldNum"/>
          </p:nvPr>
        </p:nvSpPr>
        <p:spPr>
          <a:xfrm>
            <a:off x="6553200" y="6378575"/>
            <a:ext cx="2133600" cy="4764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273" name="Google Shape;273;p46"/>
          <p:cNvSpPr txBox="1"/>
          <p:nvPr/>
        </p:nvSpPr>
        <p:spPr>
          <a:xfrm>
            <a:off x="538175" y="1115856"/>
            <a:ext cx="8148600" cy="3966600"/>
          </a:xfrm>
          <a:prstGeom prst="rect">
            <a:avLst/>
          </a:prstGeom>
          <a:noFill/>
          <a:ln>
            <a:noFill/>
          </a:ln>
        </p:spPr>
        <p:txBody>
          <a:bodyPr anchorCtr="0" anchor="t" bIns="91425" lIns="91425" spcFirstLastPara="1" rIns="91425" wrap="square" tIns="91425">
            <a:spAutoFit/>
          </a:bodyPr>
          <a:lstStyle/>
          <a:p>
            <a:pPr indent="-342900" lvl="0" marL="457200" rtl="0" algn="just">
              <a:lnSpc>
                <a:spcPct val="115000"/>
              </a:lnSpc>
              <a:spcBef>
                <a:spcPts val="0"/>
              </a:spcBef>
              <a:spcAft>
                <a:spcPts val="0"/>
              </a:spcAft>
              <a:buClr>
                <a:schemeClr val="dk1"/>
              </a:buClr>
              <a:buSzPts val="1800"/>
              <a:buFont typeface="Times New Roman"/>
              <a:buAutoNum type="arabicPeriod"/>
            </a:pPr>
            <a:r>
              <a:rPr b="1" lang="en-US" sz="1800">
                <a:solidFill>
                  <a:schemeClr val="dk1"/>
                </a:solidFill>
                <a:latin typeface="Times New Roman"/>
                <a:ea typeface="Times New Roman"/>
                <a:cs typeface="Times New Roman"/>
                <a:sym typeface="Times New Roman"/>
              </a:rPr>
              <a:t>We Don't Just Give You Data, We Give Answers</a:t>
            </a:r>
            <a:r>
              <a:rPr lang="en-US"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a:p>
            <a:pPr indent="0" lvl="0" marL="457200" rtl="0" algn="just">
              <a:lnSpc>
                <a:spcPct val="115000"/>
              </a:lnSpc>
              <a:spcBef>
                <a:spcPts val="0"/>
              </a:spcBef>
              <a:spcAft>
                <a:spcPts val="0"/>
              </a:spcAft>
              <a:buNone/>
            </a:pPr>
            <a:r>
              <a:rPr lang="en-US" sz="1800">
                <a:solidFill>
                  <a:schemeClr val="dk1"/>
                </a:solidFill>
                <a:latin typeface="Times New Roman"/>
                <a:ea typeface="Times New Roman"/>
                <a:cs typeface="Times New Roman"/>
                <a:sym typeface="Times New Roman"/>
              </a:rPr>
              <a:t>Instead of complex, technical reports, our app provides clear, easy-to-understand explanations in a simple conversation.</a:t>
            </a:r>
            <a:endParaRPr sz="1800">
              <a:solidFill>
                <a:schemeClr val="dk1"/>
              </a:solidFill>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chemeClr val="dk1"/>
              </a:buClr>
              <a:buSzPts val="1800"/>
              <a:buFont typeface="Times New Roman"/>
              <a:buAutoNum type="arabicPeriod"/>
            </a:pPr>
            <a:r>
              <a:rPr b="1" lang="en-US" sz="1800">
                <a:solidFill>
                  <a:schemeClr val="dk1"/>
                </a:solidFill>
                <a:latin typeface="Times New Roman"/>
                <a:ea typeface="Times New Roman"/>
                <a:cs typeface="Times New Roman"/>
                <a:sym typeface="Times New Roman"/>
              </a:rPr>
              <a:t>We Focus on the Solution, Not Just the Problem</a:t>
            </a:r>
            <a:r>
              <a:rPr lang="en-US"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a:p>
            <a:pPr indent="0" lvl="0" marL="457200" rtl="0" algn="just">
              <a:lnSpc>
                <a:spcPct val="115000"/>
              </a:lnSpc>
              <a:spcBef>
                <a:spcPts val="0"/>
              </a:spcBef>
              <a:spcAft>
                <a:spcPts val="0"/>
              </a:spcAft>
              <a:buNone/>
            </a:pPr>
            <a:r>
              <a:rPr lang="en-US" sz="1800">
                <a:solidFill>
                  <a:schemeClr val="dk1"/>
                </a:solidFill>
                <a:latin typeface="Times New Roman"/>
                <a:ea typeface="Times New Roman"/>
                <a:cs typeface="Times New Roman"/>
                <a:sym typeface="Times New Roman"/>
              </a:rPr>
              <a:t>Other tools just tell you </a:t>
            </a:r>
            <a:r>
              <a:rPr i="1" lang="en-US" sz="1800">
                <a:solidFill>
                  <a:schemeClr val="dk1"/>
                </a:solidFill>
                <a:latin typeface="Times New Roman"/>
                <a:ea typeface="Times New Roman"/>
                <a:cs typeface="Times New Roman"/>
                <a:sym typeface="Times New Roman"/>
              </a:rPr>
              <a:t>what's</a:t>
            </a:r>
            <a:r>
              <a:rPr lang="en-US" sz="1800">
                <a:solidFill>
                  <a:schemeClr val="dk1"/>
                </a:solidFill>
                <a:latin typeface="Times New Roman"/>
                <a:ea typeface="Times New Roman"/>
                <a:cs typeface="Times New Roman"/>
                <a:sym typeface="Times New Roman"/>
              </a:rPr>
              <a:t> wrong. We use an AI chatbot to show you </a:t>
            </a:r>
            <a:r>
              <a:rPr i="1" lang="en-US" sz="1800">
                <a:solidFill>
                  <a:schemeClr val="dk1"/>
                </a:solidFill>
                <a:latin typeface="Times New Roman"/>
                <a:ea typeface="Times New Roman"/>
                <a:cs typeface="Times New Roman"/>
                <a:sym typeface="Times New Roman"/>
              </a:rPr>
              <a:t>how</a:t>
            </a:r>
            <a:r>
              <a:rPr lang="en-US" sz="1800">
                <a:solidFill>
                  <a:schemeClr val="dk1"/>
                </a:solidFill>
                <a:latin typeface="Times New Roman"/>
                <a:ea typeface="Times New Roman"/>
                <a:cs typeface="Times New Roman"/>
                <a:sym typeface="Times New Roman"/>
              </a:rPr>
              <a:t> to fix it with simple, step-by-step guidance.</a:t>
            </a:r>
            <a:endParaRPr sz="1800">
              <a:solidFill>
                <a:schemeClr val="dk1"/>
              </a:solidFill>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chemeClr val="dk1"/>
              </a:buClr>
              <a:buSzPts val="1800"/>
              <a:buFont typeface="Times New Roman"/>
              <a:buAutoNum type="arabicPeriod"/>
            </a:pPr>
            <a:r>
              <a:rPr b="1" lang="en-US" sz="1800">
                <a:solidFill>
                  <a:schemeClr val="dk1"/>
                </a:solidFill>
                <a:latin typeface="Times New Roman"/>
                <a:ea typeface="Times New Roman"/>
                <a:cs typeface="Times New Roman"/>
                <a:sym typeface="Times New Roman"/>
              </a:rPr>
              <a:t>We Provide Expert, Tailored Advice</a:t>
            </a:r>
            <a:r>
              <a:rPr lang="en-US"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a:p>
            <a:pPr indent="0" lvl="0" marL="457200" rtl="0" algn="just">
              <a:lnSpc>
                <a:spcPct val="115000"/>
              </a:lnSpc>
              <a:spcBef>
                <a:spcPts val="0"/>
              </a:spcBef>
              <a:spcAft>
                <a:spcPts val="0"/>
              </a:spcAft>
              <a:buNone/>
            </a:pPr>
            <a:r>
              <a:rPr lang="en-US" sz="1800">
                <a:solidFill>
                  <a:schemeClr val="dk1"/>
                </a:solidFill>
                <a:latin typeface="Times New Roman"/>
                <a:ea typeface="Times New Roman"/>
                <a:cs typeface="Times New Roman"/>
                <a:sym typeface="Times New Roman"/>
              </a:rPr>
              <a:t>O</a:t>
            </a:r>
            <a:r>
              <a:rPr lang="en-US" sz="1800">
                <a:solidFill>
                  <a:schemeClr val="dk1"/>
                </a:solidFill>
                <a:latin typeface="Times New Roman"/>
                <a:ea typeface="Times New Roman"/>
                <a:cs typeface="Times New Roman"/>
                <a:sym typeface="Times New Roman"/>
              </a:rPr>
              <a:t>ur AI (using Google Gemini + RAG) is trained with our own expert knowledge. It gives you a specific solution for </a:t>
            </a:r>
            <a:r>
              <a:rPr i="1" lang="en-US" sz="1800">
                <a:solidFill>
                  <a:schemeClr val="dk1"/>
                </a:solidFill>
                <a:latin typeface="Times New Roman"/>
                <a:ea typeface="Times New Roman"/>
                <a:cs typeface="Times New Roman"/>
                <a:sym typeface="Times New Roman"/>
              </a:rPr>
              <a:t>your</a:t>
            </a:r>
            <a:r>
              <a:rPr lang="en-US" sz="1800">
                <a:solidFill>
                  <a:schemeClr val="dk1"/>
                </a:solidFill>
                <a:latin typeface="Times New Roman"/>
                <a:ea typeface="Times New Roman"/>
                <a:cs typeface="Times New Roman"/>
                <a:sym typeface="Times New Roman"/>
              </a:rPr>
              <a:t> exact problem, not just a generic tip.</a:t>
            </a:r>
            <a:endParaRPr sz="1800">
              <a:solidFill>
                <a:schemeClr val="dk1"/>
              </a:solidFill>
              <a:latin typeface="Times New Roman"/>
              <a:ea typeface="Times New Roman"/>
              <a:cs typeface="Times New Roman"/>
              <a:sym typeface="Times New Roman"/>
            </a:endParaRPr>
          </a:p>
          <a:p>
            <a:pPr indent="-342900" lvl="0" marL="457200" rtl="0" algn="just">
              <a:lnSpc>
                <a:spcPct val="115000"/>
              </a:lnSpc>
              <a:spcBef>
                <a:spcPts val="0"/>
              </a:spcBef>
              <a:spcAft>
                <a:spcPts val="0"/>
              </a:spcAft>
              <a:buClr>
                <a:schemeClr val="dk1"/>
              </a:buClr>
              <a:buSzPts val="1800"/>
              <a:buFont typeface="Times New Roman"/>
              <a:buAutoNum type="arabicPeriod"/>
            </a:pPr>
            <a:r>
              <a:rPr b="1" lang="en-US" sz="1800">
                <a:solidFill>
                  <a:schemeClr val="dk1"/>
                </a:solidFill>
                <a:latin typeface="Times New Roman"/>
                <a:ea typeface="Times New Roman"/>
                <a:cs typeface="Times New Roman"/>
                <a:sym typeface="Times New Roman"/>
              </a:rPr>
              <a:t>We Are Built for Developers &amp; Non-Experts</a:t>
            </a:r>
            <a:r>
              <a:rPr lang="en-US"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a:p>
            <a:pPr indent="0" lvl="0" marL="457200" rtl="0" algn="just">
              <a:lnSpc>
                <a:spcPct val="115000"/>
              </a:lnSpc>
              <a:spcBef>
                <a:spcPts val="0"/>
              </a:spcBef>
              <a:spcAft>
                <a:spcPts val="0"/>
              </a:spcAft>
              <a:buNone/>
            </a:pPr>
            <a:r>
              <a:rPr lang="en-US" sz="1800">
                <a:solidFill>
                  <a:schemeClr val="dk1"/>
                </a:solidFill>
                <a:latin typeface="Times New Roman"/>
                <a:ea typeface="Times New Roman"/>
                <a:cs typeface="Times New Roman"/>
                <a:sym typeface="Times New Roman"/>
              </a:rPr>
              <a:t>We designed this tool for the person who has to </a:t>
            </a:r>
            <a:r>
              <a:rPr i="1" lang="en-US" sz="1800">
                <a:solidFill>
                  <a:schemeClr val="dk1"/>
                </a:solidFill>
                <a:latin typeface="Times New Roman"/>
                <a:ea typeface="Times New Roman"/>
                <a:cs typeface="Times New Roman"/>
                <a:sym typeface="Times New Roman"/>
              </a:rPr>
              <a:t>actually write the fix</a:t>
            </a:r>
            <a:r>
              <a:rPr lang="en-US" sz="1800">
                <a:solidFill>
                  <a:schemeClr val="dk1"/>
                </a:solidFill>
                <a:latin typeface="Times New Roman"/>
                <a:ea typeface="Times New Roman"/>
                <a:cs typeface="Times New Roman"/>
                <a:sym typeface="Times New Roman"/>
              </a:rPr>
              <a:t>, making security less scary and accessible to everyone, not just security professionals.</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7"/>
          <p:cNvSpPr txBox="1"/>
          <p:nvPr>
            <p:ph type="title"/>
          </p:nvPr>
        </p:nvSpPr>
        <p:spPr>
          <a:xfrm>
            <a:off x="0" y="0"/>
            <a:ext cx="9144000" cy="9246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b="1" lang="en-US" sz="3000">
                <a:solidFill>
                  <a:schemeClr val="dk1"/>
                </a:solidFill>
                <a:latin typeface="Times New Roman"/>
                <a:ea typeface="Times New Roman"/>
                <a:cs typeface="Times New Roman"/>
                <a:sym typeface="Times New Roman"/>
              </a:rPr>
              <a:t>Sample prompts by the user to the Chatbot</a:t>
            </a:r>
            <a:endParaRPr/>
          </a:p>
        </p:txBody>
      </p:sp>
      <p:sp>
        <p:nvSpPr>
          <p:cNvPr id="280" name="Google Shape;280;p47"/>
          <p:cNvSpPr txBox="1"/>
          <p:nvPr>
            <p:ph idx="12" type="sldNum"/>
          </p:nvPr>
        </p:nvSpPr>
        <p:spPr>
          <a:xfrm>
            <a:off x="6553200" y="6378575"/>
            <a:ext cx="2133600" cy="4764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281" name="Google Shape;281;p47"/>
          <p:cNvSpPr txBox="1"/>
          <p:nvPr/>
        </p:nvSpPr>
        <p:spPr>
          <a:xfrm>
            <a:off x="0" y="1204625"/>
            <a:ext cx="9144000" cy="26781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Font typeface="Times New Roman"/>
              <a:buChar char="●"/>
            </a:pPr>
            <a:r>
              <a:rPr lang="en-US" sz="1800">
                <a:latin typeface="Times New Roman"/>
                <a:ea typeface="Times New Roman"/>
                <a:cs typeface="Times New Roman"/>
                <a:sym typeface="Times New Roman"/>
              </a:rPr>
              <a:t>"Can you explain that in simpler terms?"</a:t>
            </a:r>
            <a:endParaRPr sz="1800">
              <a:latin typeface="Times New Roman"/>
              <a:ea typeface="Times New Roman"/>
              <a:cs typeface="Times New Roman"/>
              <a:sym typeface="Times New Roman"/>
            </a:endParaRPr>
          </a:p>
          <a:p>
            <a:pPr indent="0" lvl="0" marL="457200" rtl="0" algn="l">
              <a:spcBef>
                <a:spcPts val="0"/>
              </a:spcBef>
              <a:spcAft>
                <a:spcPts val="0"/>
              </a:spcAft>
              <a:buNone/>
            </a:pPr>
            <a:r>
              <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US" sz="1800">
                <a:latin typeface="Times New Roman"/>
                <a:ea typeface="Times New Roman"/>
                <a:cs typeface="Times New Roman"/>
                <a:sym typeface="Times New Roman"/>
              </a:rPr>
              <a:t>"What is 'output encoding'?"</a:t>
            </a:r>
            <a:endParaRPr sz="1800">
              <a:latin typeface="Times New Roman"/>
              <a:ea typeface="Times New Roman"/>
              <a:cs typeface="Times New Roman"/>
              <a:sym typeface="Times New Roman"/>
            </a:endParaRPr>
          </a:p>
          <a:p>
            <a:pPr indent="0" lvl="0" marL="457200" rtl="0" algn="l">
              <a:spcBef>
                <a:spcPts val="0"/>
              </a:spcBef>
              <a:spcAft>
                <a:spcPts val="0"/>
              </a:spcAft>
              <a:buNone/>
            </a:pPr>
            <a:r>
              <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US" sz="1800">
                <a:latin typeface="Times New Roman"/>
                <a:ea typeface="Times New Roman"/>
                <a:cs typeface="Times New Roman"/>
                <a:sym typeface="Times New Roman"/>
              </a:rPr>
              <a:t>"How do I fix this in a XML/HTML file?"</a:t>
            </a:r>
            <a:endParaRPr sz="1800">
              <a:latin typeface="Times New Roman"/>
              <a:ea typeface="Times New Roman"/>
              <a:cs typeface="Times New Roman"/>
              <a:sym typeface="Times New Roman"/>
            </a:endParaRPr>
          </a:p>
          <a:p>
            <a:pPr indent="0" lvl="0" marL="457200" rtl="0" algn="l">
              <a:spcBef>
                <a:spcPts val="0"/>
              </a:spcBef>
              <a:spcAft>
                <a:spcPts val="0"/>
              </a:spcAft>
              <a:buNone/>
            </a:pPr>
            <a:r>
              <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US" sz="1800">
                <a:latin typeface="Times New Roman"/>
                <a:ea typeface="Times New Roman"/>
                <a:cs typeface="Times New Roman"/>
                <a:sym typeface="Times New Roman"/>
              </a:rPr>
              <a:t>"Can you show me a code example for Python?"</a:t>
            </a:r>
            <a:endParaRPr sz="1800">
              <a:latin typeface="Times New Roman"/>
              <a:ea typeface="Times New Roman"/>
              <a:cs typeface="Times New Roman"/>
              <a:sym typeface="Times New Roman"/>
            </a:endParaRPr>
          </a:p>
          <a:p>
            <a:pPr indent="0" lvl="0" marL="457200" rtl="0" algn="l">
              <a:spcBef>
                <a:spcPts val="0"/>
              </a:spcBef>
              <a:spcAft>
                <a:spcPts val="0"/>
              </a:spcAft>
              <a:buNone/>
            </a:pPr>
            <a:r>
              <a:t/>
            </a: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US" sz="1800">
                <a:latin typeface="Times New Roman"/>
                <a:ea typeface="Times New Roman"/>
                <a:cs typeface="Times New Roman"/>
                <a:sym typeface="Times New Roman"/>
              </a:rPr>
              <a:t>"What's the difference between Reflected XSS,Stored XSS and DOM XSS ?"</a:t>
            </a:r>
            <a:endParaRPr sz="1800">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8"/>
          <p:cNvSpPr txBox="1"/>
          <p:nvPr>
            <p:ph type="title"/>
          </p:nvPr>
        </p:nvSpPr>
        <p:spPr>
          <a:xfrm>
            <a:off x="457200" y="122238"/>
            <a:ext cx="8229600" cy="639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b="1" lang="en-US" sz="3000">
                <a:latin typeface="Times New Roman"/>
                <a:ea typeface="Times New Roman"/>
                <a:cs typeface="Times New Roman"/>
                <a:sym typeface="Times New Roman"/>
              </a:rPr>
              <a:t>Target Audience</a:t>
            </a:r>
            <a:endParaRPr b="1" sz="3000">
              <a:latin typeface="Times New Roman"/>
              <a:ea typeface="Times New Roman"/>
              <a:cs typeface="Times New Roman"/>
              <a:sym typeface="Times New Roman"/>
            </a:endParaRPr>
          </a:p>
        </p:txBody>
      </p:sp>
      <p:sp>
        <p:nvSpPr>
          <p:cNvPr id="288" name="Google Shape;288;p48"/>
          <p:cNvSpPr txBox="1"/>
          <p:nvPr>
            <p:ph idx="12" type="sldNum"/>
          </p:nvPr>
        </p:nvSpPr>
        <p:spPr>
          <a:xfrm>
            <a:off x="6553200" y="6378575"/>
            <a:ext cx="2133600" cy="4764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289" name="Google Shape;289;p48"/>
          <p:cNvSpPr txBox="1"/>
          <p:nvPr/>
        </p:nvSpPr>
        <p:spPr>
          <a:xfrm>
            <a:off x="457200" y="982194"/>
            <a:ext cx="8229600" cy="50442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b="1" lang="en-US" sz="1800">
                <a:solidFill>
                  <a:schemeClr val="dk1"/>
                </a:solidFill>
                <a:latin typeface="Times New Roman"/>
                <a:ea typeface="Times New Roman"/>
                <a:cs typeface="Times New Roman"/>
                <a:sym typeface="Times New Roman"/>
              </a:rPr>
              <a:t>1.</a:t>
            </a:r>
            <a:r>
              <a:rPr b="1" lang="en-US" sz="1800">
                <a:solidFill>
                  <a:schemeClr val="dk1"/>
                </a:solidFill>
                <a:latin typeface="Times New Roman"/>
                <a:ea typeface="Times New Roman"/>
                <a:cs typeface="Times New Roman"/>
                <a:sym typeface="Times New Roman"/>
              </a:rPr>
              <a:t>Developers:-</a:t>
            </a:r>
            <a:endParaRPr b="1" sz="18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lang="en-US" sz="1800">
                <a:solidFill>
                  <a:schemeClr val="dk1"/>
                </a:solidFill>
                <a:latin typeface="Times New Roman"/>
                <a:ea typeface="Times New Roman"/>
                <a:cs typeface="Times New Roman"/>
                <a:sym typeface="Times New Roman"/>
              </a:rPr>
              <a:t>The primary users who are responsible for </a:t>
            </a:r>
            <a:r>
              <a:rPr i="1" lang="en-US" sz="1800">
                <a:solidFill>
                  <a:schemeClr val="dk1"/>
                </a:solidFill>
                <a:latin typeface="Times New Roman"/>
                <a:ea typeface="Times New Roman"/>
                <a:cs typeface="Times New Roman"/>
                <a:sym typeface="Times New Roman"/>
              </a:rPr>
              <a:t>fixing</a:t>
            </a:r>
            <a:r>
              <a:rPr lang="en-US" sz="1800">
                <a:solidFill>
                  <a:schemeClr val="dk1"/>
                </a:solidFill>
                <a:latin typeface="Times New Roman"/>
                <a:ea typeface="Times New Roman"/>
                <a:cs typeface="Times New Roman"/>
                <a:sym typeface="Times New Roman"/>
              </a:rPr>
              <a:t> code. Our app provides clear, step-by-step mitigation advice directly, rather than just a complex error report.</a:t>
            </a:r>
            <a:endParaRPr sz="18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b="1" lang="en-US" sz="1800">
                <a:solidFill>
                  <a:schemeClr val="dk1"/>
                </a:solidFill>
                <a:latin typeface="Times New Roman"/>
                <a:ea typeface="Times New Roman"/>
                <a:cs typeface="Times New Roman"/>
                <a:sym typeface="Times New Roman"/>
              </a:rPr>
              <a:t>2.</a:t>
            </a:r>
            <a:r>
              <a:rPr b="1" lang="en-US" sz="1800">
                <a:solidFill>
                  <a:schemeClr val="dk1"/>
                </a:solidFill>
                <a:latin typeface="Times New Roman"/>
                <a:ea typeface="Times New Roman"/>
                <a:cs typeface="Times New Roman"/>
                <a:sym typeface="Times New Roman"/>
              </a:rPr>
              <a:t>DevOps &amp; SREs:-</a:t>
            </a:r>
            <a:endParaRPr b="1" sz="18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lang="en-US" sz="1800">
                <a:solidFill>
                  <a:schemeClr val="dk1"/>
                </a:solidFill>
                <a:latin typeface="Times New Roman"/>
                <a:ea typeface="Times New Roman"/>
                <a:cs typeface="Times New Roman"/>
                <a:sym typeface="Times New Roman"/>
              </a:rPr>
              <a:t>Professionals managing the CI/CD pipeline. They need a fast, automated, and clear-cut tool to integrate security checks without slowing down deployment.</a:t>
            </a:r>
            <a:endParaRPr sz="18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b="1" lang="en-US" sz="1800">
                <a:solidFill>
                  <a:schemeClr val="dk1"/>
                </a:solidFill>
                <a:latin typeface="Times New Roman"/>
                <a:ea typeface="Times New Roman"/>
                <a:cs typeface="Times New Roman"/>
                <a:sym typeface="Times New Roman"/>
              </a:rPr>
              <a:t>3.</a:t>
            </a:r>
            <a:r>
              <a:rPr b="1" lang="en-US" sz="1800">
                <a:solidFill>
                  <a:schemeClr val="dk1"/>
                </a:solidFill>
                <a:latin typeface="Times New Roman"/>
                <a:ea typeface="Times New Roman"/>
                <a:cs typeface="Times New Roman"/>
                <a:sym typeface="Times New Roman"/>
              </a:rPr>
              <a:t>Technical Users (QA, IT Admins):-</a:t>
            </a:r>
            <a:endParaRPr b="1" sz="18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lang="en-US" sz="1800">
                <a:solidFill>
                  <a:schemeClr val="dk1"/>
                </a:solidFill>
                <a:latin typeface="Times New Roman"/>
                <a:ea typeface="Times New Roman"/>
                <a:cs typeface="Times New Roman"/>
                <a:sym typeface="Times New Roman"/>
              </a:rPr>
              <a:t>Users who test applications or manage infrastructure. Our tool allows them to quickly find and report vulnerabilities with clear, understandable explanations.</a:t>
            </a:r>
            <a:endParaRPr sz="18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b="1" lang="en-US" sz="1800">
                <a:solidFill>
                  <a:schemeClr val="dk1"/>
                </a:solidFill>
                <a:latin typeface="Times New Roman"/>
                <a:ea typeface="Times New Roman"/>
                <a:cs typeface="Times New Roman"/>
                <a:sym typeface="Times New Roman"/>
              </a:rPr>
              <a:t>4.</a:t>
            </a:r>
            <a:r>
              <a:rPr b="1" lang="en-US" sz="1800">
                <a:solidFill>
                  <a:schemeClr val="dk1"/>
                </a:solidFill>
                <a:latin typeface="Times New Roman"/>
                <a:ea typeface="Times New Roman"/>
                <a:cs typeface="Times New Roman"/>
                <a:sym typeface="Times New Roman"/>
              </a:rPr>
              <a:t>Small &amp; Medium Enterprises (SMEs):-</a:t>
            </a:r>
            <a:endParaRPr b="1" sz="18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1200"/>
              </a:spcAft>
              <a:buNone/>
            </a:pPr>
            <a:r>
              <a:rPr lang="en-US" sz="1800">
                <a:solidFill>
                  <a:schemeClr val="dk1"/>
                </a:solidFill>
                <a:latin typeface="Times New Roman"/>
                <a:ea typeface="Times New Roman"/>
                <a:cs typeface="Times New Roman"/>
                <a:sym typeface="Times New Roman"/>
              </a:rPr>
              <a:t>Businesses that need robust web security but lack the budget for a dedicated, full-time security team or expensive enterprise software.</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9"/>
          <p:cNvSpPr txBox="1"/>
          <p:nvPr>
            <p:ph type="title"/>
          </p:nvPr>
        </p:nvSpPr>
        <p:spPr>
          <a:xfrm>
            <a:off x="457200" y="0"/>
            <a:ext cx="8229600" cy="894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latin typeface="Times New Roman"/>
                <a:ea typeface="Times New Roman"/>
                <a:cs typeface="Times New Roman"/>
                <a:sym typeface="Times New Roman"/>
              </a:rPr>
              <a:t>Conclusion</a:t>
            </a:r>
            <a:endParaRPr b="1">
              <a:latin typeface="Times New Roman"/>
              <a:ea typeface="Times New Roman"/>
              <a:cs typeface="Times New Roman"/>
              <a:sym typeface="Times New Roman"/>
            </a:endParaRPr>
          </a:p>
        </p:txBody>
      </p:sp>
      <p:sp>
        <p:nvSpPr>
          <p:cNvPr id="295" name="Google Shape;295;p49"/>
          <p:cNvSpPr txBox="1"/>
          <p:nvPr>
            <p:ph idx="12" type="sldNum"/>
          </p:nvPr>
        </p:nvSpPr>
        <p:spPr>
          <a:xfrm>
            <a:off x="6553200" y="6378575"/>
            <a:ext cx="2133600" cy="4764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a:t>14</a:t>
            </a:r>
            <a:endParaRPr/>
          </a:p>
        </p:txBody>
      </p:sp>
      <p:sp>
        <p:nvSpPr>
          <p:cNvPr id="296" name="Google Shape;296;p49"/>
          <p:cNvSpPr txBox="1"/>
          <p:nvPr/>
        </p:nvSpPr>
        <p:spPr>
          <a:xfrm>
            <a:off x="457200" y="993288"/>
            <a:ext cx="8229600" cy="36372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This project successfully demonstrates a complete and modern solution for developer-centric security. We have built a web application that bridges the critical gap between vulnerability DETECTION and SOLUTION.</a:t>
            </a:r>
            <a:endParaRPr sz="18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Our custom-built scanners for XSS effectively identify high-risk, common flaws. More importantly, the integration of a chatbot transforms those technical findings into actionable, easy-to-understand solutions.</a:t>
            </a:r>
            <a:endParaRPr sz="18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120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This project proves that by combining smart, targeted scanning with intelligent AI, we can empower developers of all skill levels to not only find security flaws but to confidently fix them, making security an accessible and manageable part of the development lifecycle.</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50"/>
          <p:cNvSpPr txBox="1"/>
          <p:nvPr>
            <p:ph type="title"/>
          </p:nvPr>
        </p:nvSpPr>
        <p:spPr>
          <a:xfrm>
            <a:off x="457200" y="122238"/>
            <a:ext cx="8229600" cy="639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Font typeface="Arial"/>
              <a:buNone/>
            </a:pPr>
            <a:r>
              <a:rPr b="1" lang="en-US">
                <a:solidFill>
                  <a:schemeClr val="dk1"/>
                </a:solidFill>
                <a:latin typeface="Times New Roman"/>
                <a:ea typeface="Times New Roman"/>
                <a:cs typeface="Times New Roman"/>
                <a:sym typeface="Times New Roman"/>
              </a:rPr>
              <a:t>Literature Review</a:t>
            </a:r>
            <a:endParaRPr>
              <a:solidFill>
                <a:schemeClr val="dk1"/>
              </a:solidFill>
            </a:endParaRPr>
          </a:p>
        </p:txBody>
      </p:sp>
      <p:sp>
        <p:nvSpPr>
          <p:cNvPr id="303" name="Google Shape;303;p50"/>
          <p:cNvSpPr txBox="1"/>
          <p:nvPr>
            <p:ph idx="12" type="sldNum"/>
          </p:nvPr>
        </p:nvSpPr>
        <p:spPr>
          <a:xfrm>
            <a:off x="6553200" y="6378575"/>
            <a:ext cx="2133600" cy="4764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8</a:t>
            </a:r>
            <a:endParaRPr/>
          </a:p>
        </p:txBody>
      </p:sp>
      <p:graphicFrame>
        <p:nvGraphicFramePr>
          <p:cNvPr id="304" name="Google Shape;304;p50"/>
          <p:cNvGraphicFramePr/>
          <p:nvPr/>
        </p:nvGraphicFramePr>
        <p:xfrm>
          <a:off x="-12" y="1052317"/>
          <a:ext cx="3000000" cy="3000000"/>
        </p:xfrm>
        <a:graphic>
          <a:graphicData uri="http://schemas.openxmlformats.org/drawingml/2006/table">
            <a:tbl>
              <a:tblPr>
                <a:noFill/>
                <a:tableStyleId>{95E52522-B180-4A8B-A2EF-A155F0FA4AB5}</a:tableStyleId>
              </a:tblPr>
              <a:tblGrid>
                <a:gridCol w="457200"/>
                <a:gridCol w="1322275"/>
                <a:gridCol w="2051450"/>
                <a:gridCol w="2381400"/>
                <a:gridCol w="2931700"/>
              </a:tblGrid>
              <a:tr h="586275">
                <a:tc>
                  <a:txBody>
                    <a:bodyPr/>
                    <a:lstStyle/>
                    <a:p>
                      <a:pPr indent="0" lvl="0" marL="0" rtl="0" algn="ctr">
                        <a:spcBef>
                          <a:spcPts val="0"/>
                        </a:spcBef>
                        <a:spcAft>
                          <a:spcPts val="0"/>
                        </a:spcAft>
                        <a:buNone/>
                      </a:pPr>
                      <a:r>
                        <a:rPr b="1" lang="en-US" sz="1150">
                          <a:latin typeface="Times New Roman"/>
                          <a:ea typeface="Times New Roman"/>
                          <a:cs typeface="Times New Roman"/>
                          <a:sym typeface="Times New Roman"/>
                        </a:rPr>
                        <a:t>Sr. No.</a:t>
                      </a:r>
                      <a:endParaRPr b="1" sz="1150">
                        <a:latin typeface="Times New Roman"/>
                        <a:ea typeface="Times New Roman"/>
                        <a:cs typeface="Times New Roman"/>
                        <a:sym typeface="Times New Roman"/>
                      </a:endParaRPr>
                    </a:p>
                  </a:txBody>
                  <a:tcPr marT="91425" marB="91425" marR="91425" marL="91425" anchor="ctr"/>
                </a:tc>
                <a:tc>
                  <a:txBody>
                    <a:bodyPr/>
                    <a:lstStyle/>
                    <a:p>
                      <a:pPr indent="0" lvl="0" marL="0" rtl="0" algn="ctr">
                        <a:spcBef>
                          <a:spcPts val="0"/>
                        </a:spcBef>
                        <a:spcAft>
                          <a:spcPts val="0"/>
                        </a:spcAft>
                        <a:buNone/>
                      </a:pPr>
                      <a:r>
                        <a:rPr b="1" lang="en-US" sz="1150">
                          <a:latin typeface="Times New Roman"/>
                          <a:ea typeface="Times New Roman"/>
                          <a:cs typeface="Times New Roman"/>
                          <a:sym typeface="Times New Roman"/>
                        </a:rPr>
                        <a:t>Title of the Paper</a:t>
                      </a:r>
                      <a:endParaRPr b="1" sz="1150">
                        <a:latin typeface="Times New Roman"/>
                        <a:ea typeface="Times New Roman"/>
                        <a:cs typeface="Times New Roman"/>
                        <a:sym typeface="Times New Roman"/>
                      </a:endParaRPr>
                    </a:p>
                  </a:txBody>
                  <a:tcPr marT="91425" marB="91425" marR="91425" marL="91425" anchor="ctr"/>
                </a:tc>
                <a:tc>
                  <a:txBody>
                    <a:bodyPr/>
                    <a:lstStyle/>
                    <a:p>
                      <a:pPr indent="0" lvl="0" marL="0" rtl="0" algn="ctr">
                        <a:spcBef>
                          <a:spcPts val="0"/>
                        </a:spcBef>
                        <a:spcAft>
                          <a:spcPts val="0"/>
                        </a:spcAft>
                        <a:buClr>
                          <a:schemeClr val="dk1"/>
                        </a:buClr>
                        <a:buSzPts val="1100"/>
                        <a:buFont typeface="Arial"/>
                        <a:buNone/>
                      </a:pPr>
                      <a:r>
                        <a:rPr b="1" lang="en-US" sz="1150">
                          <a:solidFill>
                            <a:schemeClr val="dk1"/>
                          </a:solidFill>
                          <a:latin typeface="Times New Roman"/>
                          <a:ea typeface="Times New Roman"/>
                          <a:cs typeface="Times New Roman"/>
                          <a:sym typeface="Times New Roman"/>
                        </a:rPr>
                        <a:t>Descriptions</a:t>
                      </a:r>
                      <a:endParaRPr b="1" sz="1150">
                        <a:latin typeface="Times New Roman"/>
                        <a:ea typeface="Times New Roman"/>
                        <a:cs typeface="Times New Roman"/>
                        <a:sym typeface="Times New Roman"/>
                      </a:endParaRPr>
                    </a:p>
                  </a:txBody>
                  <a:tcPr marT="91425" marB="91425" marR="91425" marL="91425" anchor="ctr"/>
                </a:tc>
                <a:tc>
                  <a:txBody>
                    <a:bodyPr/>
                    <a:lstStyle/>
                    <a:p>
                      <a:pPr indent="0" lvl="0" marL="0" rtl="0" algn="ctr">
                        <a:spcBef>
                          <a:spcPts val="0"/>
                        </a:spcBef>
                        <a:spcAft>
                          <a:spcPts val="0"/>
                        </a:spcAft>
                        <a:buNone/>
                      </a:pPr>
                      <a:r>
                        <a:rPr b="1" lang="en-US" sz="1150">
                          <a:latin typeface="Times New Roman"/>
                          <a:ea typeface="Times New Roman"/>
                          <a:cs typeface="Times New Roman"/>
                          <a:sym typeface="Times New Roman"/>
                        </a:rPr>
                        <a:t>Results</a:t>
                      </a:r>
                      <a:endParaRPr b="1" sz="1150">
                        <a:latin typeface="Times New Roman"/>
                        <a:ea typeface="Times New Roman"/>
                        <a:cs typeface="Times New Roman"/>
                        <a:sym typeface="Times New Roman"/>
                      </a:endParaRPr>
                    </a:p>
                  </a:txBody>
                  <a:tcPr marT="91425" marB="91425" marR="91425" marL="91425" anchor="ctr"/>
                </a:tc>
                <a:tc>
                  <a:txBody>
                    <a:bodyPr/>
                    <a:lstStyle/>
                    <a:p>
                      <a:pPr indent="0" lvl="0" marL="0" rtl="0" algn="ctr">
                        <a:spcBef>
                          <a:spcPts val="0"/>
                        </a:spcBef>
                        <a:spcAft>
                          <a:spcPts val="0"/>
                        </a:spcAft>
                        <a:buNone/>
                      </a:pPr>
                      <a:r>
                        <a:rPr b="1" lang="en-US" sz="1150">
                          <a:solidFill>
                            <a:schemeClr val="dk1"/>
                          </a:solidFill>
                          <a:latin typeface="Times New Roman"/>
                          <a:ea typeface="Times New Roman"/>
                          <a:cs typeface="Times New Roman"/>
                          <a:sym typeface="Times New Roman"/>
                        </a:rPr>
                        <a:t>L</a:t>
                      </a:r>
                      <a:r>
                        <a:rPr b="1" lang="en-US" sz="1150">
                          <a:solidFill>
                            <a:schemeClr val="dk1"/>
                          </a:solidFill>
                          <a:latin typeface="Times New Roman"/>
                          <a:ea typeface="Times New Roman"/>
                          <a:cs typeface="Times New Roman"/>
                          <a:sym typeface="Times New Roman"/>
                        </a:rPr>
                        <a:t>imitations</a:t>
                      </a:r>
                      <a:endParaRPr b="1" sz="1150">
                        <a:latin typeface="Times New Roman"/>
                        <a:ea typeface="Times New Roman"/>
                        <a:cs typeface="Times New Roman"/>
                        <a:sym typeface="Times New Roman"/>
                      </a:endParaRPr>
                    </a:p>
                  </a:txBody>
                  <a:tcPr marT="91425" marB="91425" marR="91425" marL="91425" anchor="ctr"/>
                </a:tc>
              </a:tr>
              <a:tr h="2310350">
                <a:tc>
                  <a:txBody>
                    <a:bodyPr/>
                    <a:lstStyle/>
                    <a:p>
                      <a:pPr indent="0" lvl="0" marL="0" rtl="0" algn="ctr">
                        <a:spcBef>
                          <a:spcPts val="0"/>
                        </a:spcBef>
                        <a:spcAft>
                          <a:spcPts val="0"/>
                        </a:spcAft>
                        <a:buNone/>
                      </a:pPr>
                      <a:r>
                        <a:rPr lang="en-US" sz="1150">
                          <a:latin typeface="Times New Roman"/>
                          <a:ea typeface="Times New Roman"/>
                          <a:cs typeface="Times New Roman"/>
                          <a:sym typeface="Times New Roman"/>
                        </a:rPr>
                        <a:t>1. </a:t>
                      </a:r>
                      <a:endParaRPr sz="1150">
                        <a:latin typeface="Times New Roman"/>
                        <a:ea typeface="Times New Roman"/>
                        <a:cs typeface="Times New Roman"/>
                        <a:sym typeface="Times New Roman"/>
                      </a:endParaRPr>
                    </a:p>
                  </a:txBody>
                  <a:tcPr marT="91425" marB="91425" marR="91425" marL="91425" anchor="ctr"/>
                </a:tc>
                <a:tc>
                  <a:txBody>
                    <a:bodyPr/>
                    <a:lstStyle/>
                    <a:p>
                      <a:pPr indent="0" lvl="0" marL="0" rtl="0" algn="just">
                        <a:lnSpc>
                          <a:spcPct val="115000"/>
                        </a:lnSpc>
                        <a:spcBef>
                          <a:spcPts val="0"/>
                        </a:spcBef>
                        <a:spcAft>
                          <a:spcPts val="0"/>
                        </a:spcAft>
                        <a:buClr>
                          <a:schemeClr val="dk1"/>
                        </a:buClr>
                        <a:buSzPts val="1100"/>
                        <a:buFont typeface="Arial"/>
                        <a:buNone/>
                      </a:pPr>
                      <a:r>
                        <a:rPr b="1" lang="en-US" sz="1200">
                          <a:solidFill>
                            <a:srgbClr val="282828"/>
                          </a:solidFill>
                          <a:latin typeface="Times New Roman"/>
                          <a:ea typeface="Times New Roman"/>
                          <a:cs typeface="Times New Roman"/>
                          <a:sym typeface="Times New Roman"/>
                        </a:rPr>
                        <a:t>XSS Vulnerability Scanner</a:t>
                      </a:r>
                      <a:r>
                        <a:rPr lang="en-US" sz="1200">
                          <a:solidFill>
                            <a:srgbClr val="282828"/>
                          </a:solidFill>
                          <a:highlight>
                            <a:schemeClr val="lt1"/>
                          </a:highlight>
                          <a:latin typeface="Times New Roman"/>
                          <a:ea typeface="Times New Roman"/>
                          <a:cs typeface="Times New Roman"/>
                          <a:sym typeface="Times New Roman"/>
                        </a:rPr>
                        <a:t>[</a:t>
                      </a:r>
                      <a:r>
                        <a:rPr lang="en-US" sz="1200" u="sng">
                          <a:solidFill>
                            <a:schemeClr val="hlink"/>
                          </a:solidFill>
                          <a:highlight>
                            <a:schemeClr val="lt1"/>
                          </a:highlight>
                          <a:latin typeface="Times New Roman"/>
                          <a:ea typeface="Times New Roman"/>
                          <a:cs typeface="Times New Roman"/>
                          <a:sym typeface="Times New Roman"/>
                          <a:hlinkClick r:id="rId3"/>
                        </a:rPr>
                        <a:t>1</a:t>
                      </a:r>
                      <a:r>
                        <a:rPr lang="en-US" sz="1200">
                          <a:highlight>
                            <a:schemeClr val="lt1"/>
                          </a:highlight>
                          <a:latin typeface="Times New Roman"/>
                          <a:ea typeface="Times New Roman"/>
                          <a:cs typeface="Times New Roman"/>
                          <a:sym typeface="Times New Roman"/>
                        </a:rPr>
                        <a:t>]</a:t>
                      </a:r>
                      <a:endParaRPr sz="1200">
                        <a:highlight>
                          <a:schemeClr val="lt1"/>
                        </a:highlight>
                        <a:latin typeface="Times New Roman"/>
                        <a:ea typeface="Times New Roman"/>
                        <a:cs typeface="Times New Roman"/>
                        <a:sym typeface="Times New Roman"/>
                      </a:endParaRPr>
                    </a:p>
                  </a:txBody>
                  <a:tcPr marT="91425" marB="91425" marR="91425" marL="91425" anchor="ctr"/>
                </a:tc>
                <a:tc>
                  <a:txBody>
                    <a:bodyPr/>
                    <a:lstStyle/>
                    <a:p>
                      <a:pPr indent="0" lvl="0" marL="0" rtl="0" algn="just">
                        <a:lnSpc>
                          <a:spcPct val="115000"/>
                        </a:lnSpc>
                        <a:spcBef>
                          <a:spcPts val="1200"/>
                        </a:spcBef>
                        <a:spcAft>
                          <a:spcPts val="1200"/>
                        </a:spcAft>
                        <a:buNone/>
                      </a:pPr>
                      <a:r>
                        <a:rPr lang="en-US" sz="1100">
                          <a:latin typeface="Times New Roman"/>
                          <a:ea typeface="Times New Roman"/>
                          <a:cs typeface="Times New Roman"/>
                          <a:sym typeface="Times New Roman"/>
                        </a:rPr>
                        <a:t>This project, titled "XSS Vulnerability Scanner," is an automated tool designed to detect Cross-Site Scripting (XSS) vulnerabilities in web applications. The scanner works by taking a website link from the user , crawling the site , and then injecting JavaScript code with special HTML.</a:t>
                      </a:r>
                      <a:endParaRPr sz="1100">
                        <a:latin typeface="Times New Roman"/>
                        <a:ea typeface="Times New Roman"/>
                        <a:cs typeface="Times New Roman"/>
                        <a:sym typeface="Times New Roman"/>
                      </a:endParaRPr>
                    </a:p>
                  </a:txBody>
                  <a:tcPr marT="91425" marB="91425" marR="91425" marL="91425" anchor="ctr"/>
                </a:tc>
                <a:tc>
                  <a:txBody>
                    <a:bodyPr/>
                    <a:lstStyle/>
                    <a:p>
                      <a:pPr indent="0" lvl="0" marL="0" rtl="0" algn="just">
                        <a:lnSpc>
                          <a:spcPct val="115000"/>
                        </a:lnSpc>
                        <a:spcBef>
                          <a:spcPts val="1200"/>
                        </a:spcBef>
                        <a:spcAft>
                          <a:spcPts val="1200"/>
                        </a:spcAft>
                        <a:buNone/>
                      </a:pPr>
                      <a:r>
                        <a:rPr lang="en-US" sz="1100">
                          <a:solidFill>
                            <a:schemeClr val="dk1"/>
                          </a:solidFill>
                          <a:latin typeface="Times New Roman"/>
                          <a:ea typeface="Times New Roman"/>
                          <a:cs typeface="Times New Roman"/>
                          <a:sym typeface="Times New Roman"/>
                        </a:rPr>
                        <a:t>The authors state that their XSS scanner </a:t>
                      </a:r>
                      <a:r>
                        <a:rPr b="1" lang="en-US" sz="1100">
                          <a:solidFill>
                            <a:schemeClr val="dk1"/>
                          </a:solidFill>
                          <a:latin typeface="Times New Roman"/>
                          <a:ea typeface="Times New Roman"/>
                          <a:cs typeface="Times New Roman"/>
                          <a:sym typeface="Times New Roman"/>
                        </a:rPr>
                        <a:t>"has performed much better than other web risk scanners"</a:t>
                      </a:r>
                      <a:r>
                        <a:rPr lang="en-US" sz="1100">
                          <a:solidFill>
                            <a:schemeClr val="dk1"/>
                          </a:solidFill>
                          <a:latin typeface="Times New Roman"/>
                          <a:ea typeface="Times New Roman"/>
                          <a:cs typeface="Times New Roman"/>
                          <a:sym typeface="Times New Roman"/>
                        </a:rPr>
                        <a:t> in terms of accuracy and false-positive standards. They also report that in terms of the </a:t>
                      </a:r>
                      <a:r>
                        <a:rPr i="1" lang="en-US" sz="1100">
                          <a:solidFill>
                            <a:schemeClr val="dk1"/>
                          </a:solidFill>
                          <a:latin typeface="Times New Roman"/>
                          <a:ea typeface="Times New Roman"/>
                          <a:cs typeface="Times New Roman"/>
                          <a:sym typeface="Times New Roman"/>
                        </a:rPr>
                        <a:t>number</a:t>
                      </a:r>
                      <a:r>
                        <a:rPr lang="en-US" sz="1100">
                          <a:solidFill>
                            <a:schemeClr val="dk1"/>
                          </a:solidFill>
                          <a:latin typeface="Times New Roman"/>
                          <a:ea typeface="Times New Roman"/>
                          <a:cs typeface="Times New Roman"/>
                          <a:sym typeface="Times New Roman"/>
                        </a:rPr>
                        <a:t> of vulnerabilities detected, their tool was </a:t>
                      </a:r>
                      <a:r>
                        <a:rPr b="1" lang="en-US" sz="1100">
                          <a:solidFill>
                            <a:schemeClr val="dk1"/>
                          </a:solidFill>
                          <a:latin typeface="Times New Roman"/>
                          <a:ea typeface="Times New Roman"/>
                          <a:cs typeface="Times New Roman"/>
                          <a:sym typeface="Times New Roman"/>
                        </a:rPr>
                        <a:t>"as successful as"</a:t>
                      </a:r>
                      <a:r>
                        <a:rPr lang="en-US" sz="1100">
                          <a:solidFill>
                            <a:schemeClr val="dk1"/>
                          </a:solidFill>
                          <a:latin typeface="Times New Roman"/>
                          <a:ea typeface="Times New Roman"/>
                          <a:cs typeface="Times New Roman"/>
                          <a:sym typeface="Times New Roman"/>
                        </a:rPr>
                        <a:t> competing structures. The report attributes this improved performance to the use of the fuzzy inference system.</a:t>
                      </a:r>
                      <a:endParaRPr sz="1100">
                        <a:latin typeface="Times New Roman"/>
                        <a:ea typeface="Times New Roman"/>
                        <a:cs typeface="Times New Roman"/>
                        <a:sym typeface="Times New Roman"/>
                      </a:endParaRPr>
                    </a:p>
                  </a:txBody>
                  <a:tcPr marT="91425" marB="91425" marR="91425" marL="91425" anchor="ctr"/>
                </a:tc>
                <a:tc>
                  <a:txBody>
                    <a:bodyPr/>
                    <a:lstStyle/>
                    <a:p>
                      <a:pPr indent="0" lvl="0" marL="0" rtl="0" algn="just">
                        <a:spcBef>
                          <a:spcPts val="1200"/>
                        </a:spcBef>
                        <a:spcAft>
                          <a:spcPts val="0"/>
                        </a:spcAft>
                        <a:buClr>
                          <a:schemeClr val="dk1"/>
                        </a:buClr>
                        <a:buSzPts val="1100"/>
                        <a:buFont typeface="Arial"/>
                        <a:buNone/>
                      </a:pPr>
                      <a:r>
                        <a:rPr b="1" lang="en-US" sz="1100">
                          <a:solidFill>
                            <a:schemeClr val="dk1"/>
                          </a:solidFill>
                          <a:latin typeface="Times New Roman"/>
                          <a:ea typeface="Times New Roman"/>
                          <a:cs typeface="Times New Roman"/>
                          <a:sym typeface="Times New Roman"/>
                        </a:rPr>
                        <a:t>Context-Blind:</a:t>
                      </a:r>
                      <a:r>
                        <a:rPr lang="en-US" sz="1100">
                          <a:solidFill>
                            <a:schemeClr val="dk1"/>
                          </a:solidFill>
                          <a:latin typeface="Times New Roman"/>
                          <a:ea typeface="Times New Roman"/>
                          <a:cs typeface="Times New Roman"/>
                          <a:sym typeface="Times New Roman"/>
                        </a:rPr>
                        <a:t> The scanner's logic relies on only seven DOM properties , so it's likely blind to the </a:t>
                      </a:r>
                      <a:r>
                        <a:rPr i="1" lang="en-US" sz="1100">
                          <a:solidFill>
                            <a:schemeClr val="dk1"/>
                          </a:solidFill>
                          <a:latin typeface="Times New Roman"/>
                          <a:ea typeface="Times New Roman"/>
                          <a:cs typeface="Times New Roman"/>
                          <a:sym typeface="Times New Roman"/>
                        </a:rPr>
                        <a:t>context</a:t>
                      </a:r>
                      <a:r>
                        <a:rPr lang="en-US" sz="1100">
                          <a:solidFill>
                            <a:schemeClr val="dk1"/>
                          </a:solidFill>
                          <a:latin typeface="Times New Roman"/>
                          <a:ea typeface="Times New Roman"/>
                          <a:cs typeface="Times New Roman"/>
                          <a:sym typeface="Times New Roman"/>
                        </a:rPr>
                        <a:t> of a reflection (e.g., in an HTML attribute) and would miss it.</a:t>
                      </a:r>
                      <a:endParaRPr sz="1100">
                        <a:solidFill>
                          <a:schemeClr val="dk1"/>
                        </a:solidFill>
                        <a:latin typeface="Times New Roman"/>
                        <a:ea typeface="Times New Roman"/>
                        <a:cs typeface="Times New Roman"/>
                        <a:sym typeface="Times New Roman"/>
                      </a:endParaRPr>
                    </a:p>
                    <a:p>
                      <a:pPr indent="0" lvl="0" marL="0" rtl="0" algn="just">
                        <a:spcBef>
                          <a:spcPts val="1200"/>
                        </a:spcBef>
                        <a:spcAft>
                          <a:spcPts val="0"/>
                        </a:spcAft>
                        <a:buClr>
                          <a:schemeClr val="dk1"/>
                        </a:buClr>
                        <a:buSzPts val="1100"/>
                        <a:buFont typeface="Arial"/>
                        <a:buNone/>
                      </a:pPr>
                      <a:r>
                        <a:rPr b="1" lang="en-US" sz="1100">
                          <a:solidFill>
                            <a:schemeClr val="dk1"/>
                          </a:solidFill>
                          <a:latin typeface="Times New Roman"/>
                          <a:ea typeface="Times New Roman"/>
                          <a:cs typeface="Times New Roman"/>
                          <a:sym typeface="Times New Roman"/>
                        </a:rPr>
                        <a:t>Simple Payloads:</a:t>
                      </a:r>
                      <a:r>
                        <a:rPr lang="en-US" sz="1100">
                          <a:solidFill>
                            <a:schemeClr val="dk1"/>
                          </a:solidFill>
                          <a:latin typeface="Times New Roman"/>
                          <a:ea typeface="Times New Roman"/>
                          <a:cs typeface="Times New Roman"/>
                          <a:sym typeface="Times New Roman"/>
                        </a:rPr>
                        <a:t> The tool only tests "special HTML characters". This simple method would fail against filters that are vulnerable to encoded or complex bypasses.</a:t>
                      </a:r>
                      <a:endParaRPr sz="1100">
                        <a:solidFill>
                          <a:schemeClr val="dk1"/>
                        </a:solidFill>
                        <a:latin typeface="Times New Roman"/>
                        <a:ea typeface="Times New Roman"/>
                        <a:cs typeface="Times New Roman"/>
                        <a:sym typeface="Times New Roman"/>
                      </a:endParaRPr>
                    </a:p>
                    <a:p>
                      <a:pPr indent="0" lvl="0" marL="0" rtl="0" algn="just">
                        <a:spcBef>
                          <a:spcPts val="1200"/>
                        </a:spcBef>
                        <a:spcAft>
                          <a:spcPts val="1200"/>
                        </a:spcAft>
                        <a:buClr>
                          <a:schemeClr val="dk1"/>
                        </a:buClr>
                        <a:buSzPts val="1100"/>
                        <a:buFont typeface="Arial"/>
                        <a:buNone/>
                      </a:pPr>
                      <a:r>
                        <a:rPr b="1" lang="en-US" sz="1100">
                          <a:solidFill>
                            <a:schemeClr val="dk1"/>
                          </a:solidFill>
                          <a:latin typeface="Times New Roman"/>
                          <a:ea typeface="Times New Roman"/>
                          <a:cs typeface="Times New Roman"/>
                          <a:sym typeface="Times New Roman"/>
                        </a:rPr>
                        <a:t>Limited Vectors:</a:t>
                      </a:r>
                      <a:r>
                        <a:rPr lang="en-US" sz="1100">
                          <a:solidFill>
                            <a:schemeClr val="dk1"/>
                          </a:solidFill>
                          <a:latin typeface="Times New Roman"/>
                          <a:ea typeface="Times New Roman"/>
                          <a:cs typeface="Times New Roman"/>
                          <a:sym typeface="Times New Roman"/>
                        </a:rPr>
                        <a:t> Its focus on DOM features means it would miss XSS injected via HTTP headers or reflected in non-HTML content like JSON.</a:t>
                      </a:r>
                      <a:endParaRPr b="1" sz="1100">
                        <a:solidFill>
                          <a:schemeClr val="dk1"/>
                        </a:solidFill>
                        <a:latin typeface="Times New Roman"/>
                        <a:ea typeface="Times New Roman"/>
                        <a:cs typeface="Times New Roman"/>
                        <a:sym typeface="Times New Roman"/>
                      </a:endParaRPr>
                    </a:p>
                  </a:txBody>
                  <a:tcPr marT="91425" marB="91425" marR="91425" marL="91425" anchor="ctr"/>
                </a:tc>
              </a:tr>
              <a:tr h="1501400">
                <a:tc>
                  <a:txBody>
                    <a:bodyPr/>
                    <a:lstStyle/>
                    <a:p>
                      <a:pPr indent="0" lvl="0" marL="0" rtl="0" algn="ctr">
                        <a:spcBef>
                          <a:spcPts val="0"/>
                        </a:spcBef>
                        <a:spcAft>
                          <a:spcPts val="0"/>
                        </a:spcAft>
                        <a:buNone/>
                      </a:pPr>
                      <a:r>
                        <a:rPr lang="en-US" sz="1150">
                          <a:latin typeface="Times New Roman"/>
                          <a:ea typeface="Times New Roman"/>
                          <a:cs typeface="Times New Roman"/>
                          <a:sym typeface="Times New Roman"/>
                        </a:rPr>
                        <a:t>2</a:t>
                      </a:r>
                      <a:r>
                        <a:rPr lang="en-US" sz="1150">
                          <a:latin typeface="Times New Roman"/>
                          <a:ea typeface="Times New Roman"/>
                          <a:cs typeface="Times New Roman"/>
                          <a:sym typeface="Times New Roman"/>
                        </a:rPr>
                        <a:t>. </a:t>
                      </a:r>
                      <a:endParaRPr sz="1150">
                        <a:latin typeface="Times New Roman"/>
                        <a:ea typeface="Times New Roman"/>
                        <a:cs typeface="Times New Roman"/>
                        <a:sym typeface="Times New Roman"/>
                      </a:endParaRPr>
                    </a:p>
                  </a:txBody>
                  <a:tcPr marT="91425" marB="91425" marR="91425" marL="91425" anchor="ctr"/>
                </a:tc>
                <a:tc>
                  <a:txBody>
                    <a:bodyPr/>
                    <a:lstStyle/>
                    <a:p>
                      <a:pPr indent="0" lvl="0" marL="0" rtl="0" algn="l">
                        <a:spcBef>
                          <a:spcPts val="0"/>
                        </a:spcBef>
                        <a:spcAft>
                          <a:spcPts val="0"/>
                        </a:spcAft>
                        <a:buNone/>
                      </a:pPr>
                      <a:r>
                        <a:rPr b="1" lang="en-US" sz="1000">
                          <a:latin typeface="Times New Roman"/>
                          <a:ea typeface="Times New Roman"/>
                          <a:cs typeface="Times New Roman"/>
                          <a:sym typeface="Times New Roman"/>
                        </a:rPr>
                        <a:t>C</a:t>
                      </a:r>
                      <a:r>
                        <a:rPr b="1" lang="en-US" sz="1000">
                          <a:latin typeface="Times New Roman"/>
                          <a:ea typeface="Times New Roman"/>
                          <a:cs typeface="Times New Roman"/>
                          <a:sym typeface="Times New Roman"/>
                        </a:rPr>
                        <a:t>ROSSCAN: REFLECTED XSS SCANNER WEBSITE TO SCAN FOR REFLECTED XSS VULNERABILITY</a:t>
                      </a:r>
                      <a:endParaRPr b="1" sz="1000">
                        <a:latin typeface="Times New Roman"/>
                        <a:ea typeface="Times New Roman"/>
                        <a:cs typeface="Times New Roman"/>
                        <a:sym typeface="Times New Roman"/>
                      </a:endParaRPr>
                    </a:p>
                    <a:p>
                      <a:pPr indent="0" lvl="0" marL="0" rtl="0" algn="l">
                        <a:spcBef>
                          <a:spcPts val="0"/>
                        </a:spcBef>
                        <a:spcAft>
                          <a:spcPts val="0"/>
                        </a:spcAft>
                        <a:buNone/>
                      </a:pPr>
                      <a:r>
                        <a:rPr b="1" lang="en-US" sz="1000">
                          <a:latin typeface="Times New Roman"/>
                          <a:ea typeface="Times New Roman"/>
                          <a:cs typeface="Times New Roman"/>
                          <a:sym typeface="Times New Roman"/>
                        </a:rPr>
                        <a:t>[</a:t>
                      </a:r>
                      <a:r>
                        <a:rPr b="1" lang="en-US" sz="1000" u="sng">
                          <a:solidFill>
                            <a:schemeClr val="hlink"/>
                          </a:solidFill>
                          <a:latin typeface="Times New Roman"/>
                          <a:ea typeface="Times New Roman"/>
                          <a:cs typeface="Times New Roman"/>
                          <a:sym typeface="Times New Roman"/>
                          <a:hlinkClick r:id="rId4"/>
                        </a:rPr>
                        <a:t>2</a:t>
                      </a:r>
                      <a:r>
                        <a:rPr b="1" lang="en-US" sz="1000">
                          <a:latin typeface="Times New Roman"/>
                          <a:ea typeface="Times New Roman"/>
                          <a:cs typeface="Times New Roman"/>
                          <a:sym typeface="Times New Roman"/>
                        </a:rPr>
                        <a:t>]</a:t>
                      </a:r>
                      <a:endParaRPr b="1" sz="1000">
                        <a:latin typeface="Times New Roman"/>
                        <a:ea typeface="Times New Roman"/>
                        <a:cs typeface="Times New Roman"/>
                        <a:sym typeface="Times New Roman"/>
                      </a:endParaRPr>
                    </a:p>
                  </a:txBody>
                  <a:tcPr marT="91425" marB="91425" marR="91425" marL="91425" anchor="ctr"/>
                </a:tc>
                <a:tc>
                  <a:txBody>
                    <a:bodyPr/>
                    <a:lstStyle/>
                    <a:p>
                      <a:pPr indent="0" lvl="0" marL="0" rtl="0" algn="just">
                        <a:lnSpc>
                          <a:spcPct val="115000"/>
                        </a:lnSpc>
                        <a:spcBef>
                          <a:spcPts val="1200"/>
                        </a:spcBef>
                        <a:spcAft>
                          <a:spcPts val="1200"/>
                        </a:spcAft>
                        <a:buClr>
                          <a:schemeClr val="dk1"/>
                        </a:buClr>
                        <a:buSzPts val="1100"/>
                        <a:buFont typeface="Arial"/>
                        <a:buNone/>
                      </a:pPr>
                      <a:r>
                        <a:rPr lang="en-US" sz="1100">
                          <a:solidFill>
                            <a:schemeClr val="dk1"/>
                          </a:solidFill>
                          <a:latin typeface="Times New Roman"/>
                          <a:ea typeface="Times New Roman"/>
                          <a:cs typeface="Times New Roman"/>
                          <a:sym typeface="Times New Roman"/>
                        </a:rPr>
                        <a:t>This project, titled "CROSSCAN," is an automated scanner designed specifically to find </a:t>
                      </a:r>
                      <a:r>
                        <a:rPr b="1" lang="en-US" sz="1100">
                          <a:solidFill>
                            <a:schemeClr val="dk1"/>
                          </a:solidFill>
                          <a:latin typeface="Times New Roman"/>
                          <a:ea typeface="Times New Roman"/>
                          <a:cs typeface="Times New Roman"/>
                          <a:sym typeface="Times New Roman"/>
                        </a:rPr>
                        <a:t>Reflected Cross-Site Scripting (XSS) vulnerabilities</a:t>
                      </a:r>
                      <a:r>
                        <a:rPr lang="en-US" sz="1100">
                          <a:solidFill>
                            <a:schemeClr val="dk1"/>
                          </a:solidFill>
                          <a:latin typeface="Times New Roman"/>
                          <a:ea typeface="Times New Roman"/>
                          <a:cs typeface="Times New Roman"/>
                          <a:sym typeface="Times New Roman"/>
                        </a:rPr>
                        <a:t> in web applications. The tool is intended for developers and security professionals to streamline vulnerability detection.</a:t>
                      </a:r>
                      <a:endParaRPr sz="1100">
                        <a:latin typeface="Times New Roman"/>
                        <a:ea typeface="Times New Roman"/>
                        <a:cs typeface="Times New Roman"/>
                        <a:sym typeface="Times New Roman"/>
                      </a:endParaRPr>
                    </a:p>
                  </a:txBody>
                  <a:tcPr marT="91425" marB="91425" marR="91425" marL="91425" anchor="ctr"/>
                </a:tc>
                <a:tc>
                  <a:txBody>
                    <a:bodyPr/>
                    <a:lstStyle/>
                    <a:p>
                      <a:pPr indent="0" lvl="0" marL="0" rtl="0" algn="just">
                        <a:spcBef>
                          <a:spcPts val="0"/>
                        </a:spcBef>
                        <a:spcAft>
                          <a:spcPts val="0"/>
                        </a:spcAft>
                        <a:buNone/>
                      </a:pPr>
                      <a:r>
                        <a:rPr lang="en-US" sz="1100">
                          <a:latin typeface="Times New Roman"/>
                          <a:ea typeface="Times New Roman"/>
                          <a:cs typeface="Times New Roman"/>
                          <a:sym typeface="Times New Roman"/>
                        </a:rPr>
                        <a:t>The scanner was tested on various web applications and showed strong performance in several areas such as detection rate,accuracy and </a:t>
                      </a:r>
                      <a:r>
                        <a:rPr lang="en-US" sz="1100">
                          <a:latin typeface="Times New Roman"/>
                          <a:ea typeface="Times New Roman"/>
                          <a:cs typeface="Times New Roman"/>
                          <a:sym typeface="Times New Roman"/>
                        </a:rPr>
                        <a:t>usability</a:t>
                      </a:r>
                      <a:r>
                        <a:rPr lang="en-US" sz="1100">
                          <a:latin typeface="Times New Roman"/>
                          <a:ea typeface="Times New Roman"/>
                          <a:cs typeface="Times New Roman"/>
                          <a:sym typeface="Times New Roman"/>
                        </a:rPr>
                        <a:t>.</a:t>
                      </a:r>
                      <a:endParaRPr sz="1100">
                        <a:latin typeface="Times New Roman"/>
                        <a:ea typeface="Times New Roman"/>
                        <a:cs typeface="Times New Roman"/>
                        <a:sym typeface="Times New Roman"/>
                      </a:endParaRPr>
                    </a:p>
                  </a:txBody>
                  <a:tcPr marT="91425" marB="91425" marR="91425" marL="91425" anchor="ctr"/>
                </a:tc>
                <a:tc>
                  <a:txBody>
                    <a:bodyPr/>
                    <a:lstStyle/>
                    <a:p>
                      <a:pPr indent="0" lvl="0" marL="0" rtl="0" algn="l">
                        <a:lnSpc>
                          <a:spcPct val="115000"/>
                        </a:lnSpc>
                        <a:spcBef>
                          <a:spcPts val="0"/>
                        </a:spcBef>
                        <a:spcAft>
                          <a:spcPts val="0"/>
                        </a:spcAft>
                        <a:buNone/>
                      </a:pPr>
                      <a:r>
                        <a:rPr b="1" lang="en-US" sz="1100">
                          <a:solidFill>
                            <a:schemeClr val="dk1"/>
                          </a:solidFill>
                          <a:latin typeface="Times New Roman"/>
                          <a:ea typeface="Times New Roman"/>
                          <a:cs typeface="Times New Roman"/>
                          <a:sym typeface="Times New Roman"/>
                        </a:rPr>
                        <a:t>Fails on modern apps:</a:t>
                      </a:r>
                      <a:r>
                        <a:rPr lang="en-US" sz="1100">
                          <a:solidFill>
                            <a:schemeClr val="dk1"/>
                          </a:solidFill>
                          <a:latin typeface="Times New Roman"/>
                          <a:ea typeface="Times New Roman"/>
                          <a:cs typeface="Times New Roman"/>
                          <a:sym typeface="Times New Roman"/>
                        </a:rPr>
                        <a:t> The scanner struggles with advanced JavaScript and Single-Page Applications (SPAs).</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US" sz="1100">
                          <a:solidFill>
                            <a:schemeClr val="dk1"/>
                          </a:solidFill>
                          <a:latin typeface="Times New Roman"/>
                          <a:ea typeface="Times New Roman"/>
                          <a:cs typeface="Times New Roman"/>
                          <a:sym typeface="Times New Roman"/>
                        </a:rPr>
                        <a:t>Misses new attacks:</a:t>
                      </a:r>
                      <a:r>
                        <a:rPr lang="en-US" sz="1100">
                          <a:solidFill>
                            <a:schemeClr val="dk1"/>
                          </a:solidFill>
                          <a:latin typeface="Times New Roman"/>
                          <a:ea typeface="Times New Roman"/>
                          <a:cs typeface="Times New Roman"/>
                          <a:sym typeface="Times New Roman"/>
                        </a:rPr>
                        <a:t> It relies on a fixed list of known payloads, so it can miss new or sophisticated XSS patterns.</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US" sz="1100">
                          <a:solidFill>
                            <a:schemeClr val="dk1"/>
                          </a:solidFill>
                          <a:latin typeface="Times New Roman"/>
                          <a:ea typeface="Times New Roman"/>
                          <a:cs typeface="Times New Roman"/>
                          <a:sym typeface="Times New Roman"/>
                        </a:rPr>
                        <a:t>Needs client-side improvement:</a:t>
                      </a:r>
                      <a:r>
                        <a:rPr lang="en-US" sz="1100">
                          <a:solidFill>
                            <a:schemeClr val="dk1"/>
                          </a:solidFill>
                          <a:latin typeface="Times New Roman"/>
                          <a:ea typeface="Times New Roman"/>
                          <a:cs typeface="Times New Roman"/>
                          <a:sym typeface="Times New Roman"/>
                        </a:rPr>
                        <a:t> The authors state it needs future work to get better at handling client-side vulnerabilities.</a:t>
                      </a:r>
                      <a:endParaRPr b="1" sz="1100">
                        <a:solidFill>
                          <a:schemeClr val="dk1"/>
                        </a:solidFill>
                        <a:latin typeface="Times New Roman"/>
                        <a:ea typeface="Times New Roman"/>
                        <a:cs typeface="Times New Roman"/>
                        <a:sym typeface="Times New Roman"/>
                      </a:endParaRPr>
                    </a:p>
                  </a:txBody>
                  <a:tcPr marT="91425" marB="91425" marR="91425" marL="91425" anchor="ct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51"/>
          <p:cNvSpPr txBox="1"/>
          <p:nvPr>
            <p:ph type="title"/>
          </p:nvPr>
        </p:nvSpPr>
        <p:spPr>
          <a:xfrm>
            <a:off x="457200" y="122238"/>
            <a:ext cx="8229600" cy="6399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Font typeface="Arial"/>
              <a:buNone/>
            </a:pPr>
            <a:r>
              <a:rPr b="1" lang="en-US">
                <a:solidFill>
                  <a:schemeClr val="dk1"/>
                </a:solidFill>
                <a:latin typeface="Times New Roman"/>
                <a:ea typeface="Times New Roman"/>
                <a:cs typeface="Times New Roman"/>
                <a:sym typeface="Times New Roman"/>
              </a:rPr>
              <a:t>Literature Review</a:t>
            </a:r>
            <a:endParaRPr>
              <a:solidFill>
                <a:schemeClr val="dk1"/>
              </a:solidFill>
            </a:endParaRPr>
          </a:p>
        </p:txBody>
      </p:sp>
      <p:sp>
        <p:nvSpPr>
          <p:cNvPr id="311" name="Google Shape;311;p51"/>
          <p:cNvSpPr txBox="1"/>
          <p:nvPr>
            <p:ph idx="12" type="sldNum"/>
          </p:nvPr>
        </p:nvSpPr>
        <p:spPr>
          <a:xfrm>
            <a:off x="6553200" y="6378575"/>
            <a:ext cx="2133600" cy="4764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9</a:t>
            </a:r>
            <a:endParaRPr/>
          </a:p>
        </p:txBody>
      </p:sp>
      <p:sp>
        <p:nvSpPr>
          <p:cNvPr id="312" name="Google Shape;312;p51"/>
          <p:cNvSpPr txBox="1"/>
          <p:nvPr/>
        </p:nvSpPr>
        <p:spPr>
          <a:xfrm>
            <a:off x="304800" y="30480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313" name="Google Shape;313;p51"/>
          <p:cNvGraphicFramePr/>
          <p:nvPr/>
        </p:nvGraphicFramePr>
        <p:xfrm>
          <a:off x="0" y="1295400"/>
          <a:ext cx="3000000" cy="3000000"/>
        </p:xfrm>
        <a:graphic>
          <a:graphicData uri="http://schemas.openxmlformats.org/drawingml/2006/table">
            <a:tbl>
              <a:tblPr>
                <a:noFill/>
                <a:tableStyleId>{F4B8B2B4-D14E-415F-BC35-52546FD888FE}</a:tableStyleId>
              </a:tblPr>
              <a:tblGrid>
                <a:gridCol w="457200"/>
                <a:gridCol w="1323975"/>
                <a:gridCol w="2200275"/>
                <a:gridCol w="2752725"/>
                <a:gridCol w="2409825"/>
              </a:tblGrid>
              <a:tr h="561975">
                <a:tc>
                  <a:txBody>
                    <a:bodyPr/>
                    <a:lstStyle/>
                    <a:p>
                      <a:pPr indent="0" lvl="0" marL="0" rtl="0" algn="ctr">
                        <a:lnSpc>
                          <a:spcPct val="120000"/>
                        </a:lnSpc>
                        <a:spcBef>
                          <a:spcPts val="0"/>
                        </a:spcBef>
                        <a:spcAft>
                          <a:spcPts val="0"/>
                        </a:spcAft>
                        <a:buNone/>
                      </a:pPr>
                      <a:r>
                        <a:rPr b="1" lang="en-US" sz="1150">
                          <a:latin typeface="Times New Roman"/>
                          <a:ea typeface="Times New Roman"/>
                          <a:cs typeface="Times New Roman"/>
                          <a:sym typeface="Times New Roman"/>
                        </a:rPr>
                        <a:t>Sr. No.</a:t>
                      </a:r>
                      <a:endParaRPr b="1" sz="1150">
                        <a:latin typeface="Times New Roman"/>
                        <a:ea typeface="Times New Roman"/>
                        <a:cs typeface="Times New Roman"/>
                        <a:sym typeface="Times New Roman"/>
                      </a:endParaRPr>
                    </a:p>
                  </a:txBody>
                  <a:tcPr marT="95250" marB="95250" marR="95250" marL="95250" anchor="ctr">
                    <a:lnL cap="flat" cmpd="sng" w="7925">
                      <a:solidFill>
                        <a:srgbClr val="9E9E9E"/>
                      </a:solidFill>
                      <a:prstDash val="solid"/>
                      <a:round/>
                      <a:headEnd len="sm" w="sm" type="none"/>
                      <a:tailEnd len="sm" w="sm" type="none"/>
                    </a:lnL>
                    <a:lnR cap="flat" cmpd="sng" w="7925">
                      <a:solidFill>
                        <a:srgbClr val="9E9E9E"/>
                      </a:solidFill>
                      <a:prstDash val="solid"/>
                      <a:round/>
                      <a:headEnd len="sm" w="sm" type="none"/>
                      <a:tailEnd len="sm" w="sm" type="none"/>
                    </a:lnR>
                    <a:lnT cap="flat" cmpd="sng" w="7925">
                      <a:solidFill>
                        <a:srgbClr val="9E9E9E"/>
                      </a:solidFill>
                      <a:prstDash val="solid"/>
                      <a:round/>
                      <a:headEnd len="sm" w="sm" type="none"/>
                      <a:tailEnd len="sm" w="sm" type="none"/>
                    </a:lnT>
                    <a:lnB cap="flat" cmpd="sng" w="7925">
                      <a:solidFill>
                        <a:srgbClr val="9E9E9E"/>
                      </a:solidFill>
                      <a:prstDash val="solid"/>
                      <a:round/>
                      <a:headEnd len="sm" w="sm" type="none"/>
                      <a:tailEnd len="sm" w="sm" type="none"/>
                    </a:lnB>
                  </a:tcPr>
                </a:tc>
                <a:tc>
                  <a:txBody>
                    <a:bodyPr/>
                    <a:lstStyle/>
                    <a:p>
                      <a:pPr indent="0" lvl="0" marL="0" rtl="0" algn="ctr">
                        <a:lnSpc>
                          <a:spcPct val="120000"/>
                        </a:lnSpc>
                        <a:spcBef>
                          <a:spcPts val="0"/>
                        </a:spcBef>
                        <a:spcAft>
                          <a:spcPts val="0"/>
                        </a:spcAft>
                        <a:buNone/>
                      </a:pPr>
                      <a:r>
                        <a:rPr b="1" lang="en-US" sz="1150">
                          <a:latin typeface="Times New Roman"/>
                          <a:ea typeface="Times New Roman"/>
                          <a:cs typeface="Times New Roman"/>
                          <a:sym typeface="Times New Roman"/>
                        </a:rPr>
                        <a:t>Title of the Paper</a:t>
                      </a:r>
                      <a:endParaRPr b="1" sz="1150">
                        <a:latin typeface="Times New Roman"/>
                        <a:ea typeface="Times New Roman"/>
                        <a:cs typeface="Times New Roman"/>
                        <a:sym typeface="Times New Roman"/>
                      </a:endParaRPr>
                    </a:p>
                  </a:txBody>
                  <a:tcPr marT="95250" marB="95250" marR="95250" marL="95250" anchor="ctr">
                    <a:lnL cap="flat" cmpd="sng" w="7925">
                      <a:solidFill>
                        <a:srgbClr val="9E9E9E"/>
                      </a:solidFill>
                      <a:prstDash val="solid"/>
                      <a:round/>
                      <a:headEnd len="sm" w="sm" type="none"/>
                      <a:tailEnd len="sm" w="sm" type="none"/>
                    </a:lnL>
                    <a:lnR cap="flat" cmpd="sng" w="7925">
                      <a:solidFill>
                        <a:srgbClr val="9E9E9E"/>
                      </a:solidFill>
                      <a:prstDash val="solid"/>
                      <a:round/>
                      <a:headEnd len="sm" w="sm" type="none"/>
                      <a:tailEnd len="sm" w="sm" type="none"/>
                    </a:lnR>
                    <a:lnT cap="flat" cmpd="sng" w="7925">
                      <a:solidFill>
                        <a:srgbClr val="9E9E9E"/>
                      </a:solidFill>
                      <a:prstDash val="solid"/>
                      <a:round/>
                      <a:headEnd len="sm" w="sm" type="none"/>
                      <a:tailEnd len="sm" w="sm" type="none"/>
                    </a:lnT>
                    <a:lnB cap="flat" cmpd="sng" w="7925">
                      <a:solidFill>
                        <a:srgbClr val="9E9E9E"/>
                      </a:solidFill>
                      <a:prstDash val="solid"/>
                      <a:round/>
                      <a:headEnd len="sm" w="sm" type="none"/>
                      <a:tailEnd len="sm" w="sm" type="none"/>
                    </a:lnB>
                  </a:tcPr>
                </a:tc>
                <a:tc>
                  <a:txBody>
                    <a:bodyPr/>
                    <a:lstStyle/>
                    <a:p>
                      <a:pPr indent="0" lvl="0" marL="0" rtl="0" algn="ctr">
                        <a:lnSpc>
                          <a:spcPct val="120000"/>
                        </a:lnSpc>
                        <a:spcBef>
                          <a:spcPts val="0"/>
                        </a:spcBef>
                        <a:spcAft>
                          <a:spcPts val="0"/>
                        </a:spcAft>
                        <a:buNone/>
                      </a:pPr>
                      <a:r>
                        <a:rPr b="1" lang="en-US" sz="1150">
                          <a:latin typeface="Times New Roman"/>
                          <a:ea typeface="Times New Roman"/>
                          <a:cs typeface="Times New Roman"/>
                          <a:sym typeface="Times New Roman"/>
                        </a:rPr>
                        <a:t>Descriptions</a:t>
                      </a:r>
                      <a:endParaRPr b="1" sz="1150">
                        <a:latin typeface="Times New Roman"/>
                        <a:ea typeface="Times New Roman"/>
                        <a:cs typeface="Times New Roman"/>
                        <a:sym typeface="Times New Roman"/>
                      </a:endParaRPr>
                    </a:p>
                  </a:txBody>
                  <a:tcPr marT="95250" marB="95250" marR="95250" marL="95250" anchor="ctr">
                    <a:lnL cap="flat" cmpd="sng" w="7925">
                      <a:solidFill>
                        <a:srgbClr val="9E9E9E"/>
                      </a:solidFill>
                      <a:prstDash val="solid"/>
                      <a:round/>
                      <a:headEnd len="sm" w="sm" type="none"/>
                      <a:tailEnd len="sm" w="sm" type="none"/>
                    </a:lnL>
                    <a:lnR cap="flat" cmpd="sng" w="7925">
                      <a:solidFill>
                        <a:srgbClr val="9E9E9E"/>
                      </a:solidFill>
                      <a:prstDash val="solid"/>
                      <a:round/>
                      <a:headEnd len="sm" w="sm" type="none"/>
                      <a:tailEnd len="sm" w="sm" type="none"/>
                    </a:lnR>
                    <a:lnT cap="flat" cmpd="sng" w="79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20000"/>
                        </a:lnSpc>
                        <a:spcBef>
                          <a:spcPts val="0"/>
                        </a:spcBef>
                        <a:spcAft>
                          <a:spcPts val="0"/>
                        </a:spcAft>
                        <a:buNone/>
                      </a:pPr>
                      <a:r>
                        <a:rPr b="1" lang="en-US" sz="1150">
                          <a:latin typeface="Times New Roman"/>
                          <a:ea typeface="Times New Roman"/>
                          <a:cs typeface="Times New Roman"/>
                          <a:sym typeface="Times New Roman"/>
                        </a:rPr>
                        <a:t>Results</a:t>
                      </a:r>
                      <a:endParaRPr b="1" sz="1150">
                        <a:latin typeface="Times New Roman"/>
                        <a:ea typeface="Times New Roman"/>
                        <a:cs typeface="Times New Roman"/>
                        <a:sym typeface="Times New Roman"/>
                      </a:endParaRPr>
                    </a:p>
                  </a:txBody>
                  <a:tcPr marT="95250" marB="95250" marR="95250" marL="95250" anchor="ctr">
                    <a:lnL cap="flat" cmpd="sng" w="7925">
                      <a:solidFill>
                        <a:srgbClr val="9E9E9E"/>
                      </a:solidFill>
                      <a:prstDash val="solid"/>
                      <a:round/>
                      <a:headEnd len="sm" w="sm" type="none"/>
                      <a:tailEnd len="sm" w="sm" type="none"/>
                    </a:lnL>
                    <a:lnR cap="flat" cmpd="sng" w="7925">
                      <a:solidFill>
                        <a:srgbClr val="9E9E9E"/>
                      </a:solidFill>
                      <a:prstDash val="solid"/>
                      <a:round/>
                      <a:headEnd len="sm" w="sm" type="none"/>
                      <a:tailEnd len="sm" w="sm" type="none"/>
                    </a:lnR>
                    <a:lnT cap="flat" cmpd="sng" w="79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20000"/>
                        </a:lnSpc>
                        <a:spcBef>
                          <a:spcPts val="0"/>
                        </a:spcBef>
                        <a:spcAft>
                          <a:spcPts val="0"/>
                        </a:spcAft>
                        <a:buNone/>
                      </a:pPr>
                      <a:r>
                        <a:rPr b="1" lang="en-US" sz="1150">
                          <a:latin typeface="Times New Roman"/>
                          <a:ea typeface="Times New Roman"/>
                          <a:cs typeface="Times New Roman"/>
                          <a:sym typeface="Times New Roman"/>
                        </a:rPr>
                        <a:t>Limitations</a:t>
                      </a:r>
                      <a:endParaRPr b="1" sz="1150">
                        <a:latin typeface="Times New Roman"/>
                        <a:ea typeface="Times New Roman"/>
                        <a:cs typeface="Times New Roman"/>
                        <a:sym typeface="Times New Roman"/>
                      </a:endParaRPr>
                    </a:p>
                  </a:txBody>
                  <a:tcPr marT="95250" marB="95250" marR="95250" marL="95250" anchor="ctr">
                    <a:lnL cap="flat" cmpd="sng" w="7925">
                      <a:solidFill>
                        <a:srgbClr val="9E9E9E"/>
                      </a:solidFill>
                      <a:prstDash val="solid"/>
                      <a:round/>
                      <a:headEnd len="sm" w="sm" type="none"/>
                      <a:tailEnd len="sm" w="sm" type="none"/>
                    </a:lnL>
                    <a:lnR cap="flat" cmpd="sng" w="7925">
                      <a:solidFill>
                        <a:srgbClr val="9E9E9E"/>
                      </a:solidFill>
                      <a:prstDash val="solid"/>
                      <a:round/>
                      <a:headEnd len="sm" w="sm" type="none"/>
                      <a:tailEnd len="sm" w="sm" type="none"/>
                    </a:lnR>
                    <a:lnT cap="flat" cmpd="sng" w="7925">
                      <a:solidFill>
                        <a:srgbClr val="9E9E9E"/>
                      </a:solidFill>
                      <a:prstDash val="solid"/>
                      <a:round/>
                      <a:headEnd len="sm" w="sm" type="none"/>
                      <a:tailEnd len="sm" w="sm" type="none"/>
                    </a:lnT>
                    <a:lnB cap="flat" cmpd="sng" w="7925">
                      <a:solidFill>
                        <a:srgbClr val="9E9E9E"/>
                      </a:solidFill>
                      <a:prstDash val="solid"/>
                      <a:round/>
                      <a:headEnd len="sm" w="sm" type="none"/>
                      <a:tailEnd len="sm" w="sm" type="none"/>
                    </a:lnB>
                  </a:tcPr>
                </a:tc>
              </a:tr>
              <a:tr h="1876425">
                <a:tc>
                  <a:txBody>
                    <a:bodyPr/>
                    <a:lstStyle/>
                    <a:p>
                      <a:pPr indent="0" lvl="0" marL="0" rtl="0" algn="ctr">
                        <a:lnSpc>
                          <a:spcPct val="120000"/>
                        </a:lnSpc>
                        <a:spcBef>
                          <a:spcPts val="0"/>
                        </a:spcBef>
                        <a:spcAft>
                          <a:spcPts val="0"/>
                        </a:spcAft>
                        <a:buNone/>
                      </a:pPr>
                      <a:r>
                        <a:rPr lang="en-US" sz="1150">
                          <a:latin typeface="Times New Roman"/>
                          <a:ea typeface="Times New Roman"/>
                          <a:cs typeface="Times New Roman"/>
                          <a:sym typeface="Times New Roman"/>
                        </a:rPr>
                        <a:t>3</a:t>
                      </a:r>
                      <a:r>
                        <a:rPr lang="en-US" sz="1150">
                          <a:latin typeface="Times New Roman"/>
                          <a:ea typeface="Times New Roman"/>
                          <a:cs typeface="Times New Roman"/>
                          <a:sym typeface="Times New Roman"/>
                        </a:rPr>
                        <a:t>. </a:t>
                      </a:r>
                      <a:endParaRPr sz="1150">
                        <a:latin typeface="Times New Roman"/>
                        <a:ea typeface="Times New Roman"/>
                        <a:cs typeface="Times New Roman"/>
                        <a:sym typeface="Times New Roman"/>
                      </a:endParaRPr>
                    </a:p>
                  </a:txBody>
                  <a:tcPr marT="95250" marB="95250" marR="95250" marL="95250" anchor="ctr">
                    <a:lnL cap="flat" cmpd="sng" w="7925">
                      <a:solidFill>
                        <a:srgbClr val="9E9E9E"/>
                      </a:solidFill>
                      <a:prstDash val="solid"/>
                      <a:round/>
                      <a:headEnd len="sm" w="sm" type="none"/>
                      <a:tailEnd len="sm" w="sm" type="none"/>
                    </a:lnL>
                    <a:lnR cap="flat" cmpd="sng" w="7925">
                      <a:solidFill>
                        <a:srgbClr val="9E9E9E"/>
                      </a:solidFill>
                      <a:prstDash val="solid"/>
                      <a:round/>
                      <a:headEnd len="sm" w="sm" type="none"/>
                      <a:tailEnd len="sm" w="sm" type="none"/>
                    </a:lnR>
                    <a:lnT cap="flat" cmpd="sng" w="7925">
                      <a:solidFill>
                        <a:srgbClr val="9E9E9E"/>
                      </a:solidFill>
                      <a:prstDash val="solid"/>
                      <a:round/>
                      <a:headEnd len="sm" w="sm" type="none"/>
                      <a:tailEnd len="sm" w="sm" type="none"/>
                    </a:lnT>
                    <a:lnB cap="flat" cmpd="sng" w="7925">
                      <a:solidFill>
                        <a:srgbClr val="9E9E9E"/>
                      </a:solidFill>
                      <a:prstDash val="solid"/>
                      <a:round/>
                      <a:headEnd len="sm" w="sm" type="none"/>
                      <a:tailEnd len="sm" w="sm" type="none"/>
                    </a:lnB>
                  </a:tcPr>
                </a:tc>
                <a:tc>
                  <a:txBody>
                    <a:bodyPr/>
                    <a:lstStyle/>
                    <a:p>
                      <a:pPr indent="0" lvl="0" marL="0" rtl="0" algn="just">
                        <a:lnSpc>
                          <a:spcPct val="138000"/>
                        </a:lnSpc>
                        <a:spcBef>
                          <a:spcPts val="0"/>
                        </a:spcBef>
                        <a:spcAft>
                          <a:spcPts val="0"/>
                        </a:spcAft>
                        <a:buNone/>
                      </a:pPr>
                      <a:r>
                        <a:rPr b="1" lang="en-US" sz="1150">
                          <a:solidFill>
                            <a:srgbClr val="222222"/>
                          </a:solidFill>
                          <a:latin typeface="Times New Roman"/>
                          <a:ea typeface="Times New Roman"/>
                          <a:cs typeface="Times New Roman"/>
                          <a:sym typeface="Times New Roman"/>
                        </a:rPr>
                        <a:t>AI-Based Web Vulnerability Scanner: A Comprehensive Review</a:t>
                      </a:r>
                      <a:r>
                        <a:rPr b="1" lang="en-US" sz="1150">
                          <a:solidFill>
                            <a:srgbClr val="222222"/>
                          </a:solidFill>
                          <a:uFill>
                            <a:noFill/>
                          </a:uFill>
                          <a:latin typeface="Times New Roman"/>
                          <a:ea typeface="Times New Roman"/>
                          <a:cs typeface="Times New Roman"/>
                          <a:sym typeface="Times New Roman"/>
                          <a:hlinkClick r:id="rId3">
                            <a:extLst>
                              <a:ext uri="{A12FA001-AC4F-418D-AE19-62706E023703}">
                                <ahyp:hlinkClr val="tx"/>
                              </a:ext>
                            </a:extLst>
                          </a:hlinkClick>
                        </a:rPr>
                        <a:t> </a:t>
                      </a:r>
                      <a:r>
                        <a:rPr b="1" lang="en-US" sz="1150" u="sng">
                          <a:solidFill>
                            <a:schemeClr val="hlink"/>
                          </a:solidFill>
                          <a:latin typeface="Times New Roman"/>
                          <a:ea typeface="Times New Roman"/>
                          <a:cs typeface="Times New Roman"/>
                          <a:sym typeface="Times New Roman"/>
                          <a:hlinkClick r:id="rId4"/>
                        </a:rPr>
                        <a:t>[3]</a:t>
                      </a:r>
                      <a:endParaRPr b="1" sz="1200">
                        <a:highlight>
                          <a:srgbClr val="FFFFFF"/>
                        </a:highlight>
                        <a:latin typeface="Times New Roman"/>
                        <a:ea typeface="Times New Roman"/>
                        <a:cs typeface="Times New Roman"/>
                        <a:sym typeface="Times New Roman"/>
                      </a:endParaRPr>
                    </a:p>
                  </a:txBody>
                  <a:tcPr marT="95250" marB="95250" marR="95250" marL="95250" anchor="ctr">
                    <a:lnL cap="flat" cmpd="sng" w="79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7925">
                      <a:solidFill>
                        <a:srgbClr val="9E9E9E"/>
                      </a:solidFill>
                      <a:prstDash val="solid"/>
                      <a:round/>
                      <a:headEnd len="sm" w="sm" type="none"/>
                      <a:tailEnd len="sm" w="sm" type="none"/>
                    </a:lnT>
                    <a:lnB cap="flat" cmpd="sng" w="7925">
                      <a:solidFill>
                        <a:srgbClr val="9E9E9E"/>
                      </a:solidFill>
                      <a:prstDash val="solid"/>
                      <a:round/>
                      <a:headEnd len="sm" w="sm" type="none"/>
                      <a:tailEnd len="sm" w="sm" type="none"/>
                    </a:lnB>
                  </a:tcPr>
                </a:tc>
                <a:tc>
                  <a:txBody>
                    <a:bodyPr/>
                    <a:lstStyle/>
                    <a:p>
                      <a:pPr indent="0" lvl="0" marL="0" rtl="0" algn="just">
                        <a:lnSpc>
                          <a:spcPct val="115000"/>
                        </a:lnSpc>
                        <a:spcBef>
                          <a:spcPts val="1200"/>
                        </a:spcBef>
                        <a:spcAft>
                          <a:spcPts val="1200"/>
                        </a:spcAft>
                        <a:buNone/>
                      </a:pPr>
                      <a:r>
                        <a:rPr lang="en-US" sz="1100">
                          <a:solidFill>
                            <a:schemeClr val="dk1"/>
                          </a:solidFill>
                          <a:latin typeface="Times New Roman"/>
                          <a:ea typeface="Times New Roman"/>
                          <a:cs typeface="Times New Roman"/>
                          <a:sym typeface="Times New Roman"/>
                        </a:rPr>
                        <a:t>The document reviews AI-powered web vulnerability scanners that improve accuracy by analyzing web traffic and code patterns to detect threats like SQL injection and XSS. It highlights a scorecard system that prioritizes vulnerabilities by risk, enabling efficient remediation.</a:t>
                      </a:r>
                      <a:endParaRPr sz="1100">
                        <a:solidFill>
                          <a:schemeClr val="dk1"/>
                        </a:solidFill>
                        <a:latin typeface="Times New Roman"/>
                        <a:ea typeface="Times New Roman"/>
                        <a:cs typeface="Times New Roman"/>
                        <a:sym typeface="Times New Roman"/>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just">
                        <a:lnSpc>
                          <a:spcPct val="115000"/>
                        </a:lnSpc>
                        <a:spcBef>
                          <a:spcPts val="1200"/>
                        </a:spcBef>
                        <a:spcAft>
                          <a:spcPts val="1200"/>
                        </a:spcAft>
                        <a:buNone/>
                      </a:pPr>
                      <a:r>
                        <a:rPr lang="en-US" sz="1100">
                          <a:solidFill>
                            <a:schemeClr val="dk1"/>
                          </a:solidFill>
                          <a:latin typeface="Times New Roman"/>
                          <a:ea typeface="Times New Roman"/>
                          <a:cs typeface="Times New Roman"/>
                          <a:sym typeface="Times New Roman"/>
                        </a:rPr>
                        <a:t>The conclusion highlights that AI-enhanced vulnerability scanners significantly improve web security by increasing detection accuracy, reducing false positives, and prioritizing risks effectively through a scorecard system. This approach enables faster, focused remediation of critical threats and adapts continuously to emerging vulnerabilities. </a:t>
                      </a:r>
                      <a:endParaRPr sz="1100">
                        <a:solidFill>
                          <a:schemeClr val="dk1"/>
                        </a:solidFill>
                        <a:latin typeface="Times New Roman"/>
                        <a:ea typeface="Times New Roman"/>
                        <a:cs typeface="Times New Roman"/>
                        <a:sym typeface="Times New Roman"/>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US" sz="1100">
                          <a:solidFill>
                            <a:schemeClr val="dk1"/>
                          </a:solidFill>
                          <a:latin typeface="Times New Roman"/>
                          <a:ea typeface="Times New Roman"/>
                          <a:cs typeface="Times New Roman"/>
                          <a:sym typeface="Times New Roman"/>
                        </a:rPr>
                        <a:t>Lack of Labeled Data:</a:t>
                      </a:r>
                      <a:r>
                        <a:rPr lang="en-US" sz="1100">
                          <a:solidFill>
                            <a:schemeClr val="dk1"/>
                          </a:solidFill>
                          <a:latin typeface="Times New Roman"/>
                          <a:ea typeface="Times New Roman"/>
                          <a:cs typeface="Times New Roman"/>
                          <a:sym typeface="Times New Roman"/>
                        </a:rPr>
                        <a:t> A scarcity of high-quality training data can reduce the AI's accuracy and lead to "overfitting."</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lang="en-US" sz="1100">
                          <a:solidFill>
                            <a:schemeClr val="dk1"/>
                          </a:solidFill>
                          <a:latin typeface="Times New Roman"/>
                          <a:ea typeface="Times New Roman"/>
                          <a:cs typeface="Times New Roman"/>
                          <a:sym typeface="Times New Roman"/>
                        </a:rPr>
                        <a:t>Handling Novel Attacks:</a:t>
                      </a:r>
                      <a:r>
                        <a:rPr lang="en-US" sz="1100">
                          <a:solidFill>
                            <a:schemeClr val="dk1"/>
                          </a:solidFill>
                          <a:latin typeface="Times New Roman"/>
                          <a:ea typeface="Times New Roman"/>
                          <a:cs typeface="Times New Roman"/>
                          <a:sym typeface="Times New Roman"/>
                        </a:rPr>
                        <a:t> The AI struggles to detect new, unknown attack vectors (zero-day threats) until they are added to its training set.</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n-US" sz="1100">
                          <a:solidFill>
                            <a:schemeClr val="dk1"/>
                          </a:solidFill>
                          <a:latin typeface="Times New Roman"/>
                          <a:ea typeface="Times New Roman"/>
                          <a:cs typeface="Times New Roman"/>
                          <a:sym typeface="Times New Roman"/>
                        </a:rPr>
                        <a:t>Model Interpretability:</a:t>
                      </a:r>
                      <a:r>
                        <a:rPr lang="en-US" sz="1100">
                          <a:solidFill>
                            <a:schemeClr val="dk1"/>
                          </a:solidFill>
                          <a:latin typeface="Times New Roman"/>
                          <a:ea typeface="Times New Roman"/>
                          <a:cs typeface="Times New Roman"/>
                          <a:sym typeface="Times New Roman"/>
                        </a:rPr>
                        <a:t> The AI is a "black box," making it difficult to understand </a:t>
                      </a:r>
                      <a:r>
                        <a:rPr i="1" lang="en-US" sz="1100">
                          <a:solidFill>
                            <a:schemeClr val="dk1"/>
                          </a:solidFill>
                          <a:latin typeface="Times New Roman"/>
                          <a:ea typeface="Times New Roman"/>
                          <a:cs typeface="Times New Roman"/>
                          <a:sym typeface="Times New Roman"/>
                        </a:rPr>
                        <a:t>how</a:t>
                      </a:r>
                      <a:r>
                        <a:rPr lang="en-US" sz="1100">
                          <a:solidFill>
                            <a:schemeClr val="dk1"/>
                          </a:solidFill>
                          <a:latin typeface="Times New Roman"/>
                          <a:ea typeface="Times New Roman"/>
                          <a:cs typeface="Times New Roman"/>
                          <a:sym typeface="Times New Roman"/>
                        </a:rPr>
                        <a:t> it reaches a decision, which is a problem for teams who need to trust and verify its findings.</a:t>
                      </a:r>
                      <a:endParaRPr b="1" sz="1100">
                        <a:solidFill>
                          <a:schemeClr val="dk1"/>
                        </a:solidFill>
                        <a:latin typeface="Times New Roman"/>
                        <a:ea typeface="Times New Roman"/>
                        <a:cs typeface="Times New Roman"/>
                        <a:sym typeface="Times New Roman"/>
                      </a:endParaRPr>
                    </a:p>
                  </a:txBody>
                  <a:tcPr marT="95250" marB="95250" marR="95250" marL="95250" anchor="ctr">
                    <a:lnL cap="flat" cmpd="sng" w="9525">
                      <a:solidFill>
                        <a:srgbClr val="9E9E9E"/>
                      </a:solidFill>
                      <a:prstDash val="solid"/>
                      <a:round/>
                      <a:headEnd len="sm" w="sm" type="none"/>
                      <a:tailEnd len="sm" w="sm" type="none"/>
                    </a:lnL>
                    <a:lnR cap="flat" cmpd="sng" w="7925">
                      <a:solidFill>
                        <a:srgbClr val="9E9E9E"/>
                      </a:solidFill>
                      <a:prstDash val="solid"/>
                      <a:round/>
                      <a:headEnd len="sm" w="sm" type="none"/>
                      <a:tailEnd len="sm" w="sm" type="none"/>
                    </a:lnR>
                    <a:lnT cap="flat" cmpd="sng" w="7925">
                      <a:solidFill>
                        <a:srgbClr val="9E9E9E"/>
                      </a:solidFill>
                      <a:prstDash val="solid"/>
                      <a:round/>
                      <a:headEnd len="sm" w="sm" type="none"/>
                      <a:tailEnd len="sm" w="sm" type="none"/>
                    </a:lnT>
                    <a:lnB cap="flat" cmpd="sng" w="7925">
                      <a:solidFill>
                        <a:srgbClr val="9E9E9E"/>
                      </a:solidFill>
                      <a:prstDash val="solid"/>
                      <a:round/>
                      <a:headEnd len="sm" w="sm" type="none"/>
                      <a:tailEnd len="sm" w="sm" type="none"/>
                    </a:lnB>
                  </a:tcPr>
                </a:tc>
              </a:tr>
              <a:tr h="1447800">
                <a:tc>
                  <a:txBody>
                    <a:bodyPr/>
                    <a:lstStyle/>
                    <a:p>
                      <a:pPr indent="0" lvl="0" marL="0" rtl="0" algn="ctr">
                        <a:lnSpc>
                          <a:spcPct val="120000"/>
                        </a:lnSpc>
                        <a:spcBef>
                          <a:spcPts val="0"/>
                        </a:spcBef>
                        <a:spcAft>
                          <a:spcPts val="0"/>
                        </a:spcAft>
                        <a:buNone/>
                      </a:pPr>
                      <a:r>
                        <a:rPr lang="en-US" sz="1150">
                          <a:latin typeface="Times New Roman"/>
                          <a:ea typeface="Times New Roman"/>
                          <a:cs typeface="Times New Roman"/>
                          <a:sym typeface="Times New Roman"/>
                        </a:rPr>
                        <a:t>4</a:t>
                      </a:r>
                      <a:r>
                        <a:rPr lang="en-US" sz="1150">
                          <a:latin typeface="Times New Roman"/>
                          <a:ea typeface="Times New Roman"/>
                          <a:cs typeface="Times New Roman"/>
                          <a:sym typeface="Times New Roman"/>
                        </a:rPr>
                        <a:t>. </a:t>
                      </a:r>
                      <a:endParaRPr sz="1150">
                        <a:latin typeface="Times New Roman"/>
                        <a:ea typeface="Times New Roman"/>
                        <a:cs typeface="Times New Roman"/>
                        <a:sym typeface="Times New Roman"/>
                      </a:endParaRPr>
                    </a:p>
                  </a:txBody>
                  <a:tcPr marT="95250" marB="95250" marR="95250" marL="95250" anchor="ctr">
                    <a:lnL cap="flat" cmpd="sng" w="7925">
                      <a:solidFill>
                        <a:srgbClr val="9E9E9E"/>
                      </a:solidFill>
                      <a:prstDash val="solid"/>
                      <a:round/>
                      <a:headEnd len="sm" w="sm" type="none"/>
                      <a:tailEnd len="sm" w="sm" type="none"/>
                    </a:lnL>
                    <a:lnR cap="flat" cmpd="sng" w="7925">
                      <a:solidFill>
                        <a:srgbClr val="9E9E9E"/>
                      </a:solidFill>
                      <a:prstDash val="solid"/>
                      <a:round/>
                      <a:headEnd len="sm" w="sm" type="none"/>
                      <a:tailEnd len="sm" w="sm" type="none"/>
                    </a:lnR>
                    <a:lnT cap="flat" cmpd="sng" w="7925">
                      <a:solidFill>
                        <a:srgbClr val="9E9E9E"/>
                      </a:solidFill>
                      <a:prstDash val="solid"/>
                      <a:round/>
                      <a:headEnd len="sm" w="sm" type="none"/>
                      <a:tailEnd len="sm" w="sm" type="none"/>
                    </a:lnT>
                    <a:lnB cap="flat" cmpd="sng" w="7925">
                      <a:solidFill>
                        <a:srgbClr val="9E9E9E"/>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b="1" lang="en-US" sz="1150">
                          <a:solidFill>
                            <a:srgbClr val="343434"/>
                          </a:solidFill>
                          <a:latin typeface="Times New Roman"/>
                          <a:ea typeface="Times New Roman"/>
                          <a:cs typeface="Times New Roman"/>
                          <a:sym typeface="Times New Roman"/>
                        </a:rPr>
                        <a:t>An Automatic Vulnerability Scanner for Web Applications with Firewall Techniques </a:t>
                      </a:r>
                      <a:r>
                        <a:rPr b="1" lang="en-US" sz="1150" u="sng">
                          <a:solidFill>
                            <a:schemeClr val="hlink"/>
                          </a:solidFill>
                          <a:latin typeface="Times New Roman"/>
                          <a:ea typeface="Times New Roman"/>
                          <a:cs typeface="Times New Roman"/>
                          <a:sym typeface="Times New Roman"/>
                          <a:hlinkClick r:id="rId5"/>
                        </a:rPr>
                        <a:t>[4]</a:t>
                      </a:r>
                      <a:endParaRPr b="1" sz="1000">
                        <a:latin typeface="Times New Roman"/>
                        <a:ea typeface="Times New Roman"/>
                        <a:cs typeface="Times New Roman"/>
                        <a:sym typeface="Times New Roman"/>
                      </a:endParaRPr>
                    </a:p>
                  </a:txBody>
                  <a:tcPr marT="95250" marB="95250" marR="95250" marL="95250" anchor="ctr">
                    <a:lnL cap="flat" cmpd="sng" w="79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7925">
                      <a:solidFill>
                        <a:srgbClr val="9E9E9E"/>
                      </a:solidFill>
                      <a:prstDash val="solid"/>
                      <a:round/>
                      <a:headEnd len="sm" w="sm" type="none"/>
                      <a:tailEnd len="sm" w="sm" type="none"/>
                    </a:lnT>
                    <a:lnB cap="flat" cmpd="sng" w="7925">
                      <a:solidFill>
                        <a:srgbClr val="9E9E9E"/>
                      </a:solidFill>
                      <a:prstDash val="solid"/>
                      <a:round/>
                      <a:headEnd len="sm" w="sm" type="none"/>
                      <a:tailEnd len="sm" w="sm" type="none"/>
                    </a:lnB>
                  </a:tcPr>
                </a:tc>
                <a:tc>
                  <a:txBody>
                    <a:bodyPr/>
                    <a:lstStyle/>
                    <a:p>
                      <a:pPr indent="0" lvl="0" marL="0" rtl="0" algn="just">
                        <a:lnSpc>
                          <a:spcPct val="115000"/>
                        </a:lnSpc>
                        <a:spcBef>
                          <a:spcPts val="1200"/>
                        </a:spcBef>
                        <a:spcAft>
                          <a:spcPts val="1200"/>
                        </a:spcAft>
                        <a:buNone/>
                      </a:pPr>
                      <a:r>
                        <a:rPr lang="en-US" sz="1100">
                          <a:solidFill>
                            <a:schemeClr val="dk1"/>
                          </a:solidFill>
                          <a:latin typeface="Times New Roman"/>
                          <a:ea typeface="Times New Roman"/>
                          <a:cs typeface="Times New Roman"/>
                          <a:sym typeface="Times New Roman"/>
                        </a:rPr>
                        <a:t>Key features of a web vulnerability scanner include automated asset discovery, comprehensive vulnerability detection, risk-based prioritization, and detailed actionable reports.</a:t>
                      </a:r>
                      <a:endParaRPr sz="1100">
                        <a:solidFill>
                          <a:schemeClr val="dk1"/>
                        </a:solidFill>
                        <a:latin typeface="Times New Roman"/>
                        <a:ea typeface="Times New Roman"/>
                        <a:cs typeface="Times New Roman"/>
                        <a:sym typeface="Times New Roman"/>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just">
                        <a:lnSpc>
                          <a:spcPct val="115000"/>
                        </a:lnSpc>
                        <a:spcBef>
                          <a:spcPts val="1200"/>
                        </a:spcBef>
                        <a:spcAft>
                          <a:spcPts val="1200"/>
                        </a:spcAft>
                        <a:buNone/>
                      </a:pPr>
                      <a:r>
                        <a:rPr lang="en-US" sz="1100">
                          <a:solidFill>
                            <a:schemeClr val="dk1"/>
                          </a:solidFill>
                          <a:latin typeface="Times New Roman"/>
                          <a:ea typeface="Times New Roman"/>
                          <a:cs typeface="Times New Roman"/>
                          <a:sym typeface="Times New Roman"/>
                        </a:rPr>
                        <a:t>The paper concludes that combining automated vulnerability scanning tools with manual testing provides the most effective cybersecurity assessment. The developed scanner is flexible and customizable, capable of detecting various web and network threats.</a:t>
                      </a:r>
                      <a:endParaRPr sz="1100">
                        <a:solidFill>
                          <a:schemeClr val="dk1"/>
                        </a:solidFill>
                        <a:latin typeface="Times New Roman"/>
                        <a:ea typeface="Times New Roman"/>
                        <a:cs typeface="Times New Roman"/>
                        <a:sym typeface="Times New Roman"/>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US" sz="1100">
                          <a:solidFill>
                            <a:schemeClr val="dk1"/>
                          </a:solidFill>
                          <a:latin typeface="Times New Roman"/>
                          <a:ea typeface="Times New Roman"/>
                          <a:cs typeface="Times New Roman"/>
                          <a:sym typeface="Times New Roman"/>
                        </a:rPr>
                        <a:t>Requires Manual Testing:</a:t>
                      </a:r>
                      <a:r>
                        <a:rPr lang="en-US" sz="1100">
                          <a:solidFill>
                            <a:schemeClr val="dk1"/>
                          </a:solidFill>
                          <a:latin typeface="Times New Roman"/>
                          <a:ea typeface="Times New Roman"/>
                          <a:cs typeface="Times New Roman"/>
                          <a:sym typeface="Times New Roman"/>
                        </a:rPr>
                        <a:t> The tool supplements, but does not replace, manual expert testing.</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lang="en-US" sz="1100">
                          <a:solidFill>
                            <a:schemeClr val="dk1"/>
                          </a:solidFill>
                          <a:latin typeface="Times New Roman"/>
                          <a:ea typeface="Times New Roman"/>
                          <a:cs typeface="Times New Roman"/>
                          <a:sym typeface="Times New Roman"/>
                        </a:rPr>
                        <a:t>Dependent on Updates:</a:t>
                      </a:r>
                      <a:r>
                        <a:rPr lang="en-US" sz="1100">
                          <a:solidFill>
                            <a:schemeClr val="dk1"/>
                          </a:solidFill>
                          <a:latin typeface="Times New Roman"/>
                          <a:ea typeface="Times New Roman"/>
                          <a:cs typeface="Times New Roman"/>
                          <a:sym typeface="Times New Roman"/>
                        </a:rPr>
                        <a:t> Effectiveness relies on constant updates to its vulnerability database.</a:t>
                      </a:r>
                      <a:endParaRPr sz="1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n-US" sz="1100">
                          <a:solidFill>
                            <a:schemeClr val="dk1"/>
                          </a:solidFill>
                          <a:latin typeface="Times New Roman"/>
                          <a:ea typeface="Times New Roman"/>
                          <a:cs typeface="Times New Roman"/>
                          <a:sym typeface="Times New Roman"/>
                        </a:rPr>
                        <a:t>Finds Only Known Flaws:</a:t>
                      </a:r>
                      <a:r>
                        <a:rPr lang="en-US" sz="1100">
                          <a:solidFill>
                            <a:schemeClr val="dk1"/>
                          </a:solidFill>
                          <a:latin typeface="Times New Roman"/>
                          <a:ea typeface="Times New Roman"/>
                          <a:cs typeface="Times New Roman"/>
                          <a:sym typeface="Times New Roman"/>
                        </a:rPr>
                        <a:t> It is signature-based, so it cannot detect new or zero-day exploits.</a:t>
                      </a:r>
                      <a:endParaRPr sz="1150">
                        <a:latin typeface="Times New Roman"/>
                        <a:ea typeface="Times New Roman"/>
                        <a:cs typeface="Times New Roman"/>
                        <a:sym typeface="Times New Roman"/>
                      </a:endParaRPr>
                    </a:p>
                  </a:txBody>
                  <a:tcPr marT="95250" marB="95250" marR="95250" marL="95250" anchor="ctr">
                    <a:lnL cap="flat" cmpd="sng" w="9525">
                      <a:solidFill>
                        <a:srgbClr val="9E9E9E"/>
                      </a:solidFill>
                      <a:prstDash val="solid"/>
                      <a:round/>
                      <a:headEnd len="sm" w="sm" type="none"/>
                      <a:tailEnd len="sm" w="sm" type="none"/>
                    </a:lnL>
                    <a:lnR cap="flat" cmpd="sng" w="7925">
                      <a:solidFill>
                        <a:srgbClr val="9E9E9E"/>
                      </a:solidFill>
                      <a:prstDash val="solid"/>
                      <a:round/>
                      <a:headEnd len="sm" w="sm" type="none"/>
                      <a:tailEnd len="sm" w="sm" type="none"/>
                    </a:lnR>
                    <a:lnT cap="flat" cmpd="sng" w="7925">
                      <a:solidFill>
                        <a:srgbClr val="9E9E9E"/>
                      </a:solidFill>
                      <a:prstDash val="solid"/>
                      <a:round/>
                      <a:headEnd len="sm" w="sm" type="none"/>
                      <a:tailEnd len="sm" w="sm" type="none"/>
                    </a:lnT>
                    <a:lnB cap="flat" cmpd="sng" w="7925">
                      <a:solidFill>
                        <a:srgbClr val="9E9E9E"/>
                      </a:solidFill>
                      <a:prstDash val="solid"/>
                      <a:round/>
                      <a:headEnd len="sm" w="sm" type="none"/>
                      <a:tailEnd len="sm" w="sm" type="none"/>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52"/>
          <p:cNvSpPr txBox="1"/>
          <p:nvPr>
            <p:ph type="title"/>
          </p:nvPr>
        </p:nvSpPr>
        <p:spPr>
          <a:xfrm>
            <a:off x="457200" y="0"/>
            <a:ext cx="8229600" cy="928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br>
              <a:rPr b="1" lang="en-US">
                <a:latin typeface="Times New Roman"/>
                <a:ea typeface="Times New Roman"/>
                <a:cs typeface="Times New Roman"/>
                <a:sym typeface="Times New Roman"/>
              </a:rPr>
            </a:br>
            <a:r>
              <a:rPr b="1" lang="en-US">
                <a:latin typeface="Times New Roman"/>
                <a:ea typeface="Times New Roman"/>
                <a:cs typeface="Times New Roman"/>
                <a:sym typeface="Times New Roman"/>
              </a:rPr>
              <a:t>References</a:t>
            </a:r>
            <a:br>
              <a:rPr b="1" lang="en-US">
                <a:latin typeface="Times New Roman"/>
                <a:ea typeface="Times New Roman"/>
                <a:cs typeface="Times New Roman"/>
                <a:sym typeface="Times New Roman"/>
              </a:rPr>
            </a:br>
            <a:endParaRPr/>
          </a:p>
        </p:txBody>
      </p:sp>
      <p:sp>
        <p:nvSpPr>
          <p:cNvPr id="319" name="Google Shape;319;p52"/>
          <p:cNvSpPr txBox="1"/>
          <p:nvPr>
            <p:ph idx="12" type="sldNum"/>
          </p:nvPr>
        </p:nvSpPr>
        <p:spPr>
          <a:xfrm>
            <a:off x="6553200" y="6378575"/>
            <a:ext cx="2133600" cy="4764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r>
              <a:rPr lang="en-US"/>
              <a:t>15</a:t>
            </a:r>
            <a:endParaRPr/>
          </a:p>
        </p:txBody>
      </p:sp>
      <p:sp>
        <p:nvSpPr>
          <p:cNvPr id="320" name="Google Shape;320;p52"/>
          <p:cNvSpPr txBox="1"/>
          <p:nvPr/>
        </p:nvSpPr>
        <p:spPr>
          <a:xfrm>
            <a:off x="125" y="928200"/>
            <a:ext cx="9144000" cy="5363700"/>
          </a:xfrm>
          <a:prstGeom prst="rect">
            <a:avLst/>
          </a:prstGeom>
          <a:noFill/>
          <a:ln>
            <a:noFill/>
          </a:ln>
        </p:spPr>
        <p:txBody>
          <a:bodyPr anchorCtr="0" anchor="t" bIns="45700" lIns="91425" spcFirstLastPara="1" rIns="91425" wrap="square" tIns="45700">
            <a:noAutofit/>
          </a:bodyPr>
          <a:lstStyle/>
          <a:p>
            <a:pPr indent="-323850" lvl="0" marL="457200" rtl="0" algn="just">
              <a:lnSpc>
                <a:spcPct val="115000"/>
              </a:lnSpc>
              <a:spcBef>
                <a:spcPts val="0"/>
              </a:spcBef>
              <a:spcAft>
                <a:spcPts val="0"/>
              </a:spcAft>
              <a:buClr>
                <a:schemeClr val="dk1"/>
              </a:buClr>
              <a:buSzPts val="1500"/>
              <a:buFont typeface="Times New Roman"/>
              <a:buAutoNum type="arabicPeriod"/>
            </a:pPr>
            <a:r>
              <a:rPr lang="en-US" sz="1500">
                <a:solidFill>
                  <a:srgbClr val="091922"/>
                </a:solidFill>
                <a:latin typeface="Times New Roman"/>
                <a:ea typeface="Times New Roman"/>
                <a:cs typeface="Times New Roman"/>
                <a:sym typeface="Times New Roman"/>
              </a:rPr>
              <a:t>AI in Cybersecurity: Latest Developments + How It's Used in 2025 - </a:t>
            </a:r>
            <a:r>
              <a:rPr lang="en-US" sz="1500" u="sng">
                <a:solidFill>
                  <a:schemeClr val="accent6"/>
                </a:solidFill>
                <a:latin typeface="Times New Roman"/>
                <a:ea typeface="Times New Roman"/>
                <a:cs typeface="Times New Roman"/>
                <a:sym typeface="Times New Roman"/>
                <a:hlinkClick r:id="rId3">
                  <a:extLst>
                    <a:ext uri="{A12FA001-AC4F-418D-AE19-62706E023703}">
                      <ahyp:hlinkClr val="tx"/>
                    </a:ext>
                  </a:extLst>
                </a:hlinkClick>
              </a:rPr>
              <a:t>https://secureframe.com/blog/ai-in-cybersecurity</a:t>
            </a:r>
            <a:endParaRPr sz="1500">
              <a:solidFill>
                <a:schemeClr val="accent6"/>
              </a:solidFill>
              <a:latin typeface="Times New Roman"/>
              <a:ea typeface="Times New Roman"/>
              <a:cs typeface="Times New Roman"/>
              <a:sym typeface="Times New Roman"/>
            </a:endParaRPr>
          </a:p>
          <a:p>
            <a:pPr indent="-323850" lvl="0" marL="457200" rtl="0" algn="just">
              <a:lnSpc>
                <a:spcPct val="115000"/>
              </a:lnSpc>
              <a:spcBef>
                <a:spcPts val="0"/>
              </a:spcBef>
              <a:spcAft>
                <a:spcPts val="0"/>
              </a:spcAft>
              <a:buClr>
                <a:schemeClr val="dk1"/>
              </a:buClr>
              <a:buSzPts val="1500"/>
              <a:buFont typeface="Times New Roman"/>
              <a:buAutoNum type="arabicPeriod"/>
            </a:pPr>
            <a:r>
              <a:rPr lang="en-US" sz="1500">
                <a:solidFill>
                  <a:srgbClr val="111111"/>
                </a:solidFill>
                <a:highlight>
                  <a:srgbClr val="FFFFFF"/>
                </a:highlight>
                <a:latin typeface="Times New Roman"/>
                <a:ea typeface="Times New Roman"/>
                <a:cs typeface="Times New Roman"/>
                <a:sym typeface="Times New Roman"/>
              </a:rPr>
              <a:t>Vulnerabilities of Web Applications: Good Practices and New Trends - </a:t>
            </a:r>
            <a:r>
              <a:rPr lang="en-US" sz="1500" u="sng">
                <a:solidFill>
                  <a:schemeClr val="accent6"/>
                </a:solidFill>
                <a:highlight>
                  <a:srgbClr val="FFFFFF"/>
                </a:highlight>
                <a:latin typeface="Times New Roman"/>
                <a:ea typeface="Times New Roman"/>
                <a:cs typeface="Times New Roman"/>
                <a:sym typeface="Times New Roman"/>
                <a:hlinkClick r:id="rId4">
                  <a:extLst>
                    <a:ext uri="{A12FA001-AC4F-418D-AE19-62706E023703}">
                      <ahyp:hlinkClr val="tx"/>
                    </a:ext>
                  </a:extLst>
                </a:hlinkClick>
              </a:rPr>
              <a:t>https://www.acigjournal.com/Vulnerabilities-of-Web-Applications-Good-Practices-and-New-Trends,199521,0,2.html</a:t>
            </a:r>
            <a:r>
              <a:rPr lang="en-US" sz="1500">
                <a:solidFill>
                  <a:schemeClr val="accent6"/>
                </a:solidFill>
                <a:highlight>
                  <a:srgbClr val="FFFFFF"/>
                </a:highlight>
                <a:latin typeface="Times New Roman"/>
                <a:ea typeface="Times New Roman"/>
                <a:cs typeface="Times New Roman"/>
                <a:sym typeface="Times New Roman"/>
              </a:rPr>
              <a:t> </a:t>
            </a:r>
            <a:endParaRPr sz="1500">
              <a:solidFill>
                <a:schemeClr val="accent6"/>
              </a:solidFill>
              <a:latin typeface="Times New Roman"/>
              <a:ea typeface="Times New Roman"/>
              <a:cs typeface="Times New Roman"/>
              <a:sym typeface="Times New Roman"/>
            </a:endParaRPr>
          </a:p>
          <a:p>
            <a:pPr indent="-323850" lvl="0" marL="457200" rtl="0" algn="just">
              <a:lnSpc>
                <a:spcPct val="115000"/>
              </a:lnSpc>
              <a:spcBef>
                <a:spcPts val="0"/>
              </a:spcBef>
              <a:spcAft>
                <a:spcPts val="0"/>
              </a:spcAft>
              <a:buClr>
                <a:schemeClr val="dk1"/>
              </a:buClr>
              <a:buSzPts val="1500"/>
              <a:buFont typeface="Times New Roman"/>
              <a:buAutoNum type="arabicPeriod"/>
            </a:pPr>
            <a:r>
              <a:rPr lang="en-US" sz="1500">
                <a:solidFill>
                  <a:schemeClr val="dk1"/>
                </a:solidFill>
                <a:latin typeface="Times New Roman"/>
                <a:ea typeface="Times New Roman"/>
                <a:cs typeface="Times New Roman"/>
                <a:sym typeface="Times New Roman"/>
              </a:rPr>
              <a:t>Web Application Scanning &amp; API Security - </a:t>
            </a:r>
            <a:r>
              <a:rPr lang="en-US" sz="1500" u="sng">
                <a:solidFill>
                  <a:schemeClr val="accent6"/>
                </a:solidFill>
                <a:latin typeface="Times New Roman"/>
                <a:ea typeface="Times New Roman"/>
                <a:cs typeface="Times New Roman"/>
                <a:sym typeface="Times New Roman"/>
                <a:hlinkClick r:id="rId5">
                  <a:extLst>
                    <a:ext uri="{A12FA001-AC4F-418D-AE19-62706E023703}">
                      <ahyp:hlinkClr val="tx"/>
                    </a:ext>
                  </a:extLst>
                </a:hlinkClick>
              </a:rPr>
              <a:t>https://www.qualys.com/apps/web-app-scanning/</a:t>
            </a:r>
            <a:endParaRPr sz="1500">
              <a:solidFill>
                <a:schemeClr val="accent6"/>
              </a:solidFill>
              <a:latin typeface="Times New Roman"/>
              <a:ea typeface="Times New Roman"/>
              <a:cs typeface="Times New Roman"/>
              <a:sym typeface="Times New Roman"/>
            </a:endParaRPr>
          </a:p>
          <a:p>
            <a:pPr indent="-323850" lvl="0" marL="457200" rtl="0" algn="just">
              <a:lnSpc>
                <a:spcPct val="115000"/>
              </a:lnSpc>
              <a:spcBef>
                <a:spcPts val="0"/>
              </a:spcBef>
              <a:spcAft>
                <a:spcPts val="0"/>
              </a:spcAft>
              <a:buClr>
                <a:schemeClr val="dk1"/>
              </a:buClr>
              <a:buSzPts val="1500"/>
              <a:buFont typeface="Times New Roman"/>
              <a:buAutoNum type="arabicPeriod"/>
            </a:pPr>
            <a:r>
              <a:rPr lang="en-US" sz="1500">
                <a:solidFill>
                  <a:schemeClr val="dk1"/>
                </a:solidFill>
                <a:highlight>
                  <a:srgbClr val="FFFFFF"/>
                </a:highlight>
                <a:latin typeface="Times New Roman"/>
                <a:ea typeface="Times New Roman"/>
                <a:cs typeface="Times New Roman"/>
                <a:sym typeface="Times New Roman"/>
              </a:rPr>
              <a:t> Study of Vulnerability Scanners for Detecting SQL Injection and XSS Attack in Websites - </a:t>
            </a:r>
            <a:r>
              <a:rPr lang="en-US" sz="1500" u="sng">
                <a:solidFill>
                  <a:schemeClr val="accent6"/>
                </a:solidFill>
                <a:highlight>
                  <a:srgbClr val="FFFFFF"/>
                </a:highlight>
                <a:latin typeface="Times New Roman"/>
                <a:ea typeface="Times New Roman"/>
                <a:cs typeface="Times New Roman"/>
                <a:sym typeface="Times New Roman"/>
                <a:hlinkClick r:id="rId6">
                  <a:extLst>
                    <a:ext uri="{A12FA001-AC4F-418D-AE19-62706E023703}">
                      <ahyp:hlinkClr val="tx"/>
                    </a:ext>
                  </a:extLst>
                </a:hlinkClick>
              </a:rPr>
              <a:t>https://ojs.bonviewpress.com/index.php/AIA/article/view/754/489</a:t>
            </a:r>
            <a:endParaRPr sz="1500">
              <a:solidFill>
                <a:schemeClr val="accent6"/>
              </a:solidFill>
              <a:highlight>
                <a:srgbClr val="FFFFFF"/>
              </a:highlight>
              <a:latin typeface="Times New Roman"/>
              <a:ea typeface="Times New Roman"/>
              <a:cs typeface="Times New Roman"/>
              <a:sym typeface="Times New Roman"/>
            </a:endParaRPr>
          </a:p>
          <a:p>
            <a:pPr indent="-323850" lvl="0" marL="457200" rtl="0" algn="just">
              <a:lnSpc>
                <a:spcPct val="115000"/>
              </a:lnSpc>
              <a:spcBef>
                <a:spcPts val="0"/>
              </a:spcBef>
              <a:spcAft>
                <a:spcPts val="0"/>
              </a:spcAft>
              <a:buClr>
                <a:schemeClr val="dk1"/>
              </a:buClr>
              <a:buSzPts val="1500"/>
              <a:buFont typeface="Times New Roman"/>
              <a:buAutoNum type="arabicPeriod"/>
            </a:pPr>
            <a:r>
              <a:rPr lang="en-US" sz="1500">
                <a:solidFill>
                  <a:schemeClr val="dk1"/>
                </a:solidFill>
                <a:highlight>
                  <a:srgbClr val="FFFFFF"/>
                </a:highlight>
                <a:latin typeface="Times New Roman"/>
                <a:ea typeface="Times New Roman"/>
                <a:cs typeface="Times New Roman"/>
                <a:sym typeface="Times New Roman"/>
              </a:rPr>
              <a:t>AI in Cybersecurity: Key Benefits, Defense Strategies, &amp; Future Trends - </a:t>
            </a:r>
            <a:r>
              <a:rPr lang="en-US" sz="1500" u="sng">
                <a:solidFill>
                  <a:schemeClr val="accent6"/>
                </a:solidFill>
                <a:highlight>
                  <a:srgbClr val="FFFFFF"/>
                </a:highlight>
                <a:latin typeface="Times New Roman"/>
                <a:ea typeface="Times New Roman"/>
                <a:cs typeface="Times New Roman"/>
                <a:sym typeface="Times New Roman"/>
                <a:hlinkClick r:id="rId7">
                  <a:extLst>
                    <a:ext uri="{A12FA001-AC4F-418D-AE19-62706E023703}">
                      <ahyp:hlinkClr val="tx"/>
                    </a:ext>
                  </a:extLst>
                </a:hlinkClick>
              </a:rPr>
              <a:t>https://www.fortinet.com/resources/cyberglossary/artificial-intelligence-in-cybersecurity</a:t>
            </a:r>
            <a:endParaRPr b="1" sz="1500" u="sng">
              <a:solidFill>
                <a:schemeClr val="accent6"/>
              </a:solidFill>
              <a:latin typeface="Times New Roman"/>
              <a:ea typeface="Times New Roman"/>
              <a:cs typeface="Times New Roman"/>
              <a:sym typeface="Times New Roman"/>
            </a:endParaRPr>
          </a:p>
          <a:p>
            <a:pPr indent="-323850" lvl="0" marL="457200" rtl="0" algn="just">
              <a:lnSpc>
                <a:spcPct val="115000"/>
              </a:lnSpc>
              <a:spcBef>
                <a:spcPts val="0"/>
              </a:spcBef>
              <a:spcAft>
                <a:spcPts val="0"/>
              </a:spcAft>
              <a:buClr>
                <a:schemeClr val="dk1"/>
              </a:buClr>
              <a:buSzPts val="1500"/>
              <a:buFont typeface="Times New Roman"/>
              <a:buAutoNum type="arabicPeriod"/>
            </a:pPr>
            <a:r>
              <a:rPr lang="en-US" sz="1500">
                <a:solidFill>
                  <a:schemeClr val="dk1"/>
                </a:solidFill>
                <a:latin typeface="Times New Roman"/>
                <a:ea typeface="Times New Roman"/>
                <a:cs typeface="Times New Roman"/>
                <a:sym typeface="Times New Roman"/>
              </a:rPr>
              <a:t>CROSSCAN: REFLECTED XSS SCANNER WEBSITE TO SCAN FOR REFLECTED XSS VULNERABILITIES -</a:t>
            </a:r>
            <a:endParaRPr sz="1500">
              <a:solidFill>
                <a:schemeClr val="dk1"/>
              </a:solidFill>
              <a:latin typeface="Times New Roman"/>
              <a:ea typeface="Times New Roman"/>
              <a:cs typeface="Times New Roman"/>
              <a:sym typeface="Times New Roman"/>
            </a:endParaRPr>
          </a:p>
          <a:p>
            <a:pPr indent="0" lvl="0" marL="457200" rtl="0" algn="just">
              <a:lnSpc>
                <a:spcPct val="115000"/>
              </a:lnSpc>
              <a:spcBef>
                <a:spcPts val="0"/>
              </a:spcBef>
              <a:spcAft>
                <a:spcPts val="0"/>
              </a:spcAft>
              <a:buNone/>
            </a:pPr>
            <a:r>
              <a:rPr lang="en-US" sz="1500" u="sng">
                <a:solidFill>
                  <a:schemeClr val="accent6"/>
                </a:solidFill>
                <a:latin typeface="Times New Roman"/>
                <a:ea typeface="Times New Roman"/>
                <a:cs typeface="Times New Roman"/>
                <a:sym typeface="Times New Roman"/>
                <a:hlinkClick r:id="rId8">
                  <a:extLst>
                    <a:ext uri="{A12FA001-AC4F-418D-AE19-62706E023703}">
                      <ahyp:hlinkClr val="tx"/>
                    </a:ext>
                  </a:extLst>
                </a:hlinkClick>
              </a:rPr>
              <a:t>https://www.journalijar.com/uploads/2025/05/68344e5066f45_IJAR-51522.pdf</a:t>
            </a:r>
            <a:endParaRPr sz="1500" u="sng">
              <a:solidFill>
                <a:schemeClr val="accent6"/>
              </a:solidFill>
              <a:latin typeface="Times New Roman"/>
              <a:ea typeface="Times New Roman"/>
              <a:cs typeface="Times New Roman"/>
              <a:sym typeface="Times New Roman"/>
            </a:endParaRPr>
          </a:p>
          <a:p>
            <a:pPr indent="-323850" lvl="0" marL="457200" rtl="0" algn="just">
              <a:lnSpc>
                <a:spcPct val="115000"/>
              </a:lnSpc>
              <a:spcBef>
                <a:spcPts val="0"/>
              </a:spcBef>
              <a:spcAft>
                <a:spcPts val="0"/>
              </a:spcAft>
              <a:buClr>
                <a:schemeClr val="dk1"/>
              </a:buClr>
              <a:buSzPts val="1500"/>
              <a:buFont typeface="Times New Roman"/>
              <a:buAutoNum type="arabicPeriod"/>
            </a:pPr>
            <a:r>
              <a:rPr lang="en-US" sz="1500">
                <a:solidFill>
                  <a:schemeClr val="dk1"/>
                </a:solidFill>
                <a:latin typeface="Times New Roman"/>
                <a:ea typeface="Times New Roman"/>
                <a:cs typeface="Times New Roman"/>
                <a:sym typeface="Times New Roman"/>
              </a:rPr>
              <a:t>XSS Vulnerability Scanner </a:t>
            </a:r>
            <a:r>
              <a:rPr lang="en-US" sz="1500">
                <a:solidFill>
                  <a:schemeClr val="dk1"/>
                </a:solidFill>
                <a:latin typeface="Times New Roman"/>
                <a:ea typeface="Times New Roman"/>
                <a:cs typeface="Times New Roman"/>
                <a:sym typeface="Times New Roman"/>
              </a:rPr>
              <a:t>- </a:t>
            </a:r>
            <a:endParaRPr sz="1500">
              <a:solidFill>
                <a:schemeClr val="dk1"/>
              </a:solidFill>
              <a:latin typeface="Times New Roman"/>
              <a:ea typeface="Times New Roman"/>
              <a:cs typeface="Times New Roman"/>
              <a:sym typeface="Times New Roman"/>
            </a:endParaRPr>
          </a:p>
          <a:p>
            <a:pPr indent="0" lvl="0" marL="457200" rtl="0" algn="just">
              <a:lnSpc>
                <a:spcPct val="115000"/>
              </a:lnSpc>
              <a:spcBef>
                <a:spcPts val="0"/>
              </a:spcBef>
              <a:spcAft>
                <a:spcPts val="0"/>
              </a:spcAft>
              <a:buNone/>
            </a:pPr>
            <a:r>
              <a:rPr lang="en-US" sz="1500" u="sng">
                <a:solidFill>
                  <a:schemeClr val="accent6"/>
                </a:solidFill>
                <a:latin typeface="Times New Roman"/>
                <a:ea typeface="Times New Roman"/>
                <a:cs typeface="Times New Roman"/>
                <a:sym typeface="Times New Roman"/>
                <a:hlinkClick r:id="rId9">
                  <a:extLst>
                    <a:ext uri="{A12FA001-AC4F-418D-AE19-62706E023703}">
                      <ahyp:hlinkClr val="tx"/>
                    </a:ext>
                  </a:extLst>
                </a:hlinkClick>
              </a:rPr>
              <a:t>https://www.scribd.com/document/811759841/XSS-Vulnerability-Scanner</a:t>
            </a:r>
            <a:endParaRPr sz="1500" u="sng">
              <a:solidFill>
                <a:schemeClr val="accent6"/>
              </a:solidFill>
              <a:latin typeface="Times New Roman"/>
              <a:ea typeface="Times New Roman"/>
              <a:cs typeface="Times New Roman"/>
              <a:sym typeface="Times New Roman"/>
            </a:endParaRPr>
          </a:p>
          <a:p>
            <a:pPr indent="0" lvl="0" marL="457200" rtl="0" algn="just">
              <a:lnSpc>
                <a:spcPct val="115000"/>
              </a:lnSpc>
              <a:spcBef>
                <a:spcPts val="0"/>
              </a:spcBef>
              <a:spcAft>
                <a:spcPts val="0"/>
              </a:spcAft>
              <a:buNone/>
            </a:pPr>
            <a:r>
              <a:t/>
            </a:r>
            <a:endParaRPr sz="1500" u="sng">
              <a:solidFill>
                <a:srgbClr val="1155CC"/>
              </a:solidFill>
              <a:latin typeface="Times New Roman"/>
              <a:ea typeface="Times New Roman"/>
              <a:cs typeface="Times New Roman"/>
              <a:sym typeface="Times New Roman"/>
            </a:endParaRPr>
          </a:p>
          <a:p>
            <a:pPr indent="-323850" lvl="0" marL="457200" rtl="0" algn="l">
              <a:lnSpc>
                <a:spcPct val="125000"/>
              </a:lnSpc>
              <a:spcBef>
                <a:spcPts val="0"/>
              </a:spcBef>
              <a:spcAft>
                <a:spcPts val="0"/>
              </a:spcAft>
              <a:buClr>
                <a:schemeClr val="dk1"/>
              </a:buClr>
              <a:buSzPts val="1500"/>
              <a:buFont typeface="Times New Roman"/>
              <a:buAutoNum type="arabicPeriod"/>
            </a:pPr>
            <a:r>
              <a:rPr lang="en-US" sz="1500">
                <a:solidFill>
                  <a:srgbClr val="2D2E2E"/>
                </a:solidFill>
                <a:highlight>
                  <a:srgbClr val="F7F8FF"/>
                </a:highlight>
                <a:latin typeface="Times New Roman"/>
                <a:ea typeface="Times New Roman"/>
                <a:cs typeface="Times New Roman"/>
                <a:sym typeface="Times New Roman"/>
              </a:rPr>
              <a:t>DAST-</a:t>
            </a:r>
            <a:r>
              <a:rPr lang="en-US" sz="1500">
                <a:solidFill>
                  <a:srgbClr val="4A86E8"/>
                </a:solidFill>
                <a:highlight>
                  <a:srgbClr val="F7F8FF"/>
                </a:highlight>
                <a:latin typeface="Times New Roman"/>
                <a:ea typeface="Times New Roman"/>
                <a:cs typeface="Times New Roman"/>
                <a:sym typeface="Times New Roman"/>
              </a:rPr>
              <a:t> </a:t>
            </a:r>
            <a:r>
              <a:rPr lang="en-US" sz="1500" u="sng">
                <a:solidFill>
                  <a:schemeClr val="accent2"/>
                </a:solidFill>
                <a:highlight>
                  <a:srgbClr val="F7F8FF"/>
                </a:highlight>
                <a:latin typeface="Times New Roman"/>
                <a:ea typeface="Times New Roman"/>
                <a:cs typeface="Times New Roman"/>
                <a:sym typeface="Times New Roman"/>
                <a:hlinkClick r:id="rId10">
                  <a:extLst>
                    <a:ext uri="{A12FA001-AC4F-418D-AE19-62706E023703}">
                      <ahyp:hlinkClr val="tx"/>
                    </a:ext>
                  </a:extLst>
                </a:hlinkClick>
              </a:rPr>
              <a:t>https://www.getastra.com/blog/dast/what-is-dast/</a:t>
            </a:r>
            <a:endParaRPr sz="1500">
              <a:solidFill>
                <a:schemeClr val="accent2"/>
              </a:solidFill>
              <a:highlight>
                <a:srgbClr val="F7F8FF"/>
              </a:highlight>
              <a:latin typeface="Times New Roman"/>
              <a:ea typeface="Times New Roman"/>
              <a:cs typeface="Times New Roman"/>
              <a:sym typeface="Times New Roman"/>
            </a:endParaRPr>
          </a:p>
          <a:p>
            <a:pPr indent="-323850" lvl="0" marL="457200" rtl="0" algn="l">
              <a:lnSpc>
                <a:spcPct val="125000"/>
              </a:lnSpc>
              <a:spcBef>
                <a:spcPts val="0"/>
              </a:spcBef>
              <a:spcAft>
                <a:spcPts val="0"/>
              </a:spcAft>
              <a:buClr>
                <a:schemeClr val="dk1"/>
              </a:buClr>
              <a:buSzPts val="1500"/>
              <a:buFont typeface="Times New Roman"/>
              <a:buAutoNum type="arabicPeriod"/>
            </a:pPr>
            <a:r>
              <a:rPr lang="en-US" sz="1500">
                <a:solidFill>
                  <a:srgbClr val="2D2E2E"/>
                </a:solidFill>
                <a:highlight>
                  <a:srgbClr val="F7F8FF"/>
                </a:highlight>
                <a:latin typeface="Times New Roman"/>
                <a:ea typeface="Times New Roman"/>
                <a:cs typeface="Times New Roman"/>
                <a:sym typeface="Times New Roman"/>
              </a:rPr>
              <a:t>OWASP XSS -</a:t>
            </a:r>
            <a:r>
              <a:rPr lang="en-US" sz="1500" u="sng">
                <a:solidFill>
                  <a:schemeClr val="accent6"/>
                </a:solidFill>
                <a:highlight>
                  <a:srgbClr val="F7F8FF"/>
                </a:highlight>
                <a:latin typeface="Times New Roman"/>
                <a:ea typeface="Times New Roman"/>
                <a:cs typeface="Times New Roman"/>
                <a:sym typeface="Times New Roman"/>
                <a:hlinkClick r:id="rId11">
                  <a:extLst>
                    <a:ext uri="{A12FA001-AC4F-418D-AE19-62706E023703}">
                      <ahyp:hlinkClr val="tx"/>
                    </a:ext>
                  </a:extLst>
                </a:hlinkClick>
              </a:rPr>
              <a:t>https://owasp.org/www-community/attacks/xss/</a:t>
            </a:r>
            <a:endParaRPr sz="1500" u="sng">
              <a:solidFill>
                <a:schemeClr val="accent6"/>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eme1">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Theme1">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